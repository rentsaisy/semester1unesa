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ooper Hewitt Bold" charset="1" panose="00000000000000000000"/>
      <p:regular r:id="rId15"/>
    </p:embeddedFont>
    <p:embeddedFont>
      <p:font typeface="Cooper Hewitt" charset="1" panose="00000000000000000000"/>
      <p:regular r:id="rId16"/>
    </p:embeddedFont>
    <p:embeddedFont>
      <p:font typeface="Poppins" charset="1" panose="00000500000000000000"/>
      <p:regular r:id="rId17"/>
    </p:embeddedFont>
    <p:embeddedFont>
      <p:font typeface="DM Sans Bold" charset="1" panose="00000000000000000000"/>
      <p:regular r:id="rId18"/>
    </p:embeddedFont>
    <p:embeddedFont>
      <p:font typeface="Canva Sans Bold" charset="1" panose="020B0803030501040103"/>
      <p:regular r:id="rId19"/>
    </p:embeddedFont>
    <p:embeddedFont>
      <p:font typeface="DM San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218332" y="2731879"/>
            <a:ext cx="3701593" cy="4723610"/>
          </a:xfrm>
          <a:custGeom>
            <a:avLst/>
            <a:gdLst/>
            <a:ahLst/>
            <a:cxnLst/>
            <a:rect r="r" b="b" t="t" l="l"/>
            <a:pathLst>
              <a:path h="4723610" w="3701593">
                <a:moveTo>
                  <a:pt x="0" y="0"/>
                </a:moveTo>
                <a:lnTo>
                  <a:pt x="3701593" y="0"/>
                </a:lnTo>
                <a:lnTo>
                  <a:pt x="3701593" y="4723610"/>
                </a:lnTo>
                <a:lnTo>
                  <a:pt x="0" y="4723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456031" y="5686468"/>
            <a:ext cx="3718302" cy="2393234"/>
          </a:xfrm>
          <a:custGeom>
            <a:avLst/>
            <a:gdLst/>
            <a:ahLst/>
            <a:cxnLst/>
            <a:rect r="r" b="b" t="t" l="l"/>
            <a:pathLst>
              <a:path h="2393234" w="3718302">
                <a:moveTo>
                  <a:pt x="0" y="0"/>
                </a:moveTo>
                <a:lnTo>
                  <a:pt x="3718301" y="0"/>
                </a:lnTo>
                <a:lnTo>
                  <a:pt x="3718301" y="2393234"/>
                </a:lnTo>
                <a:lnTo>
                  <a:pt x="0" y="2393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377104" y="3974852"/>
            <a:ext cx="2882196" cy="3943304"/>
          </a:xfrm>
          <a:custGeom>
            <a:avLst/>
            <a:gdLst/>
            <a:ahLst/>
            <a:cxnLst/>
            <a:rect r="r" b="b" t="t" l="l"/>
            <a:pathLst>
              <a:path h="3943304" w="2882196">
                <a:moveTo>
                  <a:pt x="0" y="0"/>
                </a:moveTo>
                <a:lnTo>
                  <a:pt x="2882196" y="0"/>
                </a:lnTo>
                <a:lnTo>
                  <a:pt x="2882196" y="3943304"/>
                </a:lnTo>
                <a:lnTo>
                  <a:pt x="0" y="39433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6253563" y="0"/>
            <a:ext cx="2606564" cy="1466192"/>
          </a:xfrm>
          <a:custGeom>
            <a:avLst/>
            <a:gdLst/>
            <a:ahLst/>
            <a:cxnLst/>
            <a:rect r="r" b="b" t="t" l="l"/>
            <a:pathLst>
              <a:path h="1466192" w="2606564">
                <a:moveTo>
                  <a:pt x="0" y="0"/>
                </a:moveTo>
                <a:lnTo>
                  <a:pt x="2606564" y="0"/>
                </a:lnTo>
                <a:lnTo>
                  <a:pt x="2606564" y="1466192"/>
                </a:lnTo>
                <a:lnTo>
                  <a:pt x="0" y="1466192"/>
                </a:lnTo>
                <a:lnTo>
                  <a:pt x="0" y="0"/>
                </a:lnTo>
                <a:close/>
              </a:path>
            </a:pathLst>
          </a:custGeom>
          <a:blipFill>
            <a:blip r:embed="rId10"/>
            <a:stretch>
              <a:fillRect l="0" t="0" r="0" b="0"/>
            </a:stretch>
          </a:blipFill>
        </p:spPr>
      </p:sp>
      <p:sp>
        <p:nvSpPr>
          <p:cNvPr name="TextBox 7" id="7"/>
          <p:cNvSpPr txBox="true"/>
          <p:nvPr/>
        </p:nvSpPr>
        <p:spPr>
          <a:xfrm rot="0">
            <a:off x="1028700" y="638175"/>
            <a:ext cx="14066856" cy="1619521"/>
          </a:xfrm>
          <a:prstGeom prst="rect">
            <a:avLst/>
          </a:prstGeom>
        </p:spPr>
        <p:txBody>
          <a:bodyPr anchor="t" rtlCol="false" tIns="0" lIns="0" bIns="0" rIns="0">
            <a:spAutoFit/>
          </a:bodyPr>
          <a:lstStyle/>
          <a:p>
            <a:pPr algn="l">
              <a:lnSpc>
                <a:spcPts val="11350"/>
              </a:lnSpc>
            </a:pPr>
            <a:r>
              <a:rPr lang="en-US" sz="8107" b="true">
                <a:solidFill>
                  <a:srgbClr val="343434"/>
                </a:solidFill>
                <a:latin typeface="Cooper Hewitt Bold"/>
                <a:ea typeface="Cooper Hewitt Bold"/>
                <a:cs typeface="Cooper Hewitt Bold"/>
                <a:sym typeface="Cooper Hewitt Bold"/>
              </a:rPr>
              <a:t>THE HISTORY OF INTERNET</a:t>
            </a:r>
          </a:p>
        </p:txBody>
      </p:sp>
      <p:sp>
        <p:nvSpPr>
          <p:cNvPr name="TextBox 8" id="8"/>
          <p:cNvSpPr txBox="true"/>
          <p:nvPr/>
        </p:nvSpPr>
        <p:spPr>
          <a:xfrm rot="0">
            <a:off x="1113081" y="1909887"/>
            <a:ext cx="8987669" cy="1329660"/>
          </a:xfrm>
          <a:prstGeom prst="rect">
            <a:avLst/>
          </a:prstGeom>
        </p:spPr>
        <p:txBody>
          <a:bodyPr anchor="t" rtlCol="false" tIns="0" lIns="0" bIns="0" rIns="0">
            <a:spAutoFit/>
          </a:bodyPr>
          <a:lstStyle/>
          <a:p>
            <a:pPr algn="l">
              <a:lnSpc>
                <a:spcPts val="9377"/>
              </a:lnSpc>
            </a:pPr>
            <a:r>
              <a:rPr lang="en-US" sz="6698">
                <a:solidFill>
                  <a:srgbClr val="343434"/>
                </a:solidFill>
                <a:latin typeface="Cooper Hewitt"/>
                <a:ea typeface="Cooper Hewitt"/>
                <a:cs typeface="Cooper Hewitt"/>
                <a:sym typeface="Cooper Hewitt"/>
              </a:rPr>
              <a:t>AND INTERNET RULES</a:t>
            </a:r>
          </a:p>
        </p:txBody>
      </p:sp>
      <p:sp>
        <p:nvSpPr>
          <p:cNvPr name="TextBox 9" id="9"/>
          <p:cNvSpPr txBox="true"/>
          <p:nvPr/>
        </p:nvSpPr>
        <p:spPr>
          <a:xfrm rot="0">
            <a:off x="1113081" y="4773613"/>
            <a:ext cx="7793067" cy="635000"/>
          </a:xfrm>
          <a:prstGeom prst="rect">
            <a:avLst/>
          </a:prstGeom>
        </p:spPr>
        <p:txBody>
          <a:bodyPr anchor="t" rtlCol="false" tIns="0" lIns="0" bIns="0" rIns="0">
            <a:spAutoFit/>
          </a:bodyPr>
          <a:lstStyle/>
          <a:p>
            <a:pPr algn="just">
              <a:lnSpc>
                <a:spcPts val="4900"/>
              </a:lnSpc>
            </a:pPr>
            <a:r>
              <a:rPr lang="en-US" sz="3500">
                <a:solidFill>
                  <a:srgbClr val="343434"/>
                </a:solidFill>
                <a:latin typeface="Poppins"/>
                <a:ea typeface="Poppins"/>
                <a:cs typeface="Poppins"/>
                <a:sym typeface="Poppins"/>
              </a:rPr>
              <a:t>Presenter : Aisyah Currents</a:t>
            </a:r>
          </a:p>
        </p:txBody>
      </p:sp>
      <p:sp>
        <p:nvSpPr>
          <p:cNvPr name="TextBox 10" id="10"/>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01</a:t>
            </a:r>
          </a:p>
        </p:txBody>
      </p:sp>
      <p:sp>
        <p:nvSpPr>
          <p:cNvPr name="TextBox 11" id="11"/>
          <p:cNvSpPr txBox="true"/>
          <p:nvPr/>
        </p:nvSpPr>
        <p:spPr>
          <a:xfrm rot="0">
            <a:off x="1113081" y="5316581"/>
            <a:ext cx="7793067" cy="635000"/>
          </a:xfrm>
          <a:prstGeom prst="rect">
            <a:avLst/>
          </a:prstGeom>
        </p:spPr>
        <p:txBody>
          <a:bodyPr anchor="t" rtlCol="false" tIns="0" lIns="0" bIns="0" rIns="0">
            <a:spAutoFit/>
          </a:bodyPr>
          <a:lstStyle/>
          <a:p>
            <a:pPr algn="just">
              <a:lnSpc>
                <a:spcPts val="4900"/>
              </a:lnSpc>
            </a:pPr>
            <a:r>
              <a:rPr lang="en-US" sz="3500">
                <a:solidFill>
                  <a:srgbClr val="343434"/>
                </a:solidFill>
                <a:latin typeface="Poppins"/>
                <a:ea typeface="Poppins"/>
                <a:cs typeface="Poppins"/>
                <a:sym typeface="Poppins"/>
              </a:rPr>
              <a:t>Student id : 25091397108</a:t>
            </a:r>
          </a:p>
        </p:txBody>
      </p:sp>
      <p:sp>
        <p:nvSpPr>
          <p:cNvPr name="TextBox 12" id="12"/>
          <p:cNvSpPr txBox="true"/>
          <p:nvPr/>
        </p:nvSpPr>
        <p:spPr>
          <a:xfrm rot="0">
            <a:off x="1113081" y="5856330"/>
            <a:ext cx="7793067" cy="635000"/>
          </a:xfrm>
          <a:prstGeom prst="rect">
            <a:avLst/>
          </a:prstGeom>
        </p:spPr>
        <p:txBody>
          <a:bodyPr anchor="t" rtlCol="false" tIns="0" lIns="0" bIns="0" rIns="0">
            <a:spAutoFit/>
          </a:bodyPr>
          <a:lstStyle/>
          <a:p>
            <a:pPr algn="just">
              <a:lnSpc>
                <a:spcPts val="4900"/>
              </a:lnSpc>
            </a:pPr>
            <a:r>
              <a:rPr lang="en-US" sz="3500">
                <a:solidFill>
                  <a:srgbClr val="343434"/>
                </a:solidFill>
                <a:latin typeface="Poppins"/>
                <a:ea typeface="Poppins"/>
                <a:cs typeface="Poppins"/>
                <a:sym typeface="Poppins"/>
              </a:rPr>
              <a:t>Class : International</a:t>
            </a:r>
          </a:p>
        </p:txBody>
      </p:sp>
      <p:sp>
        <p:nvSpPr>
          <p:cNvPr name="TextBox 13" id="13"/>
          <p:cNvSpPr txBox="true"/>
          <p:nvPr/>
        </p:nvSpPr>
        <p:spPr>
          <a:xfrm rot="0">
            <a:off x="3816506" y="8441673"/>
            <a:ext cx="11279050" cy="1552773"/>
          </a:xfrm>
          <a:prstGeom prst="rect">
            <a:avLst/>
          </a:prstGeom>
        </p:spPr>
        <p:txBody>
          <a:bodyPr anchor="t" rtlCol="false" tIns="0" lIns="0" bIns="0" rIns="0">
            <a:spAutoFit/>
          </a:bodyPr>
          <a:lstStyle/>
          <a:p>
            <a:pPr algn="ctr">
              <a:lnSpc>
                <a:spcPts val="4189"/>
              </a:lnSpc>
            </a:pPr>
            <a:r>
              <a:rPr lang="en-US" sz="2992" b="true">
                <a:solidFill>
                  <a:srgbClr val="343434"/>
                </a:solidFill>
                <a:latin typeface="Canva Sans Bold"/>
                <a:ea typeface="Canva Sans Bold"/>
                <a:cs typeface="Canva Sans Bold"/>
                <a:sym typeface="Canva Sans Bold"/>
              </a:rPr>
              <a:t>Study Program - Informatics Management</a:t>
            </a:r>
          </a:p>
          <a:p>
            <a:pPr algn="ctr">
              <a:lnSpc>
                <a:spcPts val="4189"/>
              </a:lnSpc>
            </a:pPr>
            <a:r>
              <a:rPr lang="en-US" sz="2992" b="true">
                <a:solidFill>
                  <a:srgbClr val="343434"/>
                </a:solidFill>
                <a:latin typeface="Canva Sans Bold"/>
                <a:ea typeface="Canva Sans Bold"/>
                <a:cs typeface="Canva Sans Bold"/>
                <a:sym typeface="Canva Sans Bold"/>
              </a:rPr>
              <a:t>Faculty of Vocation</a:t>
            </a:r>
          </a:p>
          <a:p>
            <a:pPr algn="ctr">
              <a:lnSpc>
                <a:spcPts val="4189"/>
              </a:lnSpc>
            </a:pPr>
            <a:r>
              <a:rPr lang="en-US" sz="2992" b="true">
                <a:solidFill>
                  <a:srgbClr val="343434"/>
                </a:solidFill>
                <a:latin typeface="Canva Sans Bold"/>
                <a:ea typeface="Canva Sans Bold"/>
                <a:cs typeface="Canva Sans Bold"/>
                <a:sym typeface="Canva Sans Bold"/>
              </a:rPr>
              <a:t>Universitas Negeri Surabaya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939095" y="3483921"/>
            <a:ext cx="4981118" cy="5545779"/>
          </a:xfrm>
          <a:custGeom>
            <a:avLst/>
            <a:gdLst/>
            <a:ahLst/>
            <a:cxnLst/>
            <a:rect r="r" b="b" t="t" l="l"/>
            <a:pathLst>
              <a:path h="5545779" w="4981118">
                <a:moveTo>
                  <a:pt x="0" y="0"/>
                </a:moveTo>
                <a:lnTo>
                  <a:pt x="4981118" y="0"/>
                </a:lnTo>
                <a:lnTo>
                  <a:pt x="4981118" y="5545779"/>
                </a:lnTo>
                <a:lnTo>
                  <a:pt x="0" y="5545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251636"/>
            <a:ext cx="12131055" cy="2141362"/>
          </a:xfrm>
          <a:prstGeom prst="rect">
            <a:avLst/>
          </a:prstGeom>
        </p:spPr>
        <p:txBody>
          <a:bodyPr anchor="t" rtlCol="false" tIns="0" lIns="0" bIns="0" rIns="0">
            <a:spAutoFit/>
          </a:bodyPr>
          <a:lstStyle/>
          <a:p>
            <a:pPr algn="l">
              <a:lnSpc>
                <a:spcPts val="7948"/>
              </a:lnSpc>
            </a:pPr>
            <a:r>
              <a:rPr lang="en-US" sz="5677" b="true">
                <a:solidFill>
                  <a:srgbClr val="343434"/>
                </a:solidFill>
                <a:latin typeface="Cooper Hewitt Bold"/>
                <a:ea typeface="Cooper Hewitt Bold"/>
                <a:cs typeface="Cooper Hewitt Bold"/>
                <a:sym typeface="Cooper Hewitt Bold"/>
              </a:rPr>
              <a:t>THE EARLY BEGINNING OF THE INTERNET</a:t>
            </a:r>
          </a:p>
        </p:txBody>
      </p:sp>
      <p:sp>
        <p:nvSpPr>
          <p:cNvPr name="TextBox 5" id="5"/>
          <p:cNvSpPr txBox="true"/>
          <p:nvPr/>
        </p:nvSpPr>
        <p:spPr>
          <a:xfrm rot="0">
            <a:off x="1028700" y="3436296"/>
            <a:ext cx="7628636" cy="5069966"/>
          </a:xfrm>
          <a:prstGeom prst="rect">
            <a:avLst/>
          </a:prstGeom>
        </p:spPr>
        <p:txBody>
          <a:bodyPr anchor="t" rtlCol="false" tIns="0" lIns="0" bIns="0" rIns="0">
            <a:spAutoFit/>
          </a:bodyPr>
          <a:lstStyle/>
          <a:p>
            <a:pPr algn="just">
              <a:lnSpc>
                <a:spcPts val="3729"/>
              </a:lnSpc>
            </a:pPr>
            <a:r>
              <a:rPr lang="en-US" sz="2664">
                <a:solidFill>
                  <a:srgbClr val="343434"/>
                </a:solidFill>
                <a:latin typeface="DM Sans"/>
                <a:ea typeface="DM Sans"/>
                <a:cs typeface="DM Sans"/>
                <a:sym typeface="DM Sans"/>
              </a:rPr>
              <a:t>The internet began in the late 1960s as a U.S. research project called ARPANET(Advanced Research Projects Agency Network), created to connect computers at universities and research centers. Its main goal was to allow information sharing and maintain communication even if parts of the network were disrupted. From these first connections, the system grew into a global network, laying the foundation for the modern internet we use today.</a:t>
            </a:r>
          </a:p>
          <a:p>
            <a:pPr algn="just">
              <a:lnSpc>
                <a:spcPts val="3729"/>
              </a:lnSpc>
            </a:pPr>
          </a:p>
        </p:txBody>
      </p:sp>
      <p:sp>
        <p:nvSpPr>
          <p:cNvPr name="TextBox 6" id="6"/>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02</a:t>
            </a:r>
          </a:p>
        </p:txBody>
      </p:sp>
      <p:sp>
        <p:nvSpPr>
          <p:cNvPr name="Freeform 7" id="7"/>
          <p:cNvSpPr/>
          <p:nvPr/>
        </p:nvSpPr>
        <p:spPr>
          <a:xfrm flipH="false" flipV="false" rot="0">
            <a:off x="9548130" y="2455667"/>
            <a:ext cx="4015755" cy="4709308"/>
          </a:xfrm>
          <a:custGeom>
            <a:avLst/>
            <a:gdLst/>
            <a:ahLst/>
            <a:cxnLst/>
            <a:rect r="r" b="b" t="t" l="l"/>
            <a:pathLst>
              <a:path h="4709308" w="4015755">
                <a:moveTo>
                  <a:pt x="0" y="0"/>
                </a:moveTo>
                <a:lnTo>
                  <a:pt x="4015755" y="0"/>
                </a:lnTo>
                <a:lnTo>
                  <a:pt x="4015755" y="4709308"/>
                </a:lnTo>
                <a:lnTo>
                  <a:pt x="0" y="47093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253563" y="0"/>
            <a:ext cx="2606564" cy="1466192"/>
          </a:xfrm>
          <a:custGeom>
            <a:avLst/>
            <a:gdLst/>
            <a:ahLst/>
            <a:cxnLst/>
            <a:rect r="r" b="b" t="t" l="l"/>
            <a:pathLst>
              <a:path h="1466192" w="2606564">
                <a:moveTo>
                  <a:pt x="0" y="0"/>
                </a:moveTo>
                <a:lnTo>
                  <a:pt x="2606564" y="0"/>
                </a:lnTo>
                <a:lnTo>
                  <a:pt x="2606564" y="1466192"/>
                </a:lnTo>
                <a:lnTo>
                  <a:pt x="0" y="1466192"/>
                </a:lnTo>
                <a:lnTo>
                  <a:pt x="0" y="0"/>
                </a:lnTo>
                <a:close/>
              </a:path>
            </a:pathLst>
          </a:custGeom>
          <a:blipFill>
            <a:blip r:embed="rId8"/>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090357" y="1892881"/>
            <a:ext cx="3897858" cy="2387438"/>
          </a:xfrm>
          <a:custGeom>
            <a:avLst/>
            <a:gdLst/>
            <a:ahLst/>
            <a:cxnLst/>
            <a:rect r="r" b="b" t="t" l="l"/>
            <a:pathLst>
              <a:path h="2387438" w="3897858">
                <a:moveTo>
                  <a:pt x="0" y="0"/>
                </a:moveTo>
                <a:lnTo>
                  <a:pt x="3897858" y="0"/>
                </a:lnTo>
                <a:lnTo>
                  <a:pt x="3897858" y="2387438"/>
                </a:lnTo>
                <a:lnTo>
                  <a:pt x="0" y="23874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846382"/>
            <a:ext cx="13400954" cy="1864397"/>
          </a:xfrm>
          <a:prstGeom prst="rect">
            <a:avLst/>
          </a:prstGeom>
        </p:spPr>
        <p:txBody>
          <a:bodyPr anchor="t" rtlCol="false" tIns="0" lIns="0" bIns="0" rIns="0">
            <a:spAutoFit/>
          </a:bodyPr>
          <a:lstStyle/>
          <a:p>
            <a:pPr algn="l">
              <a:lnSpc>
                <a:spcPts val="6935"/>
              </a:lnSpc>
            </a:pPr>
            <a:r>
              <a:rPr lang="en-US" sz="4953" b="true">
                <a:solidFill>
                  <a:srgbClr val="343434"/>
                </a:solidFill>
                <a:latin typeface="Cooper Hewitt Bold"/>
                <a:ea typeface="Cooper Hewitt Bold"/>
                <a:cs typeface="Cooper Hewitt Bold"/>
                <a:sym typeface="Cooper Hewitt Bold"/>
              </a:rPr>
              <a:t>THE ROLE OF INTERNATIONAL ORGANIZATIONS IN THE HISTORY OF THE INTERNET</a:t>
            </a:r>
          </a:p>
        </p:txBody>
      </p:sp>
      <p:sp>
        <p:nvSpPr>
          <p:cNvPr name="TextBox 5" id="5"/>
          <p:cNvSpPr txBox="true"/>
          <p:nvPr/>
        </p:nvSpPr>
        <p:spPr>
          <a:xfrm rot="0">
            <a:off x="1028700" y="2720660"/>
            <a:ext cx="9199421" cy="6537640"/>
          </a:xfrm>
          <a:prstGeom prst="rect">
            <a:avLst/>
          </a:prstGeom>
        </p:spPr>
        <p:txBody>
          <a:bodyPr anchor="t" rtlCol="false" tIns="0" lIns="0" bIns="0" rIns="0">
            <a:spAutoFit/>
          </a:bodyPr>
          <a:lstStyle/>
          <a:p>
            <a:pPr algn="just">
              <a:lnSpc>
                <a:spcPts val="2929"/>
              </a:lnSpc>
            </a:pPr>
            <a:r>
              <a:rPr lang="en-US" sz="2092">
                <a:solidFill>
                  <a:srgbClr val="343434"/>
                </a:solidFill>
                <a:latin typeface="DM Sans"/>
                <a:ea typeface="DM Sans"/>
                <a:cs typeface="DM Sans"/>
                <a:sym typeface="DM Sans"/>
              </a:rPr>
              <a:t>In 1986, the Internet Engineering Task Force (IETF) was formed as an open community of experts and innovators. Their mission was simple yet critical: to develop the technical standards that would allow computers across the world to speak the same language. From this group came many of the core protocols such as TCP/IP, SMTP, and HTTP that still form the backbone of the internet.</a:t>
            </a:r>
          </a:p>
          <a:p>
            <a:pPr algn="just">
              <a:lnSpc>
                <a:spcPts val="2929"/>
              </a:lnSpc>
            </a:pPr>
          </a:p>
          <a:p>
            <a:pPr algn="just">
              <a:lnSpc>
                <a:spcPts val="2929"/>
              </a:lnSpc>
            </a:pPr>
            <a:r>
              <a:rPr lang="en-US" sz="2092">
                <a:solidFill>
                  <a:srgbClr val="343434"/>
                </a:solidFill>
                <a:latin typeface="DM Sans"/>
                <a:ea typeface="DM Sans"/>
                <a:cs typeface="DM Sans"/>
                <a:sym typeface="DM Sans"/>
              </a:rPr>
              <a:t>In 1998, another milestone arrived with the creation of the Internet Corporation for Assigned Names and Numbers (ICANN). Their role was to manage domain names and IP addresses, ensuring that every website and device on the planet had a unique identity. This was essential for keeping the internet organized as it expanded at an explosive pace.</a:t>
            </a:r>
          </a:p>
          <a:p>
            <a:pPr algn="just">
              <a:lnSpc>
                <a:spcPts val="2929"/>
              </a:lnSpc>
            </a:pPr>
          </a:p>
          <a:p>
            <a:pPr algn="just">
              <a:lnSpc>
                <a:spcPts val="2929"/>
              </a:lnSpc>
            </a:pPr>
            <a:r>
              <a:rPr lang="en-US" sz="2092">
                <a:solidFill>
                  <a:srgbClr val="343434"/>
                </a:solidFill>
                <a:latin typeface="DM Sans"/>
                <a:ea typeface="DM Sans"/>
                <a:cs typeface="DM Sans"/>
                <a:sym typeface="DM Sans"/>
              </a:rPr>
              <a:t>Together, these milestones highlight a powerful truth: the internet is more than just a technological achievement. It is a product of global cooperation, vision, and shared responsibility. Thanks to these organizations, billions of people today can connect, communicate, and collaborate across one unified digital world.</a:t>
            </a:r>
          </a:p>
        </p:txBody>
      </p:sp>
      <p:sp>
        <p:nvSpPr>
          <p:cNvPr name="TextBox 6" id="6"/>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03</a:t>
            </a:r>
          </a:p>
        </p:txBody>
      </p:sp>
      <p:sp>
        <p:nvSpPr>
          <p:cNvPr name="Freeform 7" id="7"/>
          <p:cNvSpPr/>
          <p:nvPr/>
        </p:nvSpPr>
        <p:spPr>
          <a:xfrm flipH="false" flipV="false" rot="0">
            <a:off x="13361442" y="3949781"/>
            <a:ext cx="3897858" cy="2387438"/>
          </a:xfrm>
          <a:custGeom>
            <a:avLst/>
            <a:gdLst/>
            <a:ahLst/>
            <a:cxnLst/>
            <a:rect r="r" b="b" t="t" l="l"/>
            <a:pathLst>
              <a:path h="2387438" w="3897858">
                <a:moveTo>
                  <a:pt x="0" y="0"/>
                </a:moveTo>
                <a:lnTo>
                  <a:pt x="3897858" y="0"/>
                </a:lnTo>
                <a:lnTo>
                  <a:pt x="3897858" y="2387438"/>
                </a:lnTo>
                <a:lnTo>
                  <a:pt x="0" y="23874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1090357" y="6244941"/>
            <a:ext cx="3897858" cy="2387438"/>
          </a:xfrm>
          <a:custGeom>
            <a:avLst/>
            <a:gdLst/>
            <a:ahLst/>
            <a:cxnLst/>
            <a:rect r="r" b="b" t="t" l="l"/>
            <a:pathLst>
              <a:path h="2387438" w="3897858">
                <a:moveTo>
                  <a:pt x="0" y="0"/>
                </a:moveTo>
                <a:lnTo>
                  <a:pt x="3897858" y="0"/>
                </a:lnTo>
                <a:lnTo>
                  <a:pt x="3897858" y="2387438"/>
                </a:lnTo>
                <a:lnTo>
                  <a:pt x="0" y="23874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flipV="true">
            <a:off x="11566822" y="3481645"/>
            <a:ext cx="269334" cy="3957014"/>
          </a:xfrm>
          <a:prstGeom prst="line">
            <a:avLst/>
          </a:prstGeom>
          <a:ln cap="flat" w="38100">
            <a:solidFill>
              <a:srgbClr val="000000"/>
            </a:solidFill>
            <a:prstDash val="sysDot"/>
            <a:headEnd type="none" len="sm" w="sm"/>
            <a:tailEnd type="arrow" len="sm" w="med"/>
          </a:ln>
        </p:spPr>
      </p:sp>
      <p:sp>
        <p:nvSpPr>
          <p:cNvPr name="AutoShape 10" id="10"/>
          <p:cNvSpPr/>
          <p:nvPr/>
        </p:nvSpPr>
        <p:spPr>
          <a:xfrm flipV="true">
            <a:off x="13020236" y="3481645"/>
            <a:ext cx="0" cy="3303205"/>
          </a:xfrm>
          <a:prstGeom prst="line">
            <a:avLst/>
          </a:prstGeom>
          <a:ln cap="flat" w="38100">
            <a:solidFill>
              <a:srgbClr val="000000"/>
            </a:solidFill>
            <a:prstDash val="sysDot"/>
            <a:headEnd type="none" len="sm" w="sm"/>
            <a:tailEnd type="arrow" len="sm" w="med"/>
          </a:ln>
        </p:spPr>
      </p:sp>
      <p:sp>
        <p:nvSpPr>
          <p:cNvPr name="AutoShape 11" id="11"/>
          <p:cNvSpPr/>
          <p:nvPr/>
        </p:nvSpPr>
        <p:spPr>
          <a:xfrm>
            <a:off x="14988215" y="3086600"/>
            <a:ext cx="579103" cy="927844"/>
          </a:xfrm>
          <a:prstGeom prst="line">
            <a:avLst/>
          </a:prstGeom>
          <a:ln cap="flat" w="38100">
            <a:solidFill>
              <a:srgbClr val="000000"/>
            </a:solidFill>
            <a:prstDash val="sysDot"/>
            <a:headEnd type="none" len="sm" w="sm"/>
            <a:tailEnd type="arrow" len="sm" w="med"/>
          </a:ln>
        </p:spPr>
      </p:sp>
      <p:sp>
        <p:nvSpPr>
          <p:cNvPr name="AutoShape 12" id="12"/>
          <p:cNvSpPr/>
          <p:nvPr/>
        </p:nvSpPr>
        <p:spPr>
          <a:xfrm flipH="true">
            <a:off x="14429654" y="6337219"/>
            <a:ext cx="841038" cy="2073399"/>
          </a:xfrm>
          <a:prstGeom prst="line">
            <a:avLst/>
          </a:prstGeom>
          <a:ln cap="flat" w="38100">
            <a:solidFill>
              <a:srgbClr val="000000"/>
            </a:solidFill>
            <a:prstDash val="sysDot"/>
            <a:headEnd type="none" len="sm" w="sm"/>
            <a:tailEnd type="arrow" len="sm" w="med"/>
          </a:ln>
        </p:spPr>
      </p:sp>
      <p:sp>
        <p:nvSpPr>
          <p:cNvPr name="Freeform 13" id="13"/>
          <p:cNvSpPr/>
          <p:nvPr/>
        </p:nvSpPr>
        <p:spPr>
          <a:xfrm flipH="false" flipV="false" rot="0">
            <a:off x="16253563" y="0"/>
            <a:ext cx="2606564" cy="1466192"/>
          </a:xfrm>
          <a:custGeom>
            <a:avLst/>
            <a:gdLst/>
            <a:ahLst/>
            <a:cxnLst/>
            <a:rect r="r" b="b" t="t" l="l"/>
            <a:pathLst>
              <a:path h="1466192" w="2606564">
                <a:moveTo>
                  <a:pt x="0" y="0"/>
                </a:moveTo>
                <a:lnTo>
                  <a:pt x="2606564" y="0"/>
                </a:lnTo>
                <a:lnTo>
                  <a:pt x="2606564" y="1466192"/>
                </a:lnTo>
                <a:lnTo>
                  <a:pt x="0" y="1466192"/>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23534" y="1865419"/>
            <a:ext cx="4132897" cy="6143495"/>
          </a:xfrm>
          <a:custGeom>
            <a:avLst/>
            <a:gdLst/>
            <a:ahLst/>
            <a:cxnLst/>
            <a:rect r="r" b="b" t="t" l="l"/>
            <a:pathLst>
              <a:path h="6143495" w="4132897">
                <a:moveTo>
                  <a:pt x="0" y="0"/>
                </a:moveTo>
                <a:lnTo>
                  <a:pt x="4132897" y="0"/>
                </a:lnTo>
                <a:lnTo>
                  <a:pt x="4132897" y="6143495"/>
                </a:lnTo>
                <a:lnTo>
                  <a:pt x="0" y="61434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60332" y="1282813"/>
            <a:ext cx="5476274" cy="936610"/>
          </a:xfrm>
          <a:prstGeom prst="rect">
            <a:avLst/>
          </a:prstGeom>
        </p:spPr>
        <p:txBody>
          <a:bodyPr anchor="t" rtlCol="false" tIns="0" lIns="0" bIns="0" rIns="0">
            <a:spAutoFit/>
          </a:bodyPr>
          <a:lstStyle/>
          <a:p>
            <a:pPr algn="l">
              <a:lnSpc>
                <a:spcPts val="6504"/>
              </a:lnSpc>
            </a:pPr>
            <a:r>
              <a:rPr lang="en-US" sz="4645" b="true">
                <a:solidFill>
                  <a:srgbClr val="343434"/>
                </a:solidFill>
                <a:latin typeface="Cooper Hewitt Bold"/>
                <a:ea typeface="Cooper Hewitt Bold"/>
                <a:cs typeface="Cooper Hewitt Bold"/>
                <a:sym typeface="Cooper Hewitt Bold"/>
              </a:rPr>
              <a:t>THE INTERNET </a:t>
            </a:r>
          </a:p>
        </p:txBody>
      </p:sp>
      <p:sp>
        <p:nvSpPr>
          <p:cNvPr name="TextBox 5" id="5"/>
          <p:cNvSpPr txBox="true"/>
          <p:nvPr/>
        </p:nvSpPr>
        <p:spPr>
          <a:xfrm rot="0">
            <a:off x="760332" y="3051929"/>
            <a:ext cx="11391442" cy="4130046"/>
          </a:xfrm>
          <a:prstGeom prst="rect">
            <a:avLst/>
          </a:prstGeom>
        </p:spPr>
        <p:txBody>
          <a:bodyPr anchor="t" rtlCol="false" tIns="0" lIns="0" bIns="0" rIns="0">
            <a:spAutoFit/>
          </a:bodyPr>
          <a:lstStyle/>
          <a:p>
            <a:pPr algn="just">
              <a:lnSpc>
                <a:spcPts val="3716"/>
              </a:lnSpc>
            </a:pPr>
            <a:r>
              <a:rPr lang="en-US" sz="2654">
                <a:solidFill>
                  <a:srgbClr val="343434"/>
                </a:solidFill>
                <a:latin typeface="DM Sans"/>
                <a:ea typeface="DM Sans"/>
                <a:cs typeface="DM Sans"/>
                <a:sym typeface="DM Sans"/>
              </a:rPr>
              <a:t>The internet has transformed the way people do business. E-commerce has evolved from small online shops into global marketplaces that connect millions of buyers and sellers. In the financial sector, fintech has revolutionized payments and banking through digital wallets and online services, making transactions faster and more accessible. At the same time, the creator economy has opened new opportunities, allowing individuals to earn from YouTube, podcasts, and digital content. Together, these changes show how the internet has created a new era of global economic growth and opportunity.</a:t>
            </a:r>
          </a:p>
        </p:txBody>
      </p:sp>
      <p:sp>
        <p:nvSpPr>
          <p:cNvPr name="TextBox 6" id="6"/>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04</a:t>
            </a:r>
          </a:p>
        </p:txBody>
      </p:sp>
      <p:sp>
        <p:nvSpPr>
          <p:cNvPr name="TextBox 7" id="7"/>
          <p:cNvSpPr txBox="true"/>
          <p:nvPr/>
        </p:nvSpPr>
        <p:spPr>
          <a:xfrm rot="0">
            <a:off x="760332" y="2095977"/>
            <a:ext cx="5331184" cy="908327"/>
          </a:xfrm>
          <a:prstGeom prst="rect">
            <a:avLst/>
          </a:prstGeom>
        </p:spPr>
        <p:txBody>
          <a:bodyPr anchor="t" rtlCol="false" tIns="0" lIns="0" bIns="0" rIns="0">
            <a:spAutoFit/>
          </a:bodyPr>
          <a:lstStyle/>
          <a:p>
            <a:pPr algn="l">
              <a:lnSpc>
                <a:spcPts val="6331"/>
              </a:lnSpc>
            </a:pPr>
            <a:r>
              <a:rPr lang="en-US" sz="4522">
                <a:solidFill>
                  <a:srgbClr val="343434"/>
                </a:solidFill>
                <a:latin typeface="Cooper Hewitt"/>
                <a:ea typeface="Cooper Hewitt"/>
                <a:cs typeface="Cooper Hewitt"/>
                <a:sym typeface="Cooper Hewitt"/>
              </a:rPr>
              <a:t>ECONOMY</a:t>
            </a:r>
          </a:p>
        </p:txBody>
      </p:sp>
      <p:sp>
        <p:nvSpPr>
          <p:cNvPr name="Freeform 8" id="8"/>
          <p:cNvSpPr/>
          <p:nvPr/>
        </p:nvSpPr>
        <p:spPr>
          <a:xfrm flipH="false" flipV="false" rot="0">
            <a:off x="16253563" y="0"/>
            <a:ext cx="2606564" cy="1466192"/>
          </a:xfrm>
          <a:custGeom>
            <a:avLst/>
            <a:gdLst/>
            <a:ahLst/>
            <a:cxnLst/>
            <a:rect r="r" b="b" t="t" l="l"/>
            <a:pathLst>
              <a:path h="1466192" w="2606564">
                <a:moveTo>
                  <a:pt x="0" y="0"/>
                </a:moveTo>
                <a:lnTo>
                  <a:pt x="2606564" y="0"/>
                </a:lnTo>
                <a:lnTo>
                  <a:pt x="2606564" y="1466192"/>
                </a:lnTo>
                <a:lnTo>
                  <a:pt x="0" y="1466192"/>
                </a:lnTo>
                <a:lnTo>
                  <a:pt x="0" y="0"/>
                </a:lnTo>
                <a:close/>
              </a:path>
            </a:pathLst>
          </a:custGeom>
          <a:blipFill>
            <a:blip r:embed="rId6"/>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50705" y="2315052"/>
            <a:ext cx="3102858" cy="5004610"/>
          </a:xfrm>
          <a:custGeom>
            <a:avLst/>
            <a:gdLst/>
            <a:ahLst/>
            <a:cxnLst/>
            <a:rect r="r" b="b" t="t" l="l"/>
            <a:pathLst>
              <a:path h="5004610" w="3102858">
                <a:moveTo>
                  <a:pt x="0" y="0"/>
                </a:moveTo>
                <a:lnTo>
                  <a:pt x="3102858" y="0"/>
                </a:lnTo>
                <a:lnTo>
                  <a:pt x="3102858" y="5004610"/>
                </a:lnTo>
                <a:lnTo>
                  <a:pt x="0" y="5004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60332" y="1481247"/>
            <a:ext cx="6236606" cy="1063486"/>
          </a:xfrm>
          <a:prstGeom prst="rect">
            <a:avLst/>
          </a:prstGeom>
        </p:spPr>
        <p:txBody>
          <a:bodyPr anchor="t" rtlCol="false" tIns="0" lIns="0" bIns="0" rIns="0">
            <a:spAutoFit/>
          </a:bodyPr>
          <a:lstStyle/>
          <a:p>
            <a:pPr algn="l">
              <a:lnSpc>
                <a:spcPts val="7407"/>
              </a:lnSpc>
            </a:pPr>
            <a:r>
              <a:rPr lang="en-US" sz="5290" b="true">
                <a:solidFill>
                  <a:srgbClr val="343434"/>
                </a:solidFill>
                <a:latin typeface="Cooper Hewitt Bold"/>
                <a:ea typeface="Cooper Hewitt Bold"/>
                <a:cs typeface="Cooper Hewitt Bold"/>
                <a:sym typeface="Cooper Hewitt Bold"/>
              </a:rPr>
              <a:t>THE INTERNET </a:t>
            </a:r>
          </a:p>
        </p:txBody>
      </p:sp>
      <p:sp>
        <p:nvSpPr>
          <p:cNvPr name="TextBox 5" id="5"/>
          <p:cNvSpPr txBox="true"/>
          <p:nvPr/>
        </p:nvSpPr>
        <p:spPr>
          <a:xfrm rot="0">
            <a:off x="760332" y="3416041"/>
            <a:ext cx="11901182" cy="3407294"/>
          </a:xfrm>
          <a:prstGeom prst="rect">
            <a:avLst/>
          </a:prstGeom>
        </p:spPr>
        <p:txBody>
          <a:bodyPr anchor="t" rtlCol="false" tIns="0" lIns="0" bIns="0" rIns="0">
            <a:spAutoFit/>
          </a:bodyPr>
          <a:lstStyle/>
          <a:p>
            <a:pPr algn="just">
              <a:lnSpc>
                <a:spcPts val="3448"/>
              </a:lnSpc>
            </a:pPr>
            <a:r>
              <a:rPr lang="en-US" sz="2462">
                <a:solidFill>
                  <a:srgbClr val="343434"/>
                </a:solidFill>
                <a:latin typeface="DM Sans"/>
                <a:ea typeface="DM Sans"/>
                <a:cs typeface="DM Sans"/>
                <a:sym typeface="DM Sans"/>
              </a:rPr>
              <a:t>As the internet grows, we also need rules to use it wisely. Online manners, or “netiquette,” mean being polite, respecting other people’s privacy, and avoiding fake news. Internet safety is very important too, such as protecting personal information, using strong passwords, and being careful with scams or viruses. We should also respect copyright by not copying other people’s work and only using content from trusted sources. Finally, the internet should be used in a good way, for studying, working, or connecting with others, while also balancing our time so it does not turn into an unhealthy habit.</a:t>
            </a:r>
          </a:p>
        </p:txBody>
      </p:sp>
      <p:sp>
        <p:nvSpPr>
          <p:cNvPr name="TextBox 6" id="6"/>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05</a:t>
            </a:r>
          </a:p>
        </p:txBody>
      </p:sp>
      <p:sp>
        <p:nvSpPr>
          <p:cNvPr name="TextBox 7" id="7"/>
          <p:cNvSpPr txBox="true"/>
          <p:nvPr/>
        </p:nvSpPr>
        <p:spPr>
          <a:xfrm rot="0">
            <a:off x="760332" y="2325658"/>
            <a:ext cx="5331184" cy="908327"/>
          </a:xfrm>
          <a:prstGeom prst="rect">
            <a:avLst/>
          </a:prstGeom>
        </p:spPr>
        <p:txBody>
          <a:bodyPr anchor="t" rtlCol="false" tIns="0" lIns="0" bIns="0" rIns="0">
            <a:spAutoFit/>
          </a:bodyPr>
          <a:lstStyle/>
          <a:p>
            <a:pPr algn="l">
              <a:lnSpc>
                <a:spcPts val="6331"/>
              </a:lnSpc>
            </a:pPr>
            <a:r>
              <a:rPr lang="en-US" sz="4522">
                <a:solidFill>
                  <a:srgbClr val="343434"/>
                </a:solidFill>
                <a:latin typeface="Cooper Hewitt"/>
                <a:ea typeface="Cooper Hewitt"/>
                <a:cs typeface="Cooper Hewitt"/>
                <a:sym typeface="Cooper Hewitt"/>
              </a:rPr>
              <a:t>RULES</a:t>
            </a:r>
          </a:p>
        </p:txBody>
      </p:sp>
      <p:sp>
        <p:nvSpPr>
          <p:cNvPr name="Freeform 8" id="8"/>
          <p:cNvSpPr/>
          <p:nvPr/>
        </p:nvSpPr>
        <p:spPr>
          <a:xfrm flipH="false" flipV="false" rot="0">
            <a:off x="16253563" y="0"/>
            <a:ext cx="2606564" cy="1466192"/>
          </a:xfrm>
          <a:custGeom>
            <a:avLst/>
            <a:gdLst/>
            <a:ahLst/>
            <a:cxnLst/>
            <a:rect r="r" b="b" t="t" l="l"/>
            <a:pathLst>
              <a:path h="1466192" w="2606564">
                <a:moveTo>
                  <a:pt x="0" y="0"/>
                </a:moveTo>
                <a:lnTo>
                  <a:pt x="2606564" y="0"/>
                </a:lnTo>
                <a:lnTo>
                  <a:pt x="2606564" y="1466192"/>
                </a:lnTo>
                <a:lnTo>
                  <a:pt x="0" y="1466192"/>
                </a:lnTo>
                <a:lnTo>
                  <a:pt x="0" y="0"/>
                </a:lnTo>
                <a:close/>
              </a:path>
            </a:pathLst>
          </a:custGeom>
          <a:blipFill>
            <a:blip r:embed="rId6"/>
            <a:stretch>
              <a:fillRect l="0" t="0" r="0" b="0"/>
            </a:stretch>
          </a:blipFill>
        </p:spPr>
      </p:sp>
      <p:sp>
        <p:nvSpPr>
          <p:cNvPr name="TextBox 9" id="9"/>
          <p:cNvSpPr txBox="true"/>
          <p:nvPr/>
        </p:nvSpPr>
        <p:spPr>
          <a:xfrm rot="0">
            <a:off x="760332" y="7230747"/>
            <a:ext cx="11901182" cy="1696181"/>
          </a:xfrm>
          <a:prstGeom prst="rect">
            <a:avLst/>
          </a:prstGeom>
        </p:spPr>
        <p:txBody>
          <a:bodyPr anchor="t" rtlCol="false" tIns="0" lIns="0" bIns="0" rIns="0">
            <a:spAutoFit/>
          </a:bodyPr>
          <a:lstStyle/>
          <a:p>
            <a:pPr algn="just">
              <a:lnSpc>
                <a:spcPts val="3448"/>
              </a:lnSpc>
            </a:pPr>
            <a:r>
              <a:rPr lang="en-US" sz="2462">
                <a:solidFill>
                  <a:srgbClr val="343434"/>
                </a:solidFill>
                <a:latin typeface="DM Sans"/>
                <a:ea typeface="DM Sans"/>
                <a:cs typeface="DM Sans"/>
                <a:sym typeface="DM Sans"/>
              </a:rPr>
              <a:t>We should also respect copyright by not copying other people’s work and only using content from trusted sources. Finally, the internet should be used in a good way, for studying, working, or connecting with others, while also balancing our time so it does not turn into an unhealthy habit.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522748" y="1466192"/>
            <a:ext cx="6034097" cy="6718124"/>
          </a:xfrm>
          <a:custGeom>
            <a:avLst/>
            <a:gdLst/>
            <a:ahLst/>
            <a:cxnLst/>
            <a:rect r="r" b="b" t="t" l="l"/>
            <a:pathLst>
              <a:path h="6718124" w="6034097">
                <a:moveTo>
                  <a:pt x="0" y="0"/>
                </a:moveTo>
                <a:lnTo>
                  <a:pt x="6034097" y="0"/>
                </a:lnTo>
                <a:lnTo>
                  <a:pt x="6034097" y="6718124"/>
                </a:lnTo>
                <a:lnTo>
                  <a:pt x="0" y="6718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132394" y="733096"/>
            <a:ext cx="4179099" cy="6080700"/>
          </a:xfrm>
          <a:custGeom>
            <a:avLst/>
            <a:gdLst/>
            <a:ahLst/>
            <a:cxnLst/>
            <a:rect r="r" b="b" t="t" l="l"/>
            <a:pathLst>
              <a:path h="6080700" w="4179099">
                <a:moveTo>
                  <a:pt x="0" y="0"/>
                </a:moveTo>
                <a:lnTo>
                  <a:pt x="4179100" y="0"/>
                </a:lnTo>
                <a:lnTo>
                  <a:pt x="4179100" y="6080700"/>
                </a:lnTo>
                <a:lnTo>
                  <a:pt x="0" y="60807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790655" y="580668"/>
            <a:ext cx="7072639"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INTERNET</a:t>
            </a:r>
          </a:p>
        </p:txBody>
      </p:sp>
      <p:sp>
        <p:nvSpPr>
          <p:cNvPr name="TextBox 6" id="6"/>
          <p:cNvSpPr txBox="true"/>
          <p:nvPr/>
        </p:nvSpPr>
        <p:spPr>
          <a:xfrm rot="0">
            <a:off x="790655" y="2657117"/>
            <a:ext cx="9975471" cy="6465215"/>
          </a:xfrm>
          <a:prstGeom prst="rect">
            <a:avLst/>
          </a:prstGeom>
        </p:spPr>
        <p:txBody>
          <a:bodyPr anchor="t" rtlCol="false" tIns="0" lIns="0" bIns="0" rIns="0">
            <a:spAutoFit/>
          </a:bodyPr>
          <a:lstStyle/>
          <a:p>
            <a:pPr algn="just">
              <a:lnSpc>
                <a:spcPts val="3069"/>
              </a:lnSpc>
            </a:pPr>
            <a:r>
              <a:rPr lang="en-US" sz="2192">
                <a:solidFill>
                  <a:srgbClr val="343434"/>
                </a:solidFill>
                <a:latin typeface="DM Sans"/>
                <a:ea typeface="DM Sans"/>
                <a:cs typeface="DM Sans"/>
                <a:sym typeface="DM Sans"/>
              </a:rPr>
              <a:t>Internet security means protecting yourself, your data, and your devices when you use the internet. It is about keeping information safe from hackers, viruses, scams, and other online threats.</a:t>
            </a:r>
          </a:p>
          <a:p>
            <a:pPr algn="just">
              <a:lnSpc>
                <a:spcPts val="3069"/>
              </a:lnSpc>
            </a:pPr>
          </a:p>
          <a:p>
            <a:pPr algn="just">
              <a:lnSpc>
                <a:spcPts val="3069"/>
              </a:lnSpc>
            </a:pPr>
            <a:r>
              <a:rPr lang="en-US" sz="2192">
                <a:solidFill>
                  <a:srgbClr val="343434"/>
                </a:solidFill>
                <a:latin typeface="DM Sans"/>
                <a:ea typeface="DM Sans"/>
                <a:cs typeface="DM Sans"/>
                <a:sym typeface="DM Sans"/>
              </a:rPr>
              <a:t>Some key points about internet security are:</a:t>
            </a:r>
          </a:p>
          <a:p>
            <a:pPr algn="just">
              <a:lnSpc>
                <a:spcPts val="3069"/>
              </a:lnSpc>
            </a:pPr>
            <a:r>
              <a:rPr lang="en-US" sz="2192">
                <a:solidFill>
                  <a:srgbClr val="343434"/>
                </a:solidFill>
                <a:latin typeface="DM Sans"/>
                <a:ea typeface="DM Sans"/>
                <a:cs typeface="DM Sans"/>
                <a:sym typeface="DM Sans"/>
              </a:rPr>
              <a:t>1. Protect personal data – Do not share things like your full name, address, phone number, or passwords carelessly.</a:t>
            </a:r>
          </a:p>
          <a:p>
            <a:pPr algn="just">
              <a:lnSpc>
                <a:spcPts val="3069"/>
              </a:lnSpc>
            </a:pPr>
            <a:r>
              <a:rPr lang="en-US" sz="2192">
                <a:solidFill>
                  <a:srgbClr val="343434"/>
                </a:solidFill>
                <a:latin typeface="DM Sans"/>
                <a:ea typeface="DM Sans"/>
                <a:cs typeface="DM Sans"/>
                <a:sym typeface="DM Sans"/>
              </a:rPr>
              <a:t>2. Use strong passwords – A good password should be long, unique, and not easy to guess.</a:t>
            </a:r>
          </a:p>
          <a:p>
            <a:pPr algn="just">
              <a:lnSpc>
                <a:spcPts val="3069"/>
              </a:lnSpc>
            </a:pPr>
            <a:r>
              <a:rPr lang="en-US" sz="2192">
                <a:solidFill>
                  <a:srgbClr val="343434"/>
                </a:solidFill>
                <a:latin typeface="DM Sans"/>
                <a:ea typeface="DM Sans"/>
                <a:cs typeface="DM Sans"/>
                <a:sym typeface="DM Sans"/>
              </a:rPr>
              <a:t>3. Beware of scams and phishing – Be careful with emails, messages, or websites that try to trick you into giving personal information.</a:t>
            </a:r>
          </a:p>
          <a:p>
            <a:pPr algn="just">
              <a:lnSpc>
                <a:spcPts val="3069"/>
              </a:lnSpc>
            </a:pPr>
            <a:r>
              <a:rPr lang="en-US" sz="2192">
                <a:solidFill>
                  <a:srgbClr val="343434"/>
                </a:solidFill>
                <a:latin typeface="DM Sans"/>
                <a:ea typeface="DM Sans"/>
                <a:cs typeface="DM Sans"/>
                <a:sym typeface="DM Sans"/>
              </a:rPr>
              <a:t>4. Use antivirus and updates – Keep your device updated and use security software to block viruses and malware.</a:t>
            </a:r>
          </a:p>
          <a:p>
            <a:pPr algn="just">
              <a:lnSpc>
                <a:spcPts val="3069"/>
              </a:lnSpc>
            </a:pPr>
            <a:r>
              <a:rPr lang="en-US" sz="2192">
                <a:solidFill>
                  <a:srgbClr val="343434"/>
                </a:solidFill>
                <a:latin typeface="DM Sans"/>
                <a:ea typeface="DM Sans"/>
                <a:cs typeface="DM Sans"/>
                <a:sym typeface="DM Sans"/>
              </a:rPr>
              <a:t>5. Safe browsing – Visit trusted websites and avoid clicking on suspicious links.</a:t>
            </a:r>
          </a:p>
          <a:p>
            <a:pPr algn="just">
              <a:lnSpc>
                <a:spcPts val="3069"/>
              </a:lnSpc>
            </a:pPr>
            <a:r>
              <a:rPr lang="en-US" sz="2192">
                <a:solidFill>
                  <a:srgbClr val="343434"/>
                </a:solidFill>
                <a:latin typeface="DM Sans"/>
                <a:ea typeface="DM Sans"/>
                <a:cs typeface="DM Sans"/>
                <a:sym typeface="DM Sans"/>
              </a:rPr>
              <a:t>6. Use secure networks – When possible, connect to safe Wi-Fi and avoid public Wi-Fi for sensitive activities like online banking.</a:t>
            </a:r>
          </a:p>
        </p:txBody>
      </p:sp>
      <p:sp>
        <p:nvSpPr>
          <p:cNvPr name="TextBox 7" id="7"/>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06</a:t>
            </a:r>
          </a:p>
        </p:txBody>
      </p:sp>
      <p:sp>
        <p:nvSpPr>
          <p:cNvPr name="TextBox 8" id="8"/>
          <p:cNvSpPr txBox="true"/>
          <p:nvPr/>
        </p:nvSpPr>
        <p:spPr>
          <a:xfrm rot="0">
            <a:off x="790655" y="1495067"/>
            <a:ext cx="9399670" cy="1209674"/>
          </a:xfrm>
          <a:prstGeom prst="rect">
            <a:avLst/>
          </a:prstGeom>
        </p:spPr>
        <p:txBody>
          <a:bodyPr anchor="t" rtlCol="false" tIns="0" lIns="0" bIns="0" rIns="0">
            <a:spAutoFit/>
          </a:bodyPr>
          <a:lstStyle/>
          <a:p>
            <a:pPr algn="l">
              <a:lnSpc>
                <a:spcPts val="8400"/>
              </a:lnSpc>
            </a:pPr>
            <a:r>
              <a:rPr lang="en-US" sz="6000">
                <a:solidFill>
                  <a:srgbClr val="343434"/>
                </a:solidFill>
                <a:latin typeface="Cooper Hewitt"/>
                <a:ea typeface="Cooper Hewitt"/>
                <a:cs typeface="Cooper Hewitt"/>
                <a:sym typeface="Cooper Hewitt"/>
              </a:rPr>
              <a:t>SECURITY</a:t>
            </a:r>
          </a:p>
        </p:txBody>
      </p:sp>
      <p:sp>
        <p:nvSpPr>
          <p:cNvPr name="Freeform 9" id="9"/>
          <p:cNvSpPr/>
          <p:nvPr/>
        </p:nvSpPr>
        <p:spPr>
          <a:xfrm flipH="false" flipV="false" rot="0">
            <a:off x="16253563" y="0"/>
            <a:ext cx="2606564" cy="1466192"/>
          </a:xfrm>
          <a:custGeom>
            <a:avLst/>
            <a:gdLst/>
            <a:ahLst/>
            <a:cxnLst/>
            <a:rect r="r" b="b" t="t" l="l"/>
            <a:pathLst>
              <a:path h="1466192" w="2606564">
                <a:moveTo>
                  <a:pt x="0" y="0"/>
                </a:moveTo>
                <a:lnTo>
                  <a:pt x="2606564" y="0"/>
                </a:lnTo>
                <a:lnTo>
                  <a:pt x="2606564" y="1466192"/>
                </a:lnTo>
                <a:lnTo>
                  <a:pt x="0" y="1466192"/>
                </a:lnTo>
                <a:lnTo>
                  <a:pt x="0" y="0"/>
                </a:lnTo>
                <a:close/>
              </a:path>
            </a:pathLst>
          </a:custGeom>
          <a:blipFill>
            <a:blip r:embed="rId8"/>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319860" y="1028700"/>
            <a:ext cx="4652055" cy="6106516"/>
          </a:xfrm>
          <a:custGeom>
            <a:avLst/>
            <a:gdLst/>
            <a:ahLst/>
            <a:cxnLst/>
            <a:rect r="r" b="b" t="t" l="l"/>
            <a:pathLst>
              <a:path h="6106516" w="4652055">
                <a:moveTo>
                  <a:pt x="0" y="0"/>
                </a:moveTo>
                <a:lnTo>
                  <a:pt x="4652055" y="0"/>
                </a:lnTo>
                <a:lnTo>
                  <a:pt x="4652055" y="6106516"/>
                </a:lnTo>
                <a:lnTo>
                  <a:pt x="0" y="6106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0544525" y="2412777"/>
            <a:ext cx="2597247" cy="4793577"/>
          </a:xfrm>
          <a:custGeom>
            <a:avLst/>
            <a:gdLst/>
            <a:ahLst/>
            <a:cxnLst/>
            <a:rect r="r" b="b" t="t" l="l"/>
            <a:pathLst>
              <a:path h="4793577" w="2597247">
                <a:moveTo>
                  <a:pt x="0" y="0"/>
                </a:moveTo>
                <a:lnTo>
                  <a:pt x="2597248" y="0"/>
                </a:lnTo>
                <a:lnTo>
                  <a:pt x="2597248" y="4793577"/>
                </a:lnTo>
                <a:lnTo>
                  <a:pt x="0" y="4793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648031" y="1300973"/>
            <a:ext cx="11195118" cy="1111804"/>
          </a:xfrm>
          <a:prstGeom prst="rect">
            <a:avLst/>
          </a:prstGeom>
        </p:spPr>
        <p:txBody>
          <a:bodyPr anchor="t" rtlCol="false" tIns="0" lIns="0" bIns="0" rIns="0">
            <a:spAutoFit/>
          </a:bodyPr>
          <a:lstStyle/>
          <a:p>
            <a:pPr algn="l">
              <a:lnSpc>
                <a:spcPts val="7763"/>
              </a:lnSpc>
            </a:pPr>
            <a:r>
              <a:rPr lang="en-US" sz="5545" b="true">
                <a:solidFill>
                  <a:srgbClr val="343434"/>
                </a:solidFill>
                <a:latin typeface="Cooper Hewitt Bold"/>
                <a:ea typeface="Cooper Hewitt Bold"/>
                <a:cs typeface="Cooper Hewitt Bold"/>
                <a:sym typeface="Cooper Hewitt Bold"/>
              </a:rPr>
              <a:t>THE FUTURE OF THE INTERNET</a:t>
            </a:r>
          </a:p>
        </p:txBody>
      </p:sp>
      <p:sp>
        <p:nvSpPr>
          <p:cNvPr name="TextBox 6" id="6"/>
          <p:cNvSpPr txBox="true"/>
          <p:nvPr/>
        </p:nvSpPr>
        <p:spPr>
          <a:xfrm rot="0">
            <a:off x="648031" y="2374677"/>
            <a:ext cx="9414231" cy="7181277"/>
          </a:xfrm>
          <a:prstGeom prst="rect">
            <a:avLst/>
          </a:prstGeom>
        </p:spPr>
        <p:txBody>
          <a:bodyPr anchor="t" rtlCol="false" tIns="0" lIns="0" bIns="0" rIns="0">
            <a:spAutoFit/>
          </a:bodyPr>
          <a:lstStyle/>
          <a:p>
            <a:pPr algn="just" marL="425777" indent="-212889" lvl="1">
              <a:lnSpc>
                <a:spcPts val="2760"/>
              </a:lnSpc>
              <a:buFont typeface="Arial"/>
              <a:buChar char="•"/>
            </a:pPr>
            <a:r>
              <a:rPr lang="en-US" sz="1972">
                <a:solidFill>
                  <a:srgbClr val="343434"/>
                </a:solidFill>
                <a:latin typeface="DM Sans"/>
                <a:ea typeface="DM Sans"/>
                <a:cs typeface="DM Sans"/>
                <a:sym typeface="DM Sans"/>
              </a:rPr>
              <a:t>Internet of Things (IoT)</a:t>
            </a:r>
          </a:p>
          <a:p>
            <a:pPr algn="just">
              <a:lnSpc>
                <a:spcPts val="2760"/>
              </a:lnSpc>
            </a:pPr>
            <a:r>
              <a:rPr lang="en-US" sz="1972">
                <a:solidFill>
                  <a:srgbClr val="343434"/>
                </a:solidFill>
                <a:latin typeface="DM Sans"/>
                <a:ea typeface="DM Sans"/>
                <a:cs typeface="DM Sans"/>
                <a:sym typeface="DM Sans"/>
              </a:rPr>
              <a:t>The IoT will connect everyday devices such as smart homes, wearable technology, and even self-driving cars. This network of connected devices will make daily life more convenient and efficient by allowing them to communicate and work together.</a:t>
            </a:r>
          </a:p>
          <a:p>
            <a:pPr algn="just">
              <a:lnSpc>
                <a:spcPts val="2760"/>
              </a:lnSpc>
            </a:pPr>
          </a:p>
          <a:p>
            <a:pPr algn="just" marL="425777" indent="-212889" lvl="1">
              <a:lnSpc>
                <a:spcPts val="2760"/>
              </a:lnSpc>
              <a:buFont typeface="Arial"/>
              <a:buChar char="•"/>
            </a:pPr>
            <a:r>
              <a:rPr lang="en-US" sz="1972">
                <a:solidFill>
                  <a:srgbClr val="343434"/>
                </a:solidFill>
                <a:latin typeface="DM Sans"/>
                <a:ea typeface="DM Sans"/>
                <a:cs typeface="DM Sans"/>
                <a:sym typeface="DM Sans"/>
              </a:rPr>
              <a:t>Artificial Intelligence (AI)</a:t>
            </a:r>
          </a:p>
          <a:p>
            <a:pPr algn="just">
              <a:lnSpc>
                <a:spcPts val="2760"/>
              </a:lnSpc>
            </a:pPr>
            <a:r>
              <a:rPr lang="en-US" sz="1972">
                <a:solidFill>
                  <a:srgbClr val="343434"/>
                </a:solidFill>
                <a:latin typeface="DM Sans"/>
                <a:ea typeface="DM Sans"/>
                <a:cs typeface="DM Sans"/>
                <a:sym typeface="DM Sans"/>
              </a:rPr>
              <a:t>AI will play a central role in shaping the internet of the future. From personalized recommendations to smart virtual assistants, AI will enhance automation and help people and businesses make faster and smarter decisions.</a:t>
            </a:r>
          </a:p>
          <a:p>
            <a:pPr algn="just">
              <a:lnSpc>
                <a:spcPts val="2760"/>
              </a:lnSpc>
            </a:pPr>
          </a:p>
          <a:p>
            <a:pPr algn="just" marL="425777" indent="-212889" lvl="1">
              <a:lnSpc>
                <a:spcPts val="2760"/>
              </a:lnSpc>
              <a:buFont typeface="Arial"/>
              <a:buChar char="•"/>
            </a:pPr>
            <a:r>
              <a:rPr lang="en-US" sz="1972">
                <a:solidFill>
                  <a:srgbClr val="343434"/>
                </a:solidFill>
                <a:latin typeface="DM Sans"/>
                <a:ea typeface="DM Sans"/>
                <a:cs typeface="DM Sans"/>
                <a:sym typeface="DM Sans"/>
              </a:rPr>
              <a:t>Big Data</a:t>
            </a:r>
          </a:p>
          <a:p>
            <a:pPr algn="just">
              <a:lnSpc>
                <a:spcPts val="2760"/>
              </a:lnSpc>
            </a:pPr>
            <a:r>
              <a:rPr lang="en-US" sz="1972">
                <a:solidFill>
                  <a:srgbClr val="343434"/>
                </a:solidFill>
                <a:latin typeface="DM Sans"/>
                <a:ea typeface="DM Sans"/>
                <a:cs typeface="DM Sans"/>
                <a:sym typeface="DM Sans"/>
              </a:rPr>
              <a:t>With billions of devices online, the amount of data generated will continue to grow. Big Data technologies will analyze this information in real time, supporting breakthroughs in healthcare, education, business, and many other fields.</a:t>
            </a:r>
          </a:p>
          <a:p>
            <a:pPr algn="just">
              <a:lnSpc>
                <a:spcPts val="2760"/>
              </a:lnSpc>
            </a:pPr>
          </a:p>
          <a:p>
            <a:pPr algn="just" marL="425777" indent="-212889" lvl="1">
              <a:lnSpc>
                <a:spcPts val="2760"/>
              </a:lnSpc>
              <a:buFont typeface="Arial"/>
              <a:buChar char="•"/>
            </a:pPr>
            <a:r>
              <a:rPr lang="en-US" sz="1972">
                <a:solidFill>
                  <a:srgbClr val="343434"/>
                </a:solidFill>
                <a:latin typeface="DM Sans"/>
                <a:ea typeface="DM Sans"/>
                <a:cs typeface="DM Sans"/>
                <a:sym typeface="DM Sans"/>
              </a:rPr>
              <a:t>Quantum Internet</a:t>
            </a:r>
          </a:p>
          <a:p>
            <a:pPr algn="just">
              <a:lnSpc>
                <a:spcPts val="2760"/>
              </a:lnSpc>
            </a:pPr>
            <a:r>
              <a:rPr lang="en-US" sz="1972">
                <a:solidFill>
                  <a:srgbClr val="343434"/>
                </a:solidFill>
                <a:latin typeface="DM Sans"/>
                <a:ea typeface="DM Sans"/>
                <a:cs typeface="DM Sans"/>
                <a:sym typeface="DM Sans"/>
              </a:rPr>
              <a:t>Researchers are working on the development of a quantum internet, which could provide extremely fast speeds and unprecedented levels of security. This technology has the potential to revolutionize the way we communicate and protect information in the future.</a:t>
            </a:r>
          </a:p>
        </p:txBody>
      </p:sp>
      <p:sp>
        <p:nvSpPr>
          <p:cNvPr name="TextBox 7" id="7"/>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07</a:t>
            </a:r>
          </a:p>
        </p:txBody>
      </p:sp>
      <p:sp>
        <p:nvSpPr>
          <p:cNvPr name="Freeform 8" id="8"/>
          <p:cNvSpPr/>
          <p:nvPr/>
        </p:nvSpPr>
        <p:spPr>
          <a:xfrm flipH="false" flipV="false" rot="0">
            <a:off x="16253563" y="0"/>
            <a:ext cx="2606564" cy="1466192"/>
          </a:xfrm>
          <a:custGeom>
            <a:avLst/>
            <a:gdLst/>
            <a:ahLst/>
            <a:cxnLst/>
            <a:rect r="r" b="b" t="t" l="l"/>
            <a:pathLst>
              <a:path h="1466192" w="2606564">
                <a:moveTo>
                  <a:pt x="0" y="0"/>
                </a:moveTo>
                <a:lnTo>
                  <a:pt x="2606564" y="0"/>
                </a:lnTo>
                <a:lnTo>
                  <a:pt x="2606564" y="1466192"/>
                </a:lnTo>
                <a:lnTo>
                  <a:pt x="0" y="1466192"/>
                </a:lnTo>
                <a:lnTo>
                  <a:pt x="0" y="0"/>
                </a:lnTo>
                <a:close/>
              </a:path>
            </a:pathLst>
          </a:custGeom>
          <a:blipFill>
            <a:blip r:embed="rId8"/>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67272" y="299479"/>
            <a:ext cx="4355876" cy="6337915"/>
          </a:xfrm>
          <a:custGeom>
            <a:avLst/>
            <a:gdLst/>
            <a:ahLst/>
            <a:cxnLst/>
            <a:rect r="r" b="b" t="t" l="l"/>
            <a:pathLst>
              <a:path h="6337915" w="4355876">
                <a:moveTo>
                  <a:pt x="0" y="0"/>
                </a:moveTo>
                <a:lnTo>
                  <a:pt x="4355876" y="0"/>
                </a:lnTo>
                <a:lnTo>
                  <a:pt x="4355876" y="6337915"/>
                </a:lnTo>
                <a:lnTo>
                  <a:pt x="0" y="6337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756153" y="1500704"/>
            <a:ext cx="4015755" cy="4709308"/>
          </a:xfrm>
          <a:custGeom>
            <a:avLst/>
            <a:gdLst/>
            <a:ahLst/>
            <a:cxnLst/>
            <a:rect r="r" b="b" t="t" l="l"/>
            <a:pathLst>
              <a:path h="4709308" w="4015755">
                <a:moveTo>
                  <a:pt x="0" y="0"/>
                </a:moveTo>
                <a:lnTo>
                  <a:pt x="4015755" y="0"/>
                </a:lnTo>
                <a:lnTo>
                  <a:pt x="4015755" y="4709307"/>
                </a:lnTo>
                <a:lnTo>
                  <a:pt x="0" y="47093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127548">
            <a:off x="11803758" y="6089776"/>
            <a:ext cx="4912946" cy="2233157"/>
          </a:xfrm>
          <a:custGeom>
            <a:avLst/>
            <a:gdLst/>
            <a:ahLst/>
            <a:cxnLst/>
            <a:rect r="r" b="b" t="t" l="l"/>
            <a:pathLst>
              <a:path h="2233157" w="4912946">
                <a:moveTo>
                  <a:pt x="4912946" y="0"/>
                </a:moveTo>
                <a:lnTo>
                  <a:pt x="0" y="0"/>
                </a:lnTo>
                <a:lnTo>
                  <a:pt x="0" y="2233157"/>
                </a:lnTo>
                <a:lnTo>
                  <a:pt x="4912946" y="2233157"/>
                </a:lnTo>
                <a:lnTo>
                  <a:pt x="4912946"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6" id="6"/>
          <p:cNvSpPr txBox="true"/>
          <p:nvPr/>
        </p:nvSpPr>
        <p:spPr>
          <a:xfrm rot="0">
            <a:off x="729781" y="2303429"/>
            <a:ext cx="5645401" cy="968001"/>
          </a:xfrm>
          <a:prstGeom prst="rect">
            <a:avLst/>
          </a:prstGeom>
        </p:spPr>
        <p:txBody>
          <a:bodyPr anchor="t" rtlCol="false" tIns="0" lIns="0" bIns="0" rIns="0">
            <a:spAutoFit/>
          </a:bodyPr>
          <a:lstStyle/>
          <a:p>
            <a:pPr algn="l">
              <a:lnSpc>
                <a:spcPts val="6704"/>
              </a:lnSpc>
            </a:pPr>
            <a:r>
              <a:rPr lang="en-US" sz="4789" b="true">
                <a:solidFill>
                  <a:srgbClr val="343434"/>
                </a:solidFill>
                <a:latin typeface="Cooper Hewitt Bold"/>
                <a:ea typeface="Cooper Hewitt Bold"/>
                <a:cs typeface="Cooper Hewitt Bold"/>
                <a:sym typeface="Cooper Hewitt Bold"/>
              </a:rPr>
              <a:t>CONCLUSION</a:t>
            </a:r>
          </a:p>
        </p:txBody>
      </p:sp>
      <p:sp>
        <p:nvSpPr>
          <p:cNvPr name="TextBox 7" id="7"/>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08</a:t>
            </a:r>
          </a:p>
        </p:txBody>
      </p:sp>
      <p:sp>
        <p:nvSpPr>
          <p:cNvPr name="Freeform 8" id="8"/>
          <p:cNvSpPr/>
          <p:nvPr/>
        </p:nvSpPr>
        <p:spPr>
          <a:xfrm flipH="false" flipV="false" rot="0">
            <a:off x="16253563" y="0"/>
            <a:ext cx="2606564" cy="1466192"/>
          </a:xfrm>
          <a:custGeom>
            <a:avLst/>
            <a:gdLst/>
            <a:ahLst/>
            <a:cxnLst/>
            <a:rect r="r" b="b" t="t" l="l"/>
            <a:pathLst>
              <a:path h="1466192" w="2606564">
                <a:moveTo>
                  <a:pt x="0" y="0"/>
                </a:moveTo>
                <a:lnTo>
                  <a:pt x="2606564" y="0"/>
                </a:lnTo>
                <a:lnTo>
                  <a:pt x="2606564" y="1466192"/>
                </a:lnTo>
                <a:lnTo>
                  <a:pt x="0" y="1466192"/>
                </a:lnTo>
                <a:lnTo>
                  <a:pt x="0" y="0"/>
                </a:lnTo>
                <a:close/>
              </a:path>
            </a:pathLst>
          </a:custGeom>
          <a:blipFill>
            <a:blip r:embed="rId10"/>
            <a:stretch>
              <a:fillRect l="0" t="0" r="0" b="0"/>
            </a:stretch>
          </a:blipFill>
        </p:spPr>
      </p:sp>
      <p:sp>
        <p:nvSpPr>
          <p:cNvPr name="TextBox 9" id="9"/>
          <p:cNvSpPr txBox="true"/>
          <p:nvPr/>
        </p:nvSpPr>
        <p:spPr>
          <a:xfrm rot="0">
            <a:off x="729781" y="3223806"/>
            <a:ext cx="8790218" cy="3791764"/>
          </a:xfrm>
          <a:prstGeom prst="rect">
            <a:avLst/>
          </a:prstGeom>
        </p:spPr>
        <p:txBody>
          <a:bodyPr anchor="t" rtlCol="false" tIns="0" lIns="0" bIns="0" rIns="0">
            <a:spAutoFit/>
          </a:bodyPr>
          <a:lstStyle/>
          <a:p>
            <a:pPr algn="just">
              <a:lnSpc>
                <a:spcPts val="3842"/>
              </a:lnSpc>
            </a:pPr>
            <a:r>
              <a:rPr lang="en-US" sz="2744">
                <a:solidFill>
                  <a:srgbClr val="343434"/>
                </a:solidFill>
                <a:latin typeface="DM Sans"/>
                <a:ea typeface="DM Sans"/>
                <a:cs typeface="DM Sans"/>
                <a:sym typeface="DM Sans"/>
              </a:rPr>
              <a:t>In conclusion, the internet has grown from a small research project into a global tool that connects people everywhere. Along with its benefits, it also brings risks, which is why following internet rules and practicing good security are very important. By using the internet politely, protecting personal information, and making responsible choices, we can enjoy its advantages safely while avoiding its dangers.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33983" y="3152569"/>
            <a:ext cx="16420035" cy="3874815"/>
          </a:xfrm>
          <a:prstGeom prst="rect">
            <a:avLst/>
          </a:prstGeom>
        </p:spPr>
        <p:txBody>
          <a:bodyPr anchor="t" rtlCol="false" tIns="0" lIns="0" bIns="0" rIns="0">
            <a:spAutoFit/>
          </a:bodyPr>
          <a:lstStyle/>
          <a:p>
            <a:pPr algn="ctr">
              <a:lnSpc>
                <a:spcPts val="27108"/>
              </a:lnSpc>
            </a:pPr>
            <a:r>
              <a:rPr lang="en-US" b="true" sz="19362">
                <a:solidFill>
                  <a:srgbClr val="343434"/>
                </a:solidFill>
                <a:latin typeface="Cooper Hewitt Bold"/>
                <a:ea typeface="Cooper Hewitt Bold"/>
                <a:cs typeface="Cooper Hewitt Bold"/>
                <a:sym typeface="Cooper Hewitt Bold"/>
              </a:rPr>
              <a:t>THANK YOU</a:t>
            </a:r>
          </a:p>
        </p:txBody>
      </p:sp>
      <p:sp>
        <p:nvSpPr>
          <p:cNvPr name="Freeform 4" id="4"/>
          <p:cNvSpPr/>
          <p:nvPr/>
        </p:nvSpPr>
        <p:spPr>
          <a:xfrm flipH="false" flipV="false" rot="-1354446">
            <a:off x="15843106" y="2606653"/>
            <a:ext cx="1497033" cy="2339114"/>
          </a:xfrm>
          <a:custGeom>
            <a:avLst/>
            <a:gdLst/>
            <a:ahLst/>
            <a:cxnLst/>
            <a:rect r="r" b="b" t="t" l="l"/>
            <a:pathLst>
              <a:path h="2339114" w="1497033">
                <a:moveTo>
                  <a:pt x="0" y="0"/>
                </a:moveTo>
                <a:lnTo>
                  <a:pt x="1497033" y="0"/>
                </a:lnTo>
                <a:lnTo>
                  <a:pt x="1497033" y="2339115"/>
                </a:lnTo>
                <a:lnTo>
                  <a:pt x="0" y="23391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885027">
            <a:off x="5092713" y="2195823"/>
            <a:ext cx="2206219" cy="1740908"/>
          </a:xfrm>
          <a:custGeom>
            <a:avLst/>
            <a:gdLst/>
            <a:ahLst/>
            <a:cxnLst/>
            <a:rect r="r" b="b" t="t" l="l"/>
            <a:pathLst>
              <a:path h="1740908" w="2206219">
                <a:moveTo>
                  <a:pt x="0" y="0"/>
                </a:moveTo>
                <a:lnTo>
                  <a:pt x="2206220" y="0"/>
                </a:lnTo>
                <a:lnTo>
                  <a:pt x="2206220" y="1740908"/>
                </a:lnTo>
                <a:lnTo>
                  <a:pt x="0" y="17409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839" y="8205407"/>
            <a:ext cx="4202073" cy="2521244"/>
          </a:xfrm>
          <a:custGeom>
            <a:avLst/>
            <a:gdLst/>
            <a:ahLst/>
            <a:cxnLst/>
            <a:rect r="r" b="b" t="t" l="l"/>
            <a:pathLst>
              <a:path h="2521244" w="4202073">
                <a:moveTo>
                  <a:pt x="0" y="0"/>
                </a:moveTo>
                <a:lnTo>
                  <a:pt x="4202074" y="0"/>
                </a:lnTo>
                <a:lnTo>
                  <a:pt x="4202074" y="2521245"/>
                </a:lnTo>
                <a:lnTo>
                  <a:pt x="0" y="25212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839221">
            <a:off x="9785300" y="7617346"/>
            <a:ext cx="1170380" cy="2030628"/>
          </a:xfrm>
          <a:custGeom>
            <a:avLst/>
            <a:gdLst/>
            <a:ahLst/>
            <a:cxnLst/>
            <a:rect r="r" b="b" t="t" l="l"/>
            <a:pathLst>
              <a:path h="2030628" w="1170380">
                <a:moveTo>
                  <a:pt x="0" y="0"/>
                </a:moveTo>
                <a:lnTo>
                  <a:pt x="1170381" y="0"/>
                </a:lnTo>
                <a:lnTo>
                  <a:pt x="1170381" y="2030628"/>
                </a:lnTo>
                <a:lnTo>
                  <a:pt x="0" y="20306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09</a:t>
            </a:r>
          </a:p>
        </p:txBody>
      </p:sp>
      <p:sp>
        <p:nvSpPr>
          <p:cNvPr name="Freeform 9" id="9"/>
          <p:cNvSpPr/>
          <p:nvPr/>
        </p:nvSpPr>
        <p:spPr>
          <a:xfrm flipH="false" flipV="false" rot="0">
            <a:off x="16253563" y="0"/>
            <a:ext cx="2606564" cy="1466192"/>
          </a:xfrm>
          <a:custGeom>
            <a:avLst/>
            <a:gdLst/>
            <a:ahLst/>
            <a:cxnLst/>
            <a:rect r="r" b="b" t="t" l="l"/>
            <a:pathLst>
              <a:path h="1466192" w="2606564">
                <a:moveTo>
                  <a:pt x="0" y="0"/>
                </a:moveTo>
                <a:lnTo>
                  <a:pt x="2606564" y="0"/>
                </a:lnTo>
                <a:lnTo>
                  <a:pt x="2606564" y="1466192"/>
                </a:lnTo>
                <a:lnTo>
                  <a:pt x="0" y="1466192"/>
                </a:lnTo>
                <a:lnTo>
                  <a:pt x="0" y="0"/>
                </a:lnTo>
                <a:close/>
              </a:path>
            </a:pathLst>
          </a:custGeom>
          <a:blipFill>
            <a:blip r:embed="rId1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DAGxcim2xFA</dc:identifier>
  <dcterms:modified xsi:type="dcterms:W3CDTF">2011-08-01T06:04:30Z</dcterms:modified>
  <cp:revision>1</cp:revision>
  <dc:title>Pink and Purple Illustrative Computer Technology Presentation</dc:title>
</cp:coreProperties>
</file>