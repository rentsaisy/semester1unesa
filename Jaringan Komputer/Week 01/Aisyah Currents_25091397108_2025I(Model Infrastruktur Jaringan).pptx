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Poppins Bold" charset="1" panose="00000800000000000000"/>
      <p:regular r:id="rId13"/>
    </p:embeddedFont>
    <p:embeddedFont>
      <p:font typeface="Poppins"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4.png" Type="http://schemas.openxmlformats.org/officeDocument/2006/relationships/image"/><Relationship Id="rId8"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4.png" Type="http://schemas.openxmlformats.org/officeDocument/2006/relationships/image"/><Relationship Id="rId8"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4.png" Type="http://schemas.openxmlformats.org/officeDocument/2006/relationships/image"/><Relationship Id="rId8"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4.pn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4.png" Type="http://schemas.openxmlformats.org/officeDocument/2006/relationships/image"/><Relationship Id="rId6"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0" y="527521"/>
            <a:ext cx="18939059" cy="1464829"/>
            <a:chOff x="0" y="0"/>
            <a:chExt cx="4988065" cy="385799"/>
          </a:xfrm>
        </p:grpSpPr>
        <p:sp>
          <p:nvSpPr>
            <p:cNvPr name="Freeform 4" id="4"/>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5" id="5"/>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3010810" y="-155024"/>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0">
            <a:off x="12417225" y="6172200"/>
            <a:ext cx="6775868" cy="4114800"/>
          </a:xfrm>
          <a:custGeom>
            <a:avLst/>
            <a:gdLst/>
            <a:ahLst/>
            <a:cxnLst/>
            <a:rect r="r" b="b" t="t" l="l"/>
            <a:pathLst>
              <a:path h="4114800" w="6775868">
                <a:moveTo>
                  <a:pt x="6775869" y="4114800"/>
                </a:moveTo>
                <a:lnTo>
                  <a:pt x="0" y="4114800"/>
                </a:lnTo>
                <a:lnTo>
                  <a:pt x="0" y="0"/>
                </a:lnTo>
                <a:lnTo>
                  <a:pt x="6775869" y="0"/>
                </a:lnTo>
                <a:lnTo>
                  <a:pt x="6775869"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303458" y="621248"/>
            <a:ext cx="6483384" cy="1371102"/>
          </a:xfrm>
          <a:prstGeom prst="rect">
            <a:avLst/>
          </a:prstGeom>
        </p:spPr>
        <p:txBody>
          <a:bodyPr anchor="t" rtlCol="false" tIns="0" lIns="0" bIns="0" rIns="0">
            <a:spAutoFit/>
          </a:bodyPr>
          <a:lstStyle/>
          <a:p>
            <a:pPr algn="l">
              <a:lnSpc>
                <a:spcPts val="9724"/>
              </a:lnSpc>
              <a:spcBef>
                <a:spcPct val="0"/>
              </a:spcBef>
            </a:pPr>
            <a:r>
              <a:rPr lang="en-US" b="true" sz="9350">
                <a:solidFill>
                  <a:srgbClr val="F4F4F4"/>
                </a:solidFill>
                <a:latin typeface="Poppins Bold"/>
                <a:ea typeface="Poppins Bold"/>
                <a:cs typeface="Poppins Bold"/>
                <a:sym typeface="Poppins Bold"/>
              </a:rPr>
              <a:t>Network</a:t>
            </a:r>
          </a:p>
        </p:txBody>
      </p:sp>
      <p:sp>
        <p:nvSpPr>
          <p:cNvPr name="Freeform 9" id="9"/>
          <p:cNvSpPr/>
          <p:nvPr/>
        </p:nvSpPr>
        <p:spPr>
          <a:xfrm flipH="false" flipV="false" rot="0">
            <a:off x="9263774" y="-842039"/>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4856933" y="3174284"/>
            <a:ext cx="3083622" cy="3126612"/>
          </a:xfrm>
          <a:custGeom>
            <a:avLst/>
            <a:gdLst/>
            <a:ahLst/>
            <a:cxnLst/>
            <a:rect r="r" b="b" t="t" l="l"/>
            <a:pathLst>
              <a:path h="3126612" w="3083622">
                <a:moveTo>
                  <a:pt x="0" y="0"/>
                </a:moveTo>
                <a:lnTo>
                  <a:pt x="3083622" y="0"/>
                </a:lnTo>
                <a:lnTo>
                  <a:pt x="3083622" y="3126613"/>
                </a:lnTo>
                <a:lnTo>
                  <a:pt x="0" y="3126613"/>
                </a:lnTo>
                <a:lnTo>
                  <a:pt x="0" y="0"/>
                </a:lnTo>
                <a:close/>
              </a:path>
            </a:pathLst>
          </a:custGeom>
          <a:blipFill>
            <a:blip r:embed="rId5">
              <a:alphaModFix amt="71000"/>
            </a:blip>
            <a:stretch>
              <a:fillRect l="0" t="0" r="0" b="0"/>
            </a:stretch>
          </a:blipFill>
        </p:spPr>
      </p:sp>
      <p:sp>
        <p:nvSpPr>
          <p:cNvPr name="Freeform 11" id="11"/>
          <p:cNvSpPr/>
          <p:nvPr/>
        </p:nvSpPr>
        <p:spPr>
          <a:xfrm flipH="false" flipV="false" rot="0">
            <a:off x="-246058" y="1259935"/>
            <a:ext cx="2549517" cy="2585062"/>
          </a:xfrm>
          <a:custGeom>
            <a:avLst/>
            <a:gdLst/>
            <a:ahLst/>
            <a:cxnLst/>
            <a:rect r="r" b="b" t="t" l="l"/>
            <a:pathLst>
              <a:path h="2585062" w="2549517">
                <a:moveTo>
                  <a:pt x="0" y="0"/>
                </a:moveTo>
                <a:lnTo>
                  <a:pt x="2549516" y="0"/>
                </a:lnTo>
                <a:lnTo>
                  <a:pt x="2549516" y="2585062"/>
                </a:lnTo>
                <a:lnTo>
                  <a:pt x="0" y="2585062"/>
                </a:lnTo>
                <a:lnTo>
                  <a:pt x="0" y="0"/>
                </a:lnTo>
                <a:close/>
              </a:path>
            </a:pathLst>
          </a:custGeom>
          <a:blipFill>
            <a:blip r:embed="rId5">
              <a:alphaModFix amt="71000"/>
            </a:blip>
            <a:stretch>
              <a:fillRect l="0" t="0" r="0" b="0"/>
            </a:stretch>
          </a:blipFill>
        </p:spPr>
      </p:sp>
      <p:sp>
        <p:nvSpPr>
          <p:cNvPr name="TextBox 12" id="12"/>
          <p:cNvSpPr txBox="true"/>
          <p:nvPr/>
        </p:nvSpPr>
        <p:spPr>
          <a:xfrm rot="0">
            <a:off x="2303458" y="1898182"/>
            <a:ext cx="8497325" cy="2599828"/>
          </a:xfrm>
          <a:prstGeom prst="rect">
            <a:avLst/>
          </a:prstGeom>
        </p:spPr>
        <p:txBody>
          <a:bodyPr anchor="t" rtlCol="false" tIns="0" lIns="0" bIns="0" rIns="0">
            <a:spAutoFit/>
          </a:bodyPr>
          <a:lstStyle/>
          <a:p>
            <a:pPr algn="l">
              <a:lnSpc>
                <a:spcPts val="9724"/>
              </a:lnSpc>
              <a:spcBef>
                <a:spcPct val="0"/>
              </a:spcBef>
            </a:pPr>
            <a:r>
              <a:rPr lang="en-US" sz="9350">
                <a:solidFill>
                  <a:srgbClr val="063050"/>
                </a:solidFill>
                <a:latin typeface="Poppins"/>
                <a:ea typeface="Poppins"/>
                <a:cs typeface="Poppins"/>
                <a:sym typeface="Poppins"/>
              </a:rPr>
              <a:t>Infrastructure Models</a:t>
            </a:r>
          </a:p>
        </p:txBody>
      </p:sp>
      <p:sp>
        <p:nvSpPr>
          <p:cNvPr name="Freeform 13" id="13"/>
          <p:cNvSpPr/>
          <p:nvPr/>
        </p:nvSpPr>
        <p:spPr>
          <a:xfrm flipH="false" flipV="false" rot="0">
            <a:off x="9559820" y="815446"/>
            <a:ext cx="5714810" cy="6701803"/>
          </a:xfrm>
          <a:custGeom>
            <a:avLst/>
            <a:gdLst/>
            <a:ahLst/>
            <a:cxnLst/>
            <a:rect r="r" b="b" t="t" l="l"/>
            <a:pathLst>
              <a:path h="6701803" w="5714810">
                <a:moveTo>
                  <a:pt x="0" y="0"/>
                </a:moveTo>
                <a:lnTo>
                  <a:pt x="5714811" y="0"/>
                </a:lnTo>
                <a:lnTo>
                  <a:pt x="5714811" y="6701803"/>
                </a:lnTo>
                <a:lnTo>
                  <a:pt x="0" y="6701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2651708" y="4737590"/>
            <a:ext cx="5863057" cy="4114800"/>
          </a:xfrm>
          <a:custGeom>
            <a:avLst/>
            <a:gdLst/>
            <a:ahLst/>
            <a:cxnLst/>
            <a:rect r="r" b="b" t="t" l="l"/>
            <a:pathLst>
              <a:path h="4114800" w="5863057">
                <a:moveTo>
                  <a:pt x="0" y="0"/>
                </a:moveTo>
                <a:lnTo>
                  <a:pt x="5863057" y="0"/>
                </a:lnTo>
                <a:lnTo>
                  <a:pt x="586305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6557673" y="447304"/>
            <a:ext cx="1403253" cy="1403253"/>
          </a:xfrm>
          <a:custGeom>
            <a:avLst/>
            <a:gdLst/>
            <a:ahLst/>
            <a:cxnLst/>
            <a:rect r="r" b="b" t="t" l="l"/>
            <a:pathLst>
              <a:path h="1403253" w="1403253">
                <a:moveTo>
                  <a:pt x="0" y="0"/>
                </a:moveTo>
                <a:lnTo>
                  <a:pt x="1403254" y="0"/>
                </a:lnTo>
                <a:lnTo>
                  <a:pt x="1403254" y="1403253"/>
                </a:lnTo>
                <a:lnTo>
                  <a:pt x="0" y="1403253"/>
                </a:lnTo>
                <a:lnTo>
                  <a:pt x="0" y="0"/>
                </a:lnTo>
                <a:close/>
              </a:path>
            </a:pathLst>
          </a:custGeom>
          <a:blipFill>
            <a:blip r:embed="rId10"/>
            <a:stretch>
              <a:fillRect l="0" t="0" r="0" b="0"/>
            </a:stretch>
          </a:blipFill>
        </p:spPr>
      </p:sp>
      <p:sp>
        <p:nvSpPr>
          <p:cNvPr name="TextBox 16" id="16"/>
          <p:cNvSpPr txBox="true"/>
          <p:nvPr/>
        </p:nvSpPr>
        <p:spPr>
          <a:xfrm rot="0">
            <a:off x="2303458" y="5448121"/>
            <a:ext cx="8497325" cy="1724600"/>
          </a:xfrm>
          <a:prstGeom prst="rect">
            <a:avLst/>
          </a:prstGeom>
        </p:spPr>
        <p:txBody>
          <a:bodyPr anchor="t" rtlCol="false" tIns="0" lIns="0" bIns="0" rIns="0">
            <a:spAutoFit/>
          </a:bodyPr>
          <a:lstStyle/>
          <a:p>
            <a:pPr algn="l">
              <a:lnSpc>
                <a:spcPts val="4416"/>
              </a:lnSpc>
            </a:pPr>
            <a:r>
              <a:rPr lang="en-US" sz="4247">
                <a:solidFill>
                  <a:srgbClr val="063050"/>
                </a:solidFill>
                <a:latin typeface="Poppins"/>
                <a:ea typeface="Poppins"/>
                <a:cs typeface="Poppins"/>
                <a:sym typeface="Poppins"/>
              </a:rPr>
              <a:t>Presenter : Aisyah Currents</a:t>
            </a:r>
          </a:p>
          <a:p>
            <a:pPr algn="l">
              <a:lnSpc>
                <a:spcPts val="4416"/>
              </a:lnSpc>
            </a:pPr>
            <a:r>
              <a:rPr lang="en-US" sz="4247">
                <a:solidFill>
                  <a:srgbClr val="063050"/>
                </a:solidFill>
                <a:latin typeface="Poppins"/>
                <a:ea typeface="Poppins"/>
                <a:cs typeface="Poppins"/>
                <a:sym typeface="Poppins"/>
              </a:rPr>
              <a:t>Student id : 25091397108</a:t>
            </a:r>
          </a:p>
          <a:p>
            <a:pPr algn="l">
              <a:lnSpc>
                <a:spcPts val="4416"/>
              </a:lnSpc>
              <a:spcBef>
                <a:spcPct val="0"/>
              </a:spcBef>
            </a:pPr>
            <a:r>
              <a:rPr lang="en-US" sz="4247">
                <a:solidFill>
                  <a:srgbClr val="063050"/>
                </a:solidFill>
                <a:latin typeface="Poppins"/>
                <a:ea typeface="Poppins"/>
                <a:cs typeface="Poppins"/>
                <a:sym typeface="Poppins"/>
              </a:rPr>
              <a:t>Class : International</a:t>
            </a:r>
          </a:p>
        </p:txBody>
      </p:sp>
      <p:sp>
        <p:nvSpPr>
          <p:cNvPr name="TextBox 17" id="17"/>
          <p:cNvSpPr txBox="true"/>
          <p:nvPr/>
        </p:nvSpPr>
        <p:spPr>
          <a:xfrm rot="0">
            <a:off x="3999697" y="8726924"/>
            <a:ext cx="11120247" cy="1353724"/>
          </a:xfrm>
          <a:prstGeom prst="rect">
            <a:avLst/>
          </a:prstGeom>
        </p:spPr>
        <p:txBody>
          <a:bodyPr anchor="t" rtlCol="false" tIns="0" lIns="0" bIns="0" rIns="0">
            <a:spAutoFit/>
          </a:bodyPr>
          <a:lstStyle/>
          <a:p>
            <a:pPr algn="ctr">
              <a:lnSpc>
                <a:spcPts val="3472"/>
              </a:lnSpc>
            </a:pPr>
            <a:r>
              <a:rPr lang="en-US" sz="3339" b="true">
                <a:solidFill>
                  <a:srgbClr val="063050"/>
                </a:solidFill>
                <a:latin typeface="Poppins Bold"/>
                <a:ea typeface="Poppins Bold"/>
                <a:cs typeface="Poppins Bold"/>
                <a:sym typeface="Poppins Bold"/>
              </a:rPr>
              <a:t>Study Program - Informatics Management</a:t>
            </a:r>
          </a:p>
          <a:p>
            <a:pPr algn="ctr">
              <a:lnSpc>
                <a:spcPts val="3472"/>
              </a:lnSpc>
            </a:pPr>
            <a:r>
              <a:rPr lang="en-US" sz="3339" b="true">
                <a:solidFill>
                  <a:srgbClr val="063050"/>
                </a:solidFill>
                <a:latin typeface="Poppins Bold"/>
                <a:ea typeface="Poppins Bold"/>
                <a:cs typeface="Poppins Bold"/>
                <a:sym typeface="Poppins Bold"/>
              </a:rPr>
              <a:t>Faculty of Vocation</a:t>
            </a:r>
          </a:p>
          <a:p>
            <a:pPr algn="ctr">
              <a:lnSpc>
                <a:spcPts val="3472"/>
              </a:lnSpc>
              <a:spcBef>
                <a:spcPct val="0"/>
              </a:spcBef>
            </a:pPr>
            <a:r>
              <a:rPr lang="en-US" b="true" sz="3339">
                <a:solidFill>
                  <a:srgbClr val="063050"/>
                </a:solidFill>
                <a:latin typeface="Poppins Bold"/>
                <a:ea typeface="Poppins Bold"/>
                <a:cs typeface="Poppins Bold"/>
                <a:sym typeface="Poppins Bold"/>
              </a:rPr>
              <a:t>Universitas Negeri Surabaya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5887720" y="-811995"/>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grpSp>
        <p:nvGrpSpPr>
          <p:cNvPr name="Group 4" id="4"/>
          <p:cNvGrpSpPr/>
          <p:nvPr/>
        </p:nvGrpSpPr>
        <p:grpSpPr>
          <a:xfrm rot="0">
            <a:off x="3885508" y="2445749"/>
            <a:ext cx="14728021" cy="1464829"/>
            <a:chOff x="0" y="0"/>
            <a:chExt cx="3878985" cy="385799"/>
          </a:xfrm>
        </p:grpSpPr>
        <p:sp>
          <p:nvSpPr>
            <p:cNvPr name="Freeform 5" id="5"/>
            <p:cNvSpPr/>
            <p:nvPr/>
          </p:nvSpPr>
          <p:spPr>
            <a:xfrm flipH="false" flipV="false" rot="0">
              <a:off x="0" y="0"/>
              <a:ext cx="3878985" cy="385799"/>
            </a:xfrm>
            <a:custGeom>
              <a:avLst/>
              <a:gdLst/>
              <a:ahLst/>
              <a:cxnLst/>
              <a:rect r="r" b="b" t="t" l="l"/>
              <a:pathLst>
                <a:path h="385799" w="3878985">
                  <a:moveTo>
                    <a:pt x="0" y="0"/>
                  </a:moveTo>
                  <a:lnTo>
                    <a:pt x="3878985" y="0"/>
                  </a:lnTo>
                  <a:lnTo>
                    <a:pt x="3878985" y="385799"/>
                  </a:lnTo>
                  <a:lnTo>
                    <a:pt x="0" y="385799"/>
                  </a:lnTo>
                  <a:close/>
                </a:path>
              </a:pathLst>
            </a:custGeom>
            <a:solidFill>
              <a:srgbClr val="2B59C3">
                <a:alpha val="71765"/>
              </a:srgbClr>
            </a:solidFill>
          </p:spPr>
        </p:sp>
        <p:sp>
          <p:nvSpPr>
            <p:cNvPr name="TextBox 6" id="6"/>
            <p:cNvSpPr txBox="true"/>
            <p:nvPr/>
          </p:nvSpPr>
          <p:spPr>
            <a:xfrm>
              <a:off x="0" y="28575"/>
              <a:ext cx="3878985" cy="357224"/>
            </a:xfrm>
            <a:prstGeom prst="rect">
              <a:avLst/>
            </a:prstGeom>
          </p:spPr>
          <p:txBody>
            <a:bodyPr anchor="ctr" rtlCol="false" tIns="50800" lIns="50800" bIns="50800" rIns="50800"/>
            <a:lstStyle/>
            <a:p>
              <a:pPr algn="ctr">
                <a:lnSpc>
                  <a:spcPts val="2661"/>
                </a:lnSpc>
              </a:pPr>
            </a:p>
          </p:txBody>
        </p:sp>
      </p:grpSp>
      <p:sp>
        <p:nvSpPr>
          <p:cNvPr name="Freeform 7" id="7"/>
          <p:cNvSpPr/>
          <p:nvPr/>
        </p:nvSpPr>
        <p:spPr>
          <a:xfrm flipH="false" flipV="false" rot="0">
            <a:off x="776799" y="2316243"/>
            <a:ext cx="6217418" cy="6922226"/>
          </a:xfrm>
          <a:custGeom>
            <a:avLst/>
            <a:gdLst/>
            <a:ahLst/>
            <a:cxnLst/>
            <a:rect r="r" b="b" t="t" l="l"/>
            <a:pathLst>
              <a:path h="6922226" w="6217418">
                <a:moveTo>
                  <a:pt x="0" y="0"/>
                </a:moveTo>
                <a:lnTo>
                  <a:pt x="6217418" y="0"/>
                </a:lnTo>
                <a:lnTo>
                  <a:pt x="6217418" y="6922227"/>
                </a:lnTo>
                <a:lnTo>
                  <a:pt x="0" y="6922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772581" y="5777357"/>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TextBox 9" id="9"/>
          <p:cNvSpPr txBox="true"/>
          <p:nvPr/>
        </p:nvSpPr>
        <p:spPr>
          <a:xfrm rot="0">
            <a:off x="7169825" y="2743478"/>
            <a:ext cx="8542286" cy="907471"/>
          </a:xfrm>
          <a:prstGeom prst="rect">
            <a:avLst/>
          </a:prstGeom>
        </p:spPr>
        <p:txBody>
          <a:bodyPr anchor="t" rtlCol="false" tIns="0" lIns="0" bIns="0" rIns="0">
            <a:spAutoFit/>
          </a:bodyPr>
          <a:lstStyle/>
          <a:p>
            <a:pPr algn="l">
              <a:lnSpc>
                <a:spcPts val="6470"/>
              </a:lnSpc>
              <a:spcBef>
                <a:spcPct val="0"/>
              </a:spcBef>
            </a:pPr>
            <a:r>
              <a:rPr lang="en-US" b="true" sz="6221">
                <a:solidFill>
                  <a:srgbClr val="F0F7FE"/>
                </a:solidFill>
                <a:latin typeface="Poppins Bold"/>
                <a:ea typeface="Poppins Bold"/>
                <a:cs typeface="Poppins Bold"/>
                <a:sym typeface="Poppins Bold"/>
              </a:rPr>
              <a:t>Introduction</a:t>
            </a:r>
          </a:p>
        </p:txBody>
      </p:sp>
      <p:sp>
        <p:nvSpPr>
          <p:cNvPr name="TextBox 10" id="10"/>
          <p:cNvSpPr txBox="true"/>
          <p:nvPr/>
        </p:nvSpPr>
        <p:spPr>
          <a:xfrm rot="0">
            <a:off x="7193355" y="4090005"/>
            <a:ext cx="10352580" cy="4699981"/>
          </a:xfrm>
          <a:prstGeom prst="rect">
            <a:avLst/>
          </a:prstGeom>
        </p:spPr>
        <p:txBody>
          <a:bodyPr anchor="t" rtlCol="false" tIns="0" lIns="0" bIns="0" rIns="0">
            <a:spAutoFit/>
          </a:bodyPr>
          <a:lstStyle/>
          <a:p>
            <a:pPr algn="just">
              <a:lnSpc>
                <a:spcPts val="4104"/>
              </a:lnSpc>
            </a:pPr>
            <a:r>
              <a:rPr lang="en-US" sz="3363">
                <a:solidFill>
                  <a:srgbClr val="063050"/>
                </a:solidFill>
                <a:latin typeface="Poppins"/>
                <a:ea typeface="Poppins"/>
                <a:cs typeface="Poppins"/>
                <a:sym typeface="Poppins"/>
              </a:rPr>
              <a:t>Network infrastructure is a collection of hardware, software, services, and protocols used to connect computers, servers, and other devices so they can communicate with each other. It includes routers, switches, cables, access points, servers, as well as supporting technologies like firewalls and security systems. Its main goal is to provide stable, secure, fast, and reliable connections for data exchange..</a:t>
            </a:r>
          </a:p>
        </p:txBody>
      </p:sp>
      <p:sp>
        <p:nvSpPr>
          <p:cNvPr name="Freeform 11" id="11"/>
          <p:cNvSpPr/>
          <p:nvPr/>
        </p:nvSpPr>
        <p:spPr>
          <a:xfrm flipH="true" flipV="true" rot="0">
            <a:off x="14158001" y="6463808"/>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6557673" y="447304"/>
            <a:ext cx="1403253" cy="1403253"/>
          </a:xfrm>
          <a:custGeom>
            <a:avLst/>
            <a:gdLst/>
            <a:ahLst/>
            <a:cxnLst/>
            <a:rect r="r" b="b" t="t" l="l"/>
            <a:pathLst>
              <a:path h="1403253" w="1403253">
                <a:moveTo>
                  <a:pt x="0" y="0"/>
                </a:moveTo>
                <a:lnTo>
                  <a:pt x="1403254" y="0"/>
                </a:lnTo>
                <a:lnTo>
                  <a:pt x="1403254" y="1403253"/>
                </a:lnTo>
                <a:lnTo>
                  <a:pt x="0" y="1403253"/>
                </a:lnTo>
                <a:lnTo>
                  <a:pt x="0" y="0"/>
                </a:lnTo>
                <a:close/>
              </a:path>
            </a:pathLst>
          </a:custGeom>
          <a:blipFill>
            <a:blip r:embed="rId8"/>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559914" y="4150455"/>
            <a:ext cx="5314633" cy="2666980"/>
          </a:xfrm>
          <a:custGeom>
            <a:avLst/>
            <a:gdLst/>
            <a:ahLst/>
            <a:cxnLst/>
            <a:rect r="r" b="b" t="t" l="l"/>
            <a:pathLst>
              <a:path h="2666980" w="5314633">
                <a:moveTo>
                  <a:pt x="0" y="0"/>
                </a:moveTo>
                <a:lnTo>
                  <a:pt x="5314633" y="0"/>
                </a:lnTo>
                <a:lnTo>
                  <a:pt x="5314633" y="2666979"/>
                </a:lnTo>
                <a:lnTo>
                  <a:pt x="0" y="26669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946399" y="1956063"/>
            <a:ext cx="4312901" cy="7366756"/>
          </a:xfrm>
          <a:custGeom>
            <a:avLst/>
            <a:gdLst/>
            <a:ahLst/>
            <a:cxnLst/>
            <a:rect r="r" b="b" t="t" l="l"/>
            <a:pathLst>
              <a:path h="7366756" w="4312901">
                <a:moveTo>
                  <a:pt x="4312901" y="0"/>
                </a:moveTo>
                <a:lnTo>
                  <a:pt x="0" y="0"/>
                </a:lnTo>
                <a:lnTo>
                  <a:pt x="0" y="7366756"/>
                </a:lnTo>
                <a:lnTo>
                  <a:pt x="4312901" y="7366756"/>
                </a:lnTo>
                <a:lnTo>
                  <a:pt x="431290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630683" y="784161"/>
            <a:ext cx="5314633" cy="2666980"/>
          </a:xfrm>
          <a:custGeom>
            <a:avLst/>
            <a:gdLst/>
            <a:ahLst/>
            <a:cxnLst/>
            <a:rect r="r" b="b" t="t" l="l"/>
            <a:pathLst>
              <a:path h="2666980" w="5314633">
                <a:moveTo>
                  <a:pt x="0" y="0"/>
                </a:moveTo>
                <a:lnTo>
                  <a:pt x="5314634" y="0"/>
                </a:lnTo>
                <a:lnTo>
                  <a:pt x="5314634" y="2666980"/>
                </a:lnTo>
                <a:lnTo>
                  <a:pt x="0" y="2666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4859447" y="8090545"/>
            <a:ext cx="5314633" cy="2666980"/>
          </a:xfrm>
          <a:custGeom>
            <a:avLst/>
            <a:gdLst/>
            <a:ahLst/>
            <a:cxnLst/>
            <a:rect r="r" b="b" t="t" l="l"/>
            <a:pathLst>
              <a:path h="2666980" w="5314633">
                <a:moveTo>
                  <a:pt x="0" y="0"/>
                </a:moveTo>
                <a:lnTo>
                  <a:pt x="5314633" y="0"/>
                </a:lnTo>
                <a:lnTo>
                  <a:pt x="5314633" y="2666980"/>
                </a:lnTo>
                <a:lnTo>
                  <a:pt x="0" y="2666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845531" y="1638545"/>
            <a:ext cx="3083622" cy="3126612"/>
          </a:xfrm>
          <a:custGeom>
            <a:avLst/>
            <a:gdLst/>
            <a:ahLst/>
            <a:cxnLst/>
            <a:rect r="r" b="b" t="t" l="l"/>
            <a:pathLst>
              <a:path h="3126612" w="3083622">
                <a:moveTo>
                  <a:pt x="0" y="0"/>
                </a:moveTo>
                <a:lnTo>
                  <a:pt x="3083621" y="0"/>
                </a:lnTo>
                <a:lnTo>
                  <a:pt x="3083621" y="3126613"/>
                </a:lnTo>
                <a:lnTo>
                  <a:pt x="0" y="3126613"/>
                </a:lnTo>
                <a:lnTo>
                  <a:pt x="0" y="0"/>
                </a:lnTo>
                <a:close/>
              </a:path>
            </a:pathLst>
          </a:custGeom>
          <a:blipFill>
            <a:blip r:embed="rId7">
              <a:alphaModFix amt="71000"/>
            </a:blip>
            <a:stretch>
              <a:fillRect l="0" t="0" r="0" b="0"/>
            </a:stretch>
          </a:blipFill>
        </p:spPr>
      </p:sp>
      <p:sp>
        <p:nvSpPr>
          <p:cNvPr name="TextBox 8" id="8"/>
          <p:cNvSpPr txBox="true"/>
          <p:nvPr/>
        </p:nvSpPr>
        <p:spPr>
          <a:xfrm rot="0">
            <a:off x="1688032" y="822261"/>
            <a:ext cx="9583804" cy="172662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Types of Network Infrastructure Models</a:t>
            </a:r>
          </a:p>
        </p:txBody>
      </p:sp>
      <p:sp>
        <p:nvSpPr>
          <p:cNvPr name="TextBox 9" id="9"/>
          <p:cNvSpPr txBox="true"/>
          <p:nvPr/>
        </p:nvSpPr>
        <p:spPr>
          <a:xfrm rot="0">
            <a:off x="1688032" y="2709695"/>
            <a:ext cx="10296294" cy="6714340"/>
          </a:xfrm>
          <a:prstGeom prst="rect">
            <a:avLst/>
          </a:prstGeom>
        </p:spPr>
        <p:txBody>
          <a:bodyPr anchor="t" rtlCol="false" tIns="0" lIns="0" bIns="0" rIns="0">
            <a:spAutoFit/>
          </a:bodyPr>
          <a:lstStyle/>
          <a:p>
            <a:pPr algn="just">
              <a:lnSpc>
                <a:spcPts val="3163"/>
              </a:lnSpc>
            </a:pPr>
            <a:r>
              <a:rPr lang="en-US" sz="2592">
                <a:solidFill>
                  <a:srgbClr val="063050"/>
                </a:solidFill>
                <a:latin typeface="Poppins"/>
                <a:ea typeface="Poppins"/>
                <a:cs typeface="Poppins"/>
                <a:sym typeface="Poppins"/>
              </a:rPr>
              <a:t>1. Peer-to-Peer (P2P) Model</a:t>
            </a:r>
          </a:p>
          <a:p>
            <a:pPr algn="just">
              <a:lnSpc>
                <a:spcPts val="3163"/>
              </a:lnSpc>
            </a:pPr>
            <a:r>
              <a:rPr lang="en-US" sz="2592">
                <a:solidFill>
                  <a:srgbClr val="063050"/>
                </a:solidFill>
                <a:latin typeface="Poppins"/>
                <a:ea typeface="Poppins"/>
                <a:cs typeface="Poppins"/>
                <a:sym typeface="Poppins"/>
              </a:rPr>
              <a:t>In a peer-to-peer network, every device can act as both a client and a server, sharing resources directly with one another. This model is simple to set up and cost-effective, making it ideal for small networks or home environments. However, it can become difficult to manage as the network grows, and security is generally limited.</a:t>
            </a:r>
          </a:p>
          <a:p>
            <a:pPr algn="just">
              <a:lnSpc>
                <a:spcPts val="3163"/>
              </a:lnSpc>
            </a:pPr>
          </a:p>
          <a:p>
            <a:pPr algn="just">
              <a:lnSpc>
                <a:spcPts val="3163"/>
              </a:lnSpc>
            </a:pPr>
            <a:r>
              <a:rPr lang="en-US" sz="2592">
                <a:solidFill>
                  <a:srgbClr val="063050"/>
                </a:solidFill>
                <a:latin typeface="Poppins"/>
                <a:ea typeface="Poppins"/>
                <a:cs typeface="Poppins"/>
                <a:sym typeface="Poppins"/>
              </a:rPr>
              <a:t>2. </a:t>
            </a:r>
            <a:r>
              <a:rPr lang="en-US" sz="2592">
                <a:solidFill>
                  <a:srgbClr val="063050"/>
                </a:solidFill>
                <a:latin typeface="Poppins"/>
                <a:ea typeface="Poppins"/>
                <a:cs typeface="Poppins"/>
                <a:sym typeface="Poppins"/>
              </a:rPr>
              <a:t>Client-Server Model</a:t>
            </a:r>
          </a:p>
          <a:p>
            <a:pPr algn="just">
              <a:lnSpc>
                <a:spcPts val="3163"/>
              </a:lnSpc>
            </a:pPr>
            <a:r>
              <a:rPr lang="en-US" sz="2592">
                <a:solidFill>
                  <a:srgbClr val="063050"/>
                </a:solidFill>
                <a:latin typeface="Poppins"/>
                <a:ea typeface="Poppins"/>
                <a:cs typeface="Poppins"/>
                <a:sym typeface="Poppins"/>
              </a:rPr>
              <a:t>The client-server model relies on a central server that provides resources or services to multiple client devices. This setup makes management and security easier, and it can support medium to large networks efficiently. While it offers better control and organization, the central server can become a bottleneck or single point of failure if not properly maintained.</a:t>
            </a:r>
          </a:p>
          <a:p>
            <a:pPr algn="just">
              <a:lnSpc>
                <a:spcPts val="3163"/>
              </a:lnSpc>
            </a:pPr>
          </a:p>
        </p:txBody>
      </p:sp>
      <p:sp>
        <p:nvSpPr>
          <p:cNvPr name="Freeform 10" id="10"/>
          <p:cNvSpPr/>
          <p:nvPr/>
        </p:nvSpPr>
        <p:spPr>
          <a:xfrm flipH="false" flipV="false" rot="0">
            <a:off x="-1395590" y="5254128"/>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7">
              <a:alphaModFix amt="71000"/>
            </a:blip>
            <a:stretch>
              <a:fillRect l="0" t="0" r="0" b="0"/>
            </a:stretch>
          </a:blipFill>
        </p:spPr>
      </p:sp>
      <p:sp>
        <p:nvSpPr>
          <p:cNvPr name="Freeform 11" id="11"/>
          <p:cNvSpPr/>
          <p:nvPr/>
        </p:nvSpPr>
        <p:spPr>
          <a:xfrm flipH="false" flipV="false" rot="0">
            <a:off x="16557673" y="447304"/>
            <a:ext cx="1403253" cy="1403253"/>
          </a:xfrm>
          <a:custGeom>
            <a:avLst/>
            <a:gdLst/>
            <a:ahLst/>
            <a:cxnLst/>
            <a:rect r="r" b="b" t="t" l="l"/>
            <a:pathLst>
              <a:path h="1403253" w="1403253">
                <a:moveTo>
                  <a:pt x="0" y="0"/>
                </a:moveTo>
                <a:lnTo>
                  <a:pt x="1403254" y="0"/>
                </a:lnTo>
                <a:lnTo>
                  <a:pt x="1403254" y="1403253"/>
                </a:lnTo>
                <a:lnTo>
                  <a:pt x="0" y="1403253"/>
                </a:lnTo>
                <a:lnTo>
                  <a:pt x="0" y="0"/>
                </a:lnTo>
                <a:close/>
              </a:path>
            </a:pathLst>
          </a:custGeom>
          <a:blipFill>
            <a:blip r:embed="rId8"/>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2181842" y="2705378"/>
            <a:ext cx="4143638" cy="6683287"/>
          </a:xfrm>
          <a:custGeom>
            <a:avLst/>
            <a:gdLst/>
            <a:ahLst/>
            <a:cxnLst/>
            <a:rect r="r" b="b" t="t" l="l"/>
            <a:pathLst>
              <a:path h="6683287" w="4143638">
                <a:moveTo>
                  <a:pt x="4143638" y="0"/>
                </a:moveTo>
                <a:lnTo>
                  <a:pt x="0" y="0"/>
                </a:lnTo>
                <a:lnTo>
                  <a:pt x="0" y="6683287"/>
                </a:lnTo>
                <a:lnTo>
                  <a:pt x="4143638" y="6683287"/>
                </a:lnTo>
                <a:lnTo>
                  <a:pt x="414363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774481" y="2366079"/>
            <a:ext cx="4780196" cy="2503085"/>
          </a:xfrm>
          <a:custGeom>
            <a:avLst/>
            <a:gdLst/>
            <a:ahLst/>
            <a:cxnLst/>
            <a:rect r="r" b="b" t="t" l="l"/>
            <a:pathLst>
              <a:path h="2503085" w="4780196">
                <a:moveTo>
                  <a:pt x="4780196" y="0"/>
                </a:moveTo>
                <a:lnTo>
                  <a:pt x="0" y="0"/>
                </a:lnTo>
                <a:lnTo>
                  <a:pt x="0" y="2503085"/>
                </a:lnTo>
                <a:lnTo>
                  <a:pt x="4780196" y="2503085"/>
                </a:lnTo>
                <a:lnTo>
                  <a:pt x="478019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208256" y="7445195"/>
            <a:ext cx="4780196" cy="2503085"/>
          </a:xfrm>
          <a:custGeom>
            <a:avLst/>
            <a:gdLst/>
            <a:ahLst/>
            <a:cxnLst/>
            <a:rect r="r" b="b" t="t" l="l"/>
            <a:pathLst>
              <a:path h="2503085" w="4780196">
                <a:moveTo>
                  <a:pt x="4780196" y="0"/>
                </a:moveTo>
                <a:lnTo>
                  <a:pt x="0" y="0"/>
                </a:lnTo>
                <a:lnTo>
                  <a:pt x="0" y="2503085"/>
                </a:lnTo>
                <a:lnTo>
                  <a:pt x="4780196" y="2503085"/>
                </a:lnTo>
                <a:lnTo>
                  <a:pt x="478019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6648454" y="1289362"/>
            <a:ext cx="9734468" cy="8099303"/>
          </a:xfrm>
          <a:prstGeom prst="rect">
            <a:avLst/>
          </a:prstGeom>
        </p:spPr>
        <p:txBody>
          <a:bodyPr anchor="t" rtlCol="false" tIns="0" lIns="0" bIns="0" rIns="0">
            <a:spAutoFit/>
          </a:bodyPr>
          <a:lstStyle/>
          <a:p>
            <a:pPr algn="just">
              <a:lnSpc>
                <a:spcPts val="3423"/>
              </a:lnSpc>
            </a:pPr>
            <a:r>
              <a:rPr lang="en-US" sz="2806">
                <a:solidFill>
                  <a:srgbClr val="063050"/>
                </a:solidFill>
                <a:latin typeface="Poppins"/>
                <a:ea typeface="Poppins"/>
                <a:cs typeface="Poppins"/>
                <a:sym typeface="Poppins"/>
              </a:rPr>
              <a:t>3. Distributed Model</a:t>
            </a:r>
          </a:p>
          <a:p>
            <a:pPr algn="just">
              <a:lnSpc>
                <a:spcPts val="3423"/>
              </a:lnSpc>
            </a:pPr>
            <a:r>
              <a:rPr lang="en-US" sz="2806">
                <a:solidFill>
                  <a:srgbClr val="063050"/>
                </a:solidFill>
                <a:latin typeface="Poppins"/>
                <a:ea typeface="Poppins"/>
                <a:cs typeface="Poppins"/>
                <a:sym typeface="Poppins"/>
              </a:rPr>
              <a:t>In a distributed network, resources and processing tasks are spread across multiple servers rather than centralized in one location. This approach improves reliability and performance by reducing the load on any single server and increasing fault tolerance. It is commonly used in systems like Content Delivery Networks (CDNs) that require high availability and speed.</a:t>
            </a:r>
          </a:p>
          <a:p>
            <a:pPr algn="just">
              <a:lnSpc>
                <a:spcPts val="3423"/>
              </a:lnSpc>
            </a:pPr>
          </a:p>
          <a:p>
            <a:pPr algn="just">
              <a:lnSpc>
                <a:spcPts val="3423"/>
              </a:lnSpc>
            </a:pPr>
            <a:r>
              <a:rPr lang="en-US" sz="2806">
                <a:solidFill>
                  <a:srgbClr val="063050"/>
                </a:solidFill>
                <a:latin typeface="Poppins"/>
                <a:ea typeface="Poppins"/>
                <a:cs typeface="Poppins"/>
                <a:sym typeface="Poppins"/>
              </a:rPr>
              <a:t>4. Cloud-Based Model</a:t>
            </a:r>
          </a:p>
          <a:p>
            <a:pPr algn="just">
              <a:lnSpc>
                <a:spcPts val="3423"/>
              </a:lnSpc>
            </a:pPr>
            <a:r>
              <a:rPr lang="en-US" sz="2806">
                <a:solidFill>
                  <a:srgbClr val="063050"/>
                </a:solidFill>
                <a:latin typeface="Poppins"/>
                <a:ea typeface="Poppins"/>
                <a:cs typeface="Poppins"/>
                <a:sym typeface="Poppins"/>
              </a:rPr>
              <a:t>Cloud-based infrastructure hosts resources and services on remote servers accessed via the internet. This model offers remarkable scalability and flexibility, allowing organizations to adjust resources based on demand. It is cost-efficient and reduces the need for extensive on-site hardware, though it depends heavily on internet connectivity and the reliability of cloud service providers.</a:t>
            </a:r>
          </a:p>
        </p:txBody>
      </p:sp>
      <p:sp>
        <p:nvSpPr>
          <p:cNvPr name="Freeform 7" id="7"/>
          <p:cNvSpPr/>
          <p:nvPr/>
        </p:nvSpPr>
        <p:spPr>
          <a:xfrm flipH="false" flipV="false" rot="0">
            <a:off x="16705897" y="1234299"/>
            <a:ext cx="2232436" cy="2263560"/>
          </a:xfrm>
          <a:custGeom>
            <a:avLst/>
            <a:gdLst/>
            <a:ahLst/>
            <a:cxnLst/>
            <a:rect r="r" b="b" t="t" l="l"/>
            <a:pathLst>
              <a:path h="2263560" w="2232436">
                <a:moveTo>
                  <a:pt x="0" y="0"/>
                </a:moveTo>
                <a:lnTo>
                  <a:pt x="2232435" y="0"/>
                </a:lnTo>
                <a:lnTo>
                  <a:pt x="2232435" y="2263560"/>
                </a:lnTo>
                <a:lnTo>
                  <a:pt x="0" y="2263560"/>
                </a:lnTo>
                <a:lnTo>
                  <a:pt x="0" y="0"/>
                </a:lnTo>
                <a:close/>
              </a:path>
            </a:pathLst>
          </a:custGeom>
          <a:blipFill>
            <a:blip r:embed="rId7">
              <a:alphaModFix amt="71000"/>
            </a:blip>
            <a:stretch>
              <a:fillRect l="0" t="0" r="0" b="0"/>
            </a:stretch>
          </a:blipFill>
        </p:spPr>
      </p:sp>
      <p:sp>
        <p:nvSpPr>
          <p:cNvPr name="Freeform 8" id="8"/>
          <p:cNvSpPr/>
          <p:nvPr/>
        </p:nvSpPr>
        <p:spPr>
          <a:xfrm flipH="false" flipV="false" rot="0">
            <a:off x="692011" y="6047021"/>
            <a:ext cx="2232436" cy="2263560"/>
          </a:xfrm>
          <a:custGeom>
            <a:avLst/>
            <a:gdLst/>
            <a:ahLst/>
            <a:cxnLst/>
            <a:rect r="r" b="b" t="t" l="l"/>
            <a:pathLst>
              <a:path h="2263560" w="2232436">
                <a:moveTo>
                  <a:pt x="0" y="0"/>
                </a:moveTo>
                <a:lnTo>
                  <a:pt x="2232436" y="0"/>
                </a:lnTo>
                <a:lnTo>
                  <a:pt x="2232436" y="2263560"/>
                </a:lnTo>
                <a:lnTo>
                  <a:pt x="0" y="2263560"/>
                </a:lnTo>
                <a:lnTo>
                  <a:pt x="0" y="0"/>
                </a:lnTo>
                <a:close/>
              </a:path>
            </a:pathLst>
          </a:custGeom>
          <a:blipFill>
            <a:blip r:embed="rId7">
              <a:alphaModFix amt="71000"/>
            </a:blip>
            <a:stretch>
              <a:fillRect l="0" t="0" r="0" b="0"/>
            </a:stretch>
          </a:blipFill>
        </p:spPr>
      </p:sp>
      <p:sp>
        <p:nvSpPr>
          <p:cNvPr name="Freeform 9" id="9"/>
          <p:cNvSpPr/>
          <p:nvPr/>
        </p:nvSpPr>
        <p:spPr>
          <a:xfrm flipH="false" flipV="false" rot="0">
            <a:off x="16557673" y="447304"/>
            <a:ext cx="1403253" cy="1403253"/>
          </a:xfrm>
          <a:custGeom>
            <a:avLst/>
            <a:gdLst/>
            <a:ahLst/>
            <a:cxnLst/>
            <a:rect r="r" b="b" t="t" l="l"/>
            <a:pathLst>
              <a:path h="1403253" w="1403253">
                <a:moveTo>
                  <a:pt x="0" y="0"/>
                </a:moveTo>
                <a:lnTo>
                  <a:pt x="1403254" y="0"/>
                </a:lnTo>
                <a:lnTo>
                  <a:pt x="1403254" y="1403253"/>
                </a:lnTo>
                <a:lnTo>
                  <a:pt x="0" y="1403253"/>
                </a:lnTo>
                <a:lnTo>
                  <a:pt x="0" y="0"/>
                </a:lnTo>
                <a:close/>
              </a:path>
            </a:pathLst>
          </a:custGeom>
          <a:blipFill>
            <a:blip r:embed="rId8"/>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4861731" y="2936317"/>
            <a:ext cx="3056450" cy="1533782"/>
          </a:xfrm>
          <a:custGeom>
            <a:avLst/>
            <a:gdLst/>
            <a:ahLst/>
            <a:cxnLst/>
            <a:rect r="r" b="b" t="t" l="l"/>
            <a:pathLst>
              <a:path h="1533782" w="3056450">
                <a:moveTo>
                  <a:pt x="3056450" y="0"/>
                </a:moveTo>
                <a:lnTo>
                  <a:pt x="0" y="0"/>
                </a:lnTo>
                <a:lnTo>
                  <a:pt x="0" y="1533782"/>
                </a:lnTo>
                <a:lnTo>
                  <a:pt x="3056450" y="1533782"/>
                </a:lnTo>
                <a:lnTo>
                  <a:pt x="305645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689157" y="1028700"/>
            <a:ext cx="4841307" cy="7044230"/>
          </a:xfrm>
          <a:custGeom>
            <a:avLst/>
            <a:gdLst/>
            <a:ahLst/>
            <a:cxnLst/>
            <a:rect r="r" b="b" t="t" l="l"/>
            <a:pathLst>
              <a:path h="7044230" w="4841307">
                <a:moveTo>
                  <a:pt x="4841307" y="0"/>
                </a:moveTo>
                <a:lnTo>
                  <a:pt x="0" y="0"/>
                </a:lnTo>
                <a:lnTo>
                  <a:pt x="0" y="7044230"/>
                </a:lnTo>
                <a:lnTo>
                  <a:pt x="4841307" y="7044230"/>
                </a:lnTo>
                <a:lnTo>
                  <a:pt x="484130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92015" y="3432294"/>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7">
              <a:alphaModFix amt="71000"/>
            </a:blip>
            <a:stretch>
              <a:fillRect l="0" t="0" r="0" b="0"/>
            </a:stretch>
          </a:blipFill>
        </p:spPr>
      </p:sp>
      <p:sp>
        <p:nvSpPr>
          <p:cNvPr name="TextBox 6" id="6"/>
          <p:cNvSpPr txBox="true"/>
          <p:nvPr/>
        </p:nvSpPr>
        <p:spPr>
          <a:xfrm rot="0">
            <a:off x="8726008" y="1476970"/>
            <a:ext cx="6483384" cy="172662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Security Considerations</a:t>
            </a:r>
          </a:p>
        </p:txBody>
      </p:sp>
      <p:sp>
        <p:nvSpPr>
          <p:cNvPr name="TextBox 7" id="7"/>
          <p:cNvSpPr txBox="true"/>
          <p:nvPr/>
        </p:nvSpPr>
        <p:spPr>
          <a:xfrm rot="0">
            <a:off x="8726008" y="3423201"/>
            <a:ext cx="8533292" cy="4860053"/>
          </a:xfrm>
          <a:prstGeom prst="rect">
            <a:avLst/>
          </a:prstGeom>
        </p:spPr>
        <p:txBody>
          <a:bodyPr anchor="t" rtlCol="false" tIns="0" lIns="0" bIns="0" rIns="0">
            <a:spAutoFit/>
          </a:bodyPr>
          <a:lstStyle/>
          <a:p>
            <a:pPr algn="just">
              <a:lnSpc>
                <a:spcPts val="3250"/>
              </a:lnSpc>
            </a:pPr>
            <a:r>
              <a:rPr lang="en-US" sz="2664">
                <a:solidFill>
                  <a:srgbClr val="063050"/>
                </a:solidFill>
                <a:latin typeface="Poppins"/>
                <a:ea typeface="Poppins"/>
                <a:cs typeface="Poppins"/>
                <a:sym typeface="Poppins"/>
              </a:rPr>
              <a:t>Ensuring the security of a network infrastructure is essential to protect sensitive data and maintain smooth operations. Key measures include encrypting data to prevent unauthorized access, implementing firewalls and intrusion prevention systems to block potential threats, and keeping software and hardware up to date with regular patches. Additionally, controlling access through authentication and permission management ensures that only authorized users can reach critical resources, helping organizations maintain a secure and reliable network environment.</a:t>
            </a:r>
          </a:p>
        </p:txBody>
      </p:sp>
      <p:sp>
        <p:nvSpPr>
          <p:cNvPr name="Freeform 8" id="8"/>
          <p:cNvSpPr/>
          <p:nvPr/>
        </p:nvSpPr>
        <p:spPr>
          <a:xfrm flipH="true" flipV="false" rot="0">
            <a:off x="-395834" y="6322096"/>
            <a:ext cx="3056450" cy="1533782"/>
          </a:xfrm>
          <a:custGeom>
            <a:avLst/>
            <a:gdLst/>
            <a:ahLst/>
            <a:cxnLst/>
            <a:rect r="r" b="b" t="t" l="l"/>
            <a:pathLst>
              <a:path h="1533782" w="3056450">
                <a:moveTo>
                  <a:pt x="3056450" y="0"/>
                </a:moveTo>
                <a:lnTo>
                  <a:pt x="0" y="0"/>
                </a:lnTo>
                <a:lnTo>
                  <a:pt x="0" y="1533782"/>
                </a:lnTo>
                <a:lnTo>
                  <a:pt x="3056450" y="1533782"/>
                </a:lnTo>
                <a:lnTo>
                  <a:pt x="305645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6504475" y="-263831"/>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7">
              <a:alphaModFix amt="71000"/>
            </a:blip>
            <a:stretch>
              <a:fillRect l="0" t="0" r="0" b="0"/>
            </a:stretch>
          </a:blipFill>
        </p:spPr>
      </p:sp>
      <p:sp>
        <p:nvSpPr>
          <p:cNvPr name="Freeform 10" id="10"/>
          <p:cNvSpPr/>
          <p:nvPr/>
        </p:nvSpPr>
        <p:spPr>
          <a:xfrm flipH="false" flipV="false" rot="0">
            <a:off x="16557673" y="447304"/>
            <a:ext cx="1403253" cy="1403253"/>
          </a:xfrm>
          <a:custGeom>
            <a:avLst/>
            <a:gdLst/>
            <a:ahLst/>
            <a:cxnLst/>
            <a:rect r="r" b="b" t="t" l="l"/>
            <a:pathLst>
              <a:path h="1403253" w="1403253">
                <a:moveTo>
                  <a:pt x="0" y="0"/>
                </a:moveTo>
                <a:lnTo>
                  <a:pt x="1403254" y="0"/>
                </a:lnTo>
                <a:lnTo>
                  <a:pt x="1403254" y="1403253"/>
                </a:lnTo>
                <a:lnTo>
                  <a:pt x="0" y="1403253"/>
                </a:lnTo>
                <a:lnTo>
                  <a:pt x="0" y="0"/>
                </a:lnTo>
                <a:close/>
              </a:path>
            </a:pathLst>
          </a:custGeom>
          <a:blipFill>
            <a:blip r:embed="rId8"/>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3023029" y="1028700"/>
            <a:ext cx="21311029" cy="1464829"/>
            <a:chOff x="0" y="0"/>
            <a:chExt cx="5612781" cy="385799"/>
          </a:xfrm>
        </p:grpSpPr>
        <p:sp>
          <p:nvSpPr>
            <p:cNvPr name="Freeform 4" id="4"/>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5" id="5"/>
            <p:cNvSpPr txBox="true"/>
            <p:nvPr/>
          </p:nvSpPr>
          <p:spPr>
            <a:xfrm>
              <a:off x="0" y="28575"/>
              <a:ext cx="5612781" cy="357224"/>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4353272" y="2616943"/>
            <a:ext cx="3793627" cy="5763798"/>
          </a:xfrm>
          <a:custGeom>
            <a:avLst/>
            <a:gdLst/>
            <a:ahLst/>
            <a:cxnLst/>
            <a:rect r="r" b="b" t="t" l="l"/>
            <a:pathLst>
              <a:path h="5763798" w="3793627">
                <a:moveTo>
                  <a:pt x="0" y="0"/>
                </a:moveTo>
                <a:lnTo>
                  <a:pt x="3793627" y="0"/>
                </a:lnTo>
                <a:lnTo>
                  <a:pt x="3793627" y="5763797"/>
                </a:lnTo>
                <a:lnTo>
                  <a:pt x="0" y="57637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353272" y="2263044"/>
            <a:ext cx="1663920" cy="1636693"/>
          </a:xfrm>
          <a:custGeom>
            <a:avLst/>
            <a:gdLst/>
            <a:ahLst/>
            <a:cxnLst/>
            <a:rect r="r" b="b" t="t" l="l"/>
            <a:pathLst>
              <a:path h="1636693" w="1663920">
                <a:moveTo>
                  <a:pt x="0" y="0"/>
                </a:moveTo>
                <a:lnTo>
                  <a:pt x="1663920" y="0"/>
                </a:lnTo>
                <a:lnTo>
                  <a:pt x="1663920" y="1636693"/>
                </a:lnTo>
                <a:lnTo>
                  <a:pt x="0" y="16366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660616" y="2855233"/>
            <a:ext cx="11288578" cy="3899327"/>
          </a:xfrm>
          <a:prstGeom prst="rect">
            <a:avLst/>
          </a:prstGeom>
        </p:spPr>
        <p:txBody>
          <a:bodyPr anchor="t" rtlCol="false" tIns="0" lIns="0" bIns="0" rIns="0">
            <a:spAutoFit/>
          </a:bodyPr>
          <a:lstStyle/>
          <a:p>
            <a:pPr algn="just">
              <a:lnSpc>
                <a:spcPts val="3827"/>
              </a:lnSpc>
            </a:pPr>
            <a:r>
              <a:rPr lang="en-US" b="true" sz="3137">
                <a:solidFill>
                  <a:srgbClr val="063050"/>
                </a:solidFill>
                <a:latin typeface="Poppins Bold"/>
                <a:ea typeface="Poppins Bold"/>
                <a:cs typeface="Poppins Bold"/>
                <a:sym typeface="Poppins Bold"/>
              </a:rPr>
              <a:t>Network infrastructure models are the foundation for designing, managing, and securing communication systems. Each model has its own strengths and limitations depending on organizational needs. Understanding these models helps organizations select the most suitable structure that ensures efficiency, scalability, and security while supporting smooth business operations and future growth.</a:t>
            </a:r>
          </a:p>
        </p:txBody>
      </p:sp>
      <p:sp>
        <p:nvSpPr>
          <p:cNvPr name="TextBox 9" id="9"/>
          <p:cNvSpPr txBox="true"/>
          <p:nvPr/>
        </p:nvSpPr>
        <p:spPr>
          <a:xfrm rot="0">
            <a:off x="2159313" y="1355573"/>
            <a:ext cx="7853757" cy="907471"/>
          </a:xfrm>
          <a:prstGeom prst="rect">
            <a:avLst/>
          </a:prstGeom>
        </p:spPr>
        <p:txBody>
          <a:bodyPr anchor="t" rtlCol="false" tIns="0" lIns="0" bIns="0" rIns="0">
            <a:spAutoFit/>
          </a:bodyPr>
          <a:lstStyle/>
          <a:p>
            <a:pPr algn="l">
              <a:lnSpc>
                <a:spcPts val="6470"/>
              </a:lnSpc>
              <a:spcBef>
                <a:spcPct val="0"/>
              </a:spcBef>
            </a:pPr>
            <a:r>
              <a:rPr lang="en-US" b="true" sz="6221">
                <a:solidFill>
                  <a:srgbClr val="F0F7FE"/>
                </a:solidFill>
                <a:latin typeface="Poppins Bold"/>
                <a:ea typeface="Poppins Bold"/>
                <a:cs typeface="Poppins Bold"/>
                <a:sym typeface="Poppins Bold"/>
              </a:rPr>
              <a:t>CONCLUSION</a:t>
            </a:r>
          </a:p>
        </p:txBody>
      </p:sp>
      <p:sp>
        <p:nvSpPr>
          <p:cNvPr name="Freeform 10" id="10"/>
          <p:cNvSpPr/>
          <p:nvPr/>
        </p:nvSpPr>
        <p:spPr>
          <a:xfrm flipH="false" flipV="false" rot="0">
            <a:off x="16872140" y="1464854"/>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7">
              <a:alphaModFix amt="71000"/>
            </a:blip>
            <a:stretch>
              <a:fillRect l="0" t="0" r="0" b="0"/>
            </a:stretch>
          </a:blipFill>
        </p:spPr>
      </p:sp>
      <p:sp>
        <p:nvSpPr>
          <p:cNvPr name="Freeform 11" id="11"/>
          <p:cNvSpPr/>
          <p:nvPr/>
        </p:nvSpPr>
        <p:spPr>
          <a:xfrm flipH="false" flipV="false" rot="0">
            <a:off x="-390204" y="8950469"/>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7">
              <a:alphaModFix amt="71000"/>
            </a:blip>
            <a:stretch>
              <a:fillRect l="0" t="0" r="0" b="0"/>
            </a:stretch>
          </a:blipFill>
        </p:spPr>
      </p:sp>
      <p:grpSp>
        <p:nvGrpSpPr>
          <p:cNvPr name="Group 12" id="12"/>
          <p:cNvGrpSpPr/>
          <p:nvPr/>
        </p:nvGrpSpPr>
        <p:grpSpPr>
          <a:xfrm rot="0">
            <a:off x="1980781" y="2902858"/>
            <a:ext cx="357065" cy="357065"/>
            <a:chOff x="0" y="0"/>
            <a:chExt cx="94042" cy="94042"/>
          </a:xfrm>
        </p:grpSpPr>
        <p:sp>
          <p:nvSpPr>
            <p:cNvPr name="Freeform 13" id="13"/>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4" id="14"/>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sp>
        <p:nvSpPr>
          <p:cNvPr name="Freeform 15" id="15"/>
          <p:cNvSpPr/>
          <p:nvPr/>
        </p:nvSpPr>
        <p:spPr>
          <a:xfrm flipH="false" flipV="false" rot="0">
            <a:off x="16557673" y="447304"/>
            <a:ext cx="1403253" cy="1403253"/>
          </a:xfrm>
          <a:custGeom>
            <a:avLst/>
            <a:gdLst/>
            <a:ahLst/>
            <a:cxnLst/>
            <a:rect r="r" b="b" t="t" l="l"/>
            <a:pathLst>
              <a:path h="1403253" w="1403253">
                <a:moveTo>
                  <a:pt x="0" y="0"/>
                </a:moveTo>
                <a:lnTo>
                  <a:pt x="1403254" y="0"/>
                </a:lnTo>
                <a:lnTo>
                  <a:pt x="1403254" y="1403253"/>
                </a:lnTo>
                <a:lnTo>
                  <a:pt x="0" y="1403253"/>
                </a:lnTo>
                <a:lnTo>
                  <a:pt x="0" y="0"/>
                </a:lnTo>
                <a:close/>
              </a:path>
            </a:pathLst>
          </a:custGeom>
          <a:blipFill>
            <a:blip r:embed="rId8"/>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325529" y="3404967"/>
            <a:ext cx="18939059" cy="1464829"/>
            <a:chOff x="0" y="0"/>
            <a:chExt cx="4988065" cy="385799"/>
          </a:xfrm>
        </p:grpSpPr>
        <p:sp>
          <p:nvSpPr>
            <p:cNvPr name="Freeform 4" id="4"/>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5" id="5"/>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2326993" y="4137382"/>
            <a:ext cx="3980134" cy="4114800"/>
          </a:xfrm>
          <a:custGeom>
            <a:avLst/>
            <a:gdLst/>
            <a:ahLst/>
            <a:cxnLst/>
            <a:rect r="r" b="b" t="t" l="l"/>
            <a:pathLst>
              <a:path h="4114800" w="3980134">
                <a:moveTo>
                  <a:pt x="0" y="0"/>
                </a:moveTo>
                <a:lnTo>
                  <a:pt x="3980134" y="0"/>
                </a:lnTo>
                <a:lnTo>
                  <a:pt x="398013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1588548"/>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Freeform 8" id="8"/>
          <p:cNvSpPr/>
          <p:nvPr/>
        </p:nvSpPr>
        <p:spPr>
          <a:xfrm flipH="false" flipV="false" rot="0">
            <a:off x="16543611" y="3404967"/>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5">
              <a:alphaModFix amt="71000"/>
            </a:blip>
            <a:stretch>
              <a:fillRect l="0" t="0" r="0" b="0"/>
            </a:stretch>
          </a:blipFill>
        </p:spPr>
      </p:sp>
      <p:sp>
        <p:nvSpPr>
          <p:cNvPr name="TextBox 9" id="9"/>
          <p:cNvSpPr txBox="true"/>
          <p:nvPr/>
        </p:nvSpPr>
        <p:spPr>
          <a:xfrm rot="0">
            <a:off x="2660616" y="3511872"/>
            <a:ext cx="8449147" cy="1371102"/>
          </a:xfrm>
          <a:prstGeom prst="rect">
            <a:avLst/>
          </a:prstGeom>
        </p:spPr>
        <p:txBody>
          <a:bodyPr anchor="t" rtlCol="false" tIns="0" lIns="0" bIns="0" rIns="0">
            <a:spAutoFit/>
          </a:bodyPr>
          <a:lstStyle/>
          <a:p>
            <a:pPr algn="l">
              <a:lnSpc>
                <a:spcPts val="9724"/>
              </a:lnSpc>
              <a:spcBef>
                <a:spcPct val="0"/>
              </a:spcBef>
            </a:pPr>
            <a:r>
              <a:rPr lang="en-US" b="true" sz="9350">
                <a:solidFill>
                  <a:srgbClr val="F4F4F4"/>
                </a:solidFill>
                <a:latin typeface="Poppins Bold"/>
                <a:ea typeface="Poppins Bold"/>
                <a:cs typeface="Poppins Bold"/>
                <a:sym typeface="Poppins Bold"/>
              </a:rPr>
              <a:t>Thank You!</a:t>
            </a:r>
          </a:p>
        </p:txBody>
      </p:sp>
      <p:sp>
        <p:nvSpPr>
          <p:cNvPr name="Freeform 10" id="10"/>
          <p:cNvSpPr/>
          <p:nvPr/>
        </p:nvSpPr>
        <p:spPr>
          <a:xfrm flipH="false" flipV="false" rot="0">
            <a:off x="16557673" y="447304"/>
            <a:ext cx="1403253" cy="1403253"/>
          </a:xfrm>
          <a:custGeom>
            <a:avLst/>
            <a:gdLst/>
            <a:ahLst/>
            <a:cxnLst/>
            <a:rect r="r" b="b" t="t" l="l"/>
            <a:pathLst>
              <a:path h="1403253" w="1403253">
                <a:moveTo>
                  <a:pt x="0" y="0"/>
                </a:moveTo>
                <a:lnTo>
                  <a:pt x="1403254" y="0"/>
                </a:lnTo>
                <a:lnTo>
                  <a:pt x="1403254" y="1403253"/>
                </a:lnTo>
                <a:lnTo>
                  <a:pt x="0" y="1403253"/>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DAGxftmlo48</dc:identifier>
  <dcterms:modified xsi:type="dcterms:W3CDTF">2011-08-01T06:04:30Z</dcterms:modified>
  <cp:revision>1</cp:revision>
  <dc:title>Blue Gradient Modern Illustration Computer Presentation</dc:title>
</cp:coreProperties>
</file>