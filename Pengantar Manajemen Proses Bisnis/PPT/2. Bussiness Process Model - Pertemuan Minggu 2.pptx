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77" r:id="rId3"/>
    <p:sldId id="258" r:id="rId4"/>
    <p:sldId id="279" r:id="rId5"/>
    <p:sldId id="281" r:id="rId6"/>
    <p:sldId id="282" r:id="rId7"/>
    <p:sldId id="267" r:id="rId8"/>
    <p:sldId id="283" r:id="rId9"/>
    <p:sldId id="284" r:id="rId10"/>
    <p:sldId id="285" r:id="rId11"/>
  </p:sldIdLst>
  <p:sldSz cx="18288000" cy="10287000"/>
  <p:notesSz cx="6858000" cy="9144000"/>
  <p:embeddedFontLst>
    <p:embeddedFont>
      <p:font typeface="Horizon" panose="020B0604020202020204" charset="0"/>
      <p:regular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88497" autoAdjust="0"/>
  </p:normalViewPr>
  <p:slideViewPr>
    <p:cSldViewPr>
      <p:cViewPr varScale="1">
        <p:scale>
          <a:sx n="47" d="100"/>
          <a:sy n="47" d="100"/>
        </p:scale>
        <p:origin x="1094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48FF2-3AE9-4C9D-B971-1F71374303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D7595F-36AF-4FD5-9F6E-732F965A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37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MODEL Proses Bisnis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68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29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16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77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12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99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50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71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1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FAA32-8EEE-ACEC-2EFE-6ED8F72AE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71CE4-B2C8-EC23-1E4F-3B7318875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3C9D6A-76AF-71C7-798A-B52070E55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DA173-A887-96DA-E9B7-42251098F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4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764722" y="1769228"/>
            <a:ext cx="15600090" cy="7315200"/>
            <a:chOff x="0" y="0"/>
            <a:chExt cx="4108666" cy="19266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08666" cy="1926637"/>
            </a:xfrm>
            <a:custGeom>
              <a:avLst/>
              <a:gdLst/>
              <a:ahLst/>
              <a:cxnLst/>
              <a:rect l="l" t="t" r="r" b="b"/>
              <a:pathLst>
                <a:path w="4108666" h="1926637">
                  <a:moveTo>
                    <a:pt x="0" y="0"/>
                  </a:moveTo>
                  <a:lnTo>
                    <a:pt x="4108666" y="0"/>
                  </a:lnTo>
                  <a:lnTo>
                    <a:pt x="4108666" y="1926637"/>
                  </a:lnTo>
                  <a:lnTo>
                    <a:pt x="0" y="1926637"/>
                  </a:lnTo>
                  <a:close/>
                </a:path>
              </a:pathLst>
            </a:custGeom>
            <a:gradFill rotWithShape="1">
              <a:gsLst>
                <a:gs pos="0">
                  <a:srgbClr val="0B037B">
                    <a:alpha val="30000"/>
                  </a:srgbClr>
                </a:gs>
                <a:gs pos="100000">
                  <a:srgbClr val="5765E9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08666" cy="1964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8545518" y="3308050"/>
            <a:ext cx="7315200" cy="3670900"/>
          </a:xfrm>
          <a:custGeom>
            <a:avLst/>
            <a:gdLst/>
            <a:ahLst/>
            <a:cxnLst/>
            <a:rect l="l" t="t" r="r" b="b"/>
            <a:pathLst>
              <a:path w="7315200" h="3670900">
                <a:moveTo>
                  <a:pt x="0" y="0"/>
                </a:moveTo>
                <a:lnTo>
                  <a:pt x="7315200" y="0"/>
                </a:lnTo>
                <a:lnTo>
                  <a:pt x="7315200" y="3670900"/>
                </a:lnTo>
                <a:lnTo>
                  <a:pt x="0" y="367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0817836" y="1935349"/>
            <a:ext cx="6441464" cy="6416302"/>
            <a:chOff x="0" y="0"/>
            <a:chExt cx="6502400" cy="6477000"/>
          </a:xfrm>
        </p:grpSpPr>
        <p:sp>
          <p:nvSpPr>
            <p:cNvPr id="8" name="Freeform 8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-24572" r="-2457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025A1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028700" y="8606150"/>
            <a:ext cx="1743454" cy="389900"/>
          </a:xfrm>
          <a:custGeom>
            <a:avLst/>
            <a:gdLst/>
            <a:ahLst/>
            <a:cxnLst/>
            <a:rect l="l" t="t" r="r" b="b"/>
            <a:pathLst>
              <a:path w="1743454" h="389900">
                <a:moveTo>
                  <a:pt x="0" y="0"/>
                </a:moveTo>
                <a:lnTo>
                  <a:pt x="1743454" y="0"/>
                </a:lnTo>
                <a:lnTo>
                  <a:pt x="1743454" y="389900"/>
                </a:lnTo>
                <a:lnTo>
                  <a:pt x="0" y="389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474389" y="1028700"/>
            <a:ext cx="2131017" cy="457200"/>
          </a:xfrm>
          <a:custGeom>
            <a:avLst/>
            <a:gdLst/>
            <a:ahLst/>
            <a:cxnLst/>
            <a:rect l="l" t="t" r="r" b="b"/>
            <a:pathLst>
              <a:path w="2131017" h="457200">
                <a:moveTo>
                  <a:pt x="0" y="0"/>
                </a:moveTo>
                <a:lnTo>
                  <a:pt x="2131017" y="0"/>
                </a:lnTo>
                <a:lnTo>
                  <a:pt x="213101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48527" y="1485900"/>
            <a:ext cx="10539418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6000" spc="427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Business Process </a:t>
            </a:r>
          </a:p>
          <a:p>
            <a:pPr algn="l">
              <a:lnSpc>
                <a:spcPct val="150000"/>
              </a:lnSpc>
            </a:pPr>
            <a:r>
              <a:rPr lang="en-US" sz="6000" spc="427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MODEL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98318" y="8269834"/>
            <a:ext cx="7883157" cy="58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Rosita, </a:t>
            </a:r>
            <a:r>
              <a:rPr lang="en-US" sz="3399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S.Pd</a:t>
            </a:r>
            <a:r>
              <a:rPr lang="en-US" sz="3399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., </a:t>
            </a:r>
            <a:r>
              <a:rPr lang="en-US" sz="3399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M.Pd</a:t>
            </a:r>
            <a:r>
              <a:rPr lang="en-US" sz="3399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3019702" y="3383149"/>
            <a:ext cx="7015893" cy="3520702"/>
          </a:xfrm>
          <a:custGeom>
            <a:avLst/>
            <a:gdLst/>
            <a:ahLst/>
            <a:cxnLst/>
            <a:rect l="l" t="t" r="r" b="b"/>
            <a:pathLst>
              <a:path w="7015893" h="3520702">
                <a:moveTo>
                  <a:pt x="0" y="0"/>
                </a:moveTo>
                <a:lnTo>
                  <a:pt x="7015893" y="0"/>
                </a:lnTo>
                <a:lnTo>
                  <a:pt x="7015893" y="3520702"/>
                </a:lnTo>
                <a:lnTo>
                  <a:pt x="0" y="3520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907551" y="800100"/>
            <a:ext cx="2131017" cy="457200"/>
          </a:xfrm>
          <a:custGeom>
            <a:avLst/>
            <a:gdLst/>
            <a:ahLst/>
            <a:cxnLst/>
            <a:rect l="l" t="t" r="r" b="b"/>
            <a:pathLst>
              <a:path w="2131017" h="457200">
                <a:moveTo>
                  <a:pt x="0" y="0"/>
                </a:moveTo>
                <a:lnTo>
                  <a:pt x="2131017" y="0"/>
                </a:lnTo>
                <a:lnTo>
                  <a:pt x="213101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08128" y="1186618"/>
            <a:ext cx="10899423" cy="8617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Definition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1008128" y="2781301"/>
            <a:ext cx="10498072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Model Proses </a:t>
            </a:r>
            <a:r>
              <a:rPr lang="en-US" sz="4000" b="1" dirty="0" err="1">
                <a:solidFill>
                  <a:schemeClr val="bg1"/>
                </a:solidFill>
              </a:rPr>
              <a:t>Bisnis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adalah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representasi</a:t>
            </a:r>
            <a:r>
              <a:rPr lang="en-US" sz="4000" dirty="0">
                <a:solidFill>
                  <a:schemeClr val="bg1"/>
                </a:solidFill>
              </a:rPr>
              <a:t> visual </a:t>
            </a:r>
            <a:r>
              <a:rPr lang="en-US" sz="4000" dirty="0" err="1">
                <a:solidFill>
                  <a:schemeClr val="bg1"/>
                </a:solidFill>
              </a:rPr>
              <a:t>atau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grafis</a:t>
            </a:r>
            <a:r>
              <a:rPr lang="en-US" sz="4000" dirty="0">
                <a:solidFill>
                  <a:schemeClr val="bg1"/>
                </a:solidFill>
              </a:rPr>
              <a:t> yang </a:t>
            </a:r>
            <a:r>
              <a:rPr lang="en-US" sz="4000" dirty="0" err="1">
                <a:solidFill>
                  <a:schemeClr val="bg1"/>
                </a:solidFill>
              </a:rPr>
              <a:t>menggambarkan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bagaimana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alur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kerja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tugas</a:t>
            </a:r>
            <a:r>
              <a:rPr lang="en-US" sz="4000" dirty="0">
                <a:solidFill>
                  <a:schemeClr val="bg1"/>
                </a:solidFill>
              </a:rPr>
              <a:t>, dan </a:t>
            </a:r>
            <a:r>
              <a:rPr lang="en-US" sz="4000" dirty="0" err="1">
                <a:solidFill>
                  <a:schemeClr val="bg1"/>
                </a:solidFill>
              </a:rPr>
              <a:t>aktivitas</a:t>
            </a:r>
            <a:r>
              <a:rPr lang="en-US" sz="4000" dirty="0">
                <a:solidFill>
                  <a:schemeClr val="bg1"/>
                </a:solidFill>
              </a:rPr>
              <a:t> yang </a:t>
            </a:r>
            <a:r>
              <a:rPr lang="en-US" sz="4000" dirty="0" err="1">
                <a:solidFill>
                  <a:schemeClr val="bg1"/>
                </a:solidFill>
              </a:rPr>
              <a:t>saling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terkait</a:t>
            </a:r>
            <a:r>
              <a:rPr lang="en-US" sz="4000" dirty="0">
                <a:solidFill>
                  <a:schemeClr val="bg1"/>
                </a:solidFill>
              </a:rPr>
              <a:t> di </a:t>
            </a:r>
            <a:r>
              <a:rPr lang="en-US" sz="4000" dirty="0" err="1">
                <a:solidFill>
                  <a:schemeClr val="bg1"/>
                </a:solidFill>
              </a:rPr>
              <a:t>dalam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sebuah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organisasi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bekerja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sama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untuk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mencapai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tujuan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bisnis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tertentu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  <a:endParaRPr lang="en-US" sz="4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212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3019702" y="3383149"/>
            <a:ext cx="7015893" cy="3520702"/>
          </a:xfrm>
          <a:custGeom>
            <a:avLst/>
            <a:gdLst/>
            <a:ahLst/>
            <a:cxnLst/>
            <a:rect l="l" t="t" r="r" b="b"/>
            <a:pathLst>
              <a:path w="7015893" h="3520702">
                <a:moveTo>
                  <a:pt x="0" y="0"/>
                </a:moveTo>
                <a:lnTo>
                  <a:pt x="7015893" y="0"/>
                </a:lnTo>
                <a:lnTo>
                  <a:pt x="7015893" y="3520702"/>
                </a:lnTo>
                <a:lnTo>
                  <a:pt x="0" y="3520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907551" y="2057400"/>
            <a:ext cx="6441464" cy="6416302"/>
            <a:chOff x="0" y="0"/>
            <a:chExt cx="6502400" cy="6477000"/>
          </a:xfrm>
        </p:grpSpPr>
        <p:sp>
          <p:nvSpPr>
            <p:cNvPr id="5" name="Freeform 5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-24712" r="-24712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025A1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1907551" y="800100"/>
            <a:ext cx="2131017" cy="457200"/>
          </a:xfrm>
          <a:custGeom>
            <a:avLst/>
            <a:gdLst/>
            <a:ahLst/>
            <a:cxnLst/>
            <a:rect l="l" t="t" r="r" b="b"/>
            <a:pathLst>
              <a:path w="2131017" h="457200">
                <a:moveTo>
                  <a:pt x="0" y="0"/>
                </a:moveTo>
                <a:lnTo>
                  <a:pt x="2131017" y="0"/>
                </a:lnTo>
                <a:lnTo>
                  <a:pt x="213101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40785" y="1165636"/>
            <a:ext cx="10899423" cy="8617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objective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1034328" y="2833186"/>
            <a:ext cx="9911250" cy="6401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Sediakan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pandangan</a:t>
            </a:r>
            <a:r>
              <a:rPr lang="en-US" sz="3200" dirty="0">
                <a:solidFill>
                  <a:schemeClr val="bg1"/>
                </a:solidFill>
              </a:rPr>
              <a:t> yang </a:t>
            </a:r>
            <a:r>
              <a:rPr lang="en-US" sz="3200" dirty="0" err="1">
                <a:solidFill>
                  <a:schemeClr val="bg1"/>
                </a:solidFill>
              </a:rPr>
              <a:t>jelas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tentang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bagaimana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suatu</a:t>
            </a:r>
            <a:r>
              <a:rPr lang="en-US" sz="3200" dirty="0">
                <a:solidFill>
                  <a:schemeClr val="bg1"/>
                </a:solidFill>
              </a:rPr>
              <a:t> proses </a:t>
            </a:r>
            <a:r>
              <a:rPr lang="en-US" sz="3200" dirty="0" err="1">
                <a:solidFill>
                  <a:schemeClr val="bg1"/>
                </a:solidFill>
              </a:rPr>
              <a:t>bekerja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 err="1">
                <a:solidFill>
                  <a:schemeClr val="bg1"/>
                </a:solidFill>
              </a:rPr>
              <a:t>termasuk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tugas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 err="1">
                <a:solidFill>
                  <a:schemeClr val="bg1"/>
                </a:solidFill>
              </a:rPr>
              <a:t>alur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kerja</a:t>
            </a:r>
            <a:r>
              <a:rPr lang="en-US" sz="3200" dirty="0">
                <a:solidFill>
                  <a:schemeClr val="bg1"/>
                </a:solidFill>
              </a:rPr>
              <a:t>, dan </a:t>
            </a:r>
            <a:r>
              <a:rPr lang="en-US" sz="3200" dirty="0" err="1">
                <a:solidFill>
                  <a:schemeClr val="bg1"/>
                </a:solidFill>
              </a:rPr>
              <a:t>keterlibatan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sumber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daya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atau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pelaku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Meningkatkan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Efisiensi</a:t>
            </a:r>
            <a:r>
              <a:rPr lang="en-US" sz="3200" dirty="0">
                <a:solidFill>
                  <a:schemeClr val="bg1"/>
                </a:solidFill>
              </a:rPr>
              <a:t> dan </a:t>
            </a:r>
            <a:r>
              <a:rPr lang="en-US" sz="3200" dirty="0" err="1">
                <a:solidFill>
                  <a:schemeClr val="bg1"/>
                </a:solidFill>
              </a:rPr>
              <a:t>Produktivitas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dengan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mengidentifikasi</a:t>
            </a:r>
            <a:r>
              <a:rPr lang="en-US" sz="3200" dirty="0">
                <a:solidFill>
                  <a:schemeClr val="bg1"/>
                </a:solidFill>
              </a:rPr>
              <a:t> dan </a:t>
            </a:r>
            <a:r>
              <a:rPr lang="en-US" sz="3200" dirty="0" err="1">
                <a:solidFill>
                  <a:schemeClr val="bg1"/>
                </a:solidFill>
              </a:rPr>
              <a:t>menghilangkan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ketidakefisienan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 err="1">
                <a:solidFill>
                  <a:schemeClr val="bg1"/>
                </a:solidFill>
              </a:rPr>
              <a:t>seperti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pengulangan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tugas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atau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hambatan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dalam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alur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kerja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Mendukung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Pengambilan</a:t>
            </a:r>
            <a:r>
              <a:rPr lang="en-US" sz="3200" dirty="0">
                <a:solidFill>
                  <a:schemeClr val="bg1"/>
                </a:solidFill>
              </a:rPr>
              <a:t> Keputusan </a:t>
            </a:r>
            <a:r>
              <a:rPr lang="en-US" sz="3200" dirty="0" err="1">
                <a:solidFill>
                  <a:schemeClr val="bg1"/>
                </a:solidFill>
              </a:rPr>
              <a:t>dengan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menyediakan</a:t>
            </a:r>
            <a:r>
              <a:rPr lang="en-US" sz="3200" dirty="0">
                <a:solidFill>
                  <a:schemeClr val="bg1"/>
                </a:solidFill>
              </a:rPr>
              <a:t> data dan </a:t>
            </a:r>
            <a:r>
              <a:rPr lang="en-US" sz="3200" dirty="0" err="1">
                <a:solidFill>
                  <a:schemeClr val="bg1"/>
                </a:solidFill>
              </a:rPr>
              <a:t>visualisasi</a:t>
            </a:r>
            <a:r>
              <a:rPr lang="en-US" sz="3200" dirty="0">
                <a:solidFill>
                  <a:schemeClr val="bg1"/>
                </a:solidFill>
              </a:rPr>
              <a:t> yang </a:t>
            </a:r>
            <a:r>
              <a:rPr lang="en-US" sz="3200" dirty="0" err="1">
                <a:solidFill>
                  <a:schemeClr val="bg1"/>
                </a:solidFill>
              </a:rPr>
              <a:t>membantu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manajemen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dalam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membuat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keputusan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mengenai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perbaikan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atau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perubahan</a:t>
            </a:r>
            <a:r>
              <a:rPr lang="en-US" sz="3200" dirty="0">
                <a:solidFill>
                  <a:schemeClr val="bg1"/>
                </a:solidFill>
              </a:rPr>
              <a:t> proses.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3019702" y="3383149"/>
            <a:ext cx="7015893" cy="3520702"/>
          </a:xfrm>
          <a:custGeom>
            <a:avLst/>
            <a:gdLst/>
            <a:ahLst/>
            <a:cxnLst/>
            <a:rect l="l" t="t" r="r" b="b"/>
            <a:pathLst>
              <a:path w="7015893" h="3520702">
                <a:moveTo>
                  <a:pt x="0" y="0"/>
                </a:moveTo>
                <a:lnTo>
                  <a:pt x="7015893" y="0"/>
                </a:lnTo>
                <a:lnTo>
                  <a:pt x="7015893" y="3520702"/>
                </a:lnTo>
                <a:lnTo>
                  <a:pt x="0" y="3520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830161" y="2057400"/>
            <a:ext cx="6441464" cy="6416302"/>
            <a:chOff x="0" y="0"/>
            <a:chExt cx="6502400" cy="6477000"/>
          </a:xfrm>
        </p:grpSpPr>
        <p:sp>
          <p:nvSpPr>
            <p:cNvPr id="5" name="Freeform 5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-24712" r="-24712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025A1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1907551" y="800100"/>
            <a:ext cx="2131017" cy="457200"/>
          </a:xfrm>
          <a:custGeom>
            <a:avLst/>
            <a:gdLst/>
            <a:ahLst/>
            <a:cxnLst/>
            <a:rect l="l" t="t" r="r" b="b"/>
            <a:pathLst>
              <a:path w="2131017" h="457200">
                <a:moveTo>
                  <a:pt x="0" y="0"/>
                </a:moveTo>
                <a:lnTo>
                  <a:pt x="2131017" y="0"/>
                </a:lnTo>
                <a:lnTo>
                  <a:pt x="213101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0738" y="1033445"/>
            <a:ext cx="10899423" cy="784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4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orizon" panose="020B0604020202020204" charset="0"/>
              </a:rPr>
              <a:t>Characteristics</a:t>
            </a:r>
            <a:endParaRPr lang="en-US" sz="4400" b="1" dirty="0">
              <a:solidFill>
                <a:schemeClr val="tx2">
                  <a:lumMod val="60000"/>
                  <a:lumOff val="40000"/>
                </a:schemeClr>
              </a:solidFill>
              <a:latin typeface="Horizon" panose="020B0604020202020204" charset="0"/>
              <a:ea typeface="Horizon"/>
              <a:cs typeface="Horizon"/>
              <a:sym typeface="Horizon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963578" y="2133929"/>
            <a:ext cx="9831431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2800" b="1" dirty="0" err="1">
                <a:solidFill>
                  <a:schemeClr val="bg1"/>
                </a:solidFill>
              </a:rPr>
              <a:t>Visualisasi</a:t>
            </a:r>
            <a:r>
              <a:rPr lang="en-US" sz="2800" b="1" dirty="0">
                <a:solidFill>
                  <a:schemeClr val="bg1"/>
                </a:solidFill>
              </a:rPr>
              <a:t>: </a:t>
            </a:r>
            <a:r>
              <a:rPr lang="en-US" sz="2800" dirty="0" err="1">
                <a:solidFill>
                  <a:schemeClr val="bg1"/>
                </a:solidFill>
              </a:rPr>
              <a:t>Memvisualisasikan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urutan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aktivitas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atau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langkah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dalam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sebuah</a:t>
            </a:r>
            <a:r>
              <a:rPr lang="en-US" sz="2800" dirty="0">
                <a:solidFill>
                  <a:schemeClr val="bg1"/>
                </a:solidFill>
              </a:rPr>
              <a:t> proses </a:t>
            </a:r>
            <a:r>
              <a:rPr lang="en-US" sz="2800" dirty="0" err="1">
                <a:solidFill>
                  <a:schemeClr val="bg1"/>
                </a:solidFill>
              </a:rPr>
              <a:t>bisnis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b="1" dirty="0" err="1">
                <a:solidFill>
                  <a:schemeClr val="bg1"/>
                </a:solidFill>
              </a:rPr>
              <a:t>Struktur</a:t>
            </a:r>
            <a:r>
              <a:rPr lang="en-US" sz="2800" b="1" dirty="0">
                <a:solidFill>
                  <a:schemeClr val="bg1"/>
                </a:solidFill>
              </a:rPr>
              <a:t>: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Menyediakan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struktur</a:t>
            </a:r>
            <a:r>
              <a:rPr lang="en-US" sz="2800" dirty="0">
                <a:solidFill>
                  <a:schemeClr val="bg1"/>
                </a:solidFill>
              </a:rPr>
              <a:t> yang </a:t>
            </a:r>
            <a:r>
              <a:rPr lang="en-US" sz="2800" dirty="0" err="1">
                <a:solidFill>
                  <a:schemeClr val="bg1"/>
                </a:solidFill>
              </a:rPr>
              <a:t>jelas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untuk</a:t>
            </a:r>
            <a:r>
              <a:rPr lang="en-US" sz="2800" dirty="0">
                <a:solidFill>
                  <a:schemeClr val="bg1"/>
                </a:solidFill>
              </a:rPr>
              <a:t> proses, </a:t>
            </a:r>
            <a:r>
              <a:rPr lang="en-US" sz="2800" dirty="0" err="1">
                <a:solidFill>
                  <a:schemeClr val="bg1"/>
                </a:solidFill>
              </a:rPr>
              <a:t>menunjukkan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siapa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melakukan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apa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kapan</a:t>
            </a:r>
            <a:r>
              <a:rPr lang="en-US" sz="2800" dirty="0">
                <a:solidFill>
                  <a:schemeClr val="bg1"/>
                </a:solidFill>
              </a:rPr>
              <a:t>, dan </a:t>
            </a:r>
            <a:r>
              <a:rPr lang="en-US" sz="2800" dirty="0" err="1">
                <a:solidFill>
                  <a:schemeClr val="bg1"/>
                </a:solidFill>
              </a:rPr>
              <a:t>bagaimana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setiap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langkah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dijalankan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b="1" dirty="0" err="1">
                <a:solidFill>
                  <a:schemeClr val="bg1"/>
                </a:solidFill>
              </a:rPr>
              <a:t>Optimalisasi</a:t>
            </a:r>
            <a:r>
              <a:rPr lang="en-US" sz="2800" b="1" dirty="0">
                <a:solidFill>
                  <a:schemeClr val="bg1"/>
                </a:solidFill>
              </a:rPr>
              <a:t>: </a:t>
            </a:r>
            <a:r>
              <a:rPr lang="en-US" sz="2800" dirty="0" err="1">
                <a:solidFill>
                  <a:schemeClr val="bg1"/>
                </a:solidFill>
              </a:rPr>
              <a:t>Membantu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mengidentifikasi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inefisiensi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hambatan</a:t>
            </a:r>
            <a:r>
              <a:rPr lang="en-US" sz="2800" dirty="0">
                <a:solidFill>
                  <a:schemeClr val="bg1"/>
                </a:solidFill>
              </a:rPr>
              <a:t> (bottleneck), </a:t>
            </a:r>
            <a:r>
              <a:rPr lang="en-US" sz="2800" dirty="0" err="1">
                <a:solidFill>
                  <a:schemeClr val="bg1"/>
                </a:solidFill>
              </a:rPr>
              <a:t>atau</a:t>
            </a:r>
            <a:r>
              <a:rPr lang="en-US" sz="2800" dirty="0">
                <a:solidFill>
                  <a:schemeClr val="bg1"/>
                </a:solidFill>
              </a:rPr>
              <a:t> area yang </a:t>
            </a:r>
            <a:r>
              <a:rPr lang="en-US" sz="2800" dirty="0" err="1">
                <a:solidFill>
                  <a:schemeClr val="bg1"/>
                </a:solidFill>
              </a:rPr>
              <a:t>bisa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ditingkatkan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dalam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alur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kerja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b="1" dirty="0">
                <a:solidFill>
                  <a:schemeClr val="bg1"/>
                </a:solidFill>
              </a:rPr>
              <a:t>Dokumentasi: </a:t>
            </a:r>
            <a:r>
              <a:rPr lang="en-US" sz="2800" dirty="0" err="1">
                <a:solidFill>
                  <a:schemeClr val="bg1"/>
                </a:solidFill>
              </a:rPr>
              <a:t>Berfungsi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sebagai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dokumen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rinci</a:t>
            </a:r>
            <a:r>
              <a:rPr lang="en-US" sz="2800" dirty="0">
                <a:solidFill>
                  <a:schemeClr val="bg1"/>
                </a:solidFill>
              </a:rPr>
              <a:t> yang </a:t>
            </a:r>
            <a:r>
              <a:rPr lang="en-US" sz="2800" dirty="0" err="1">
                <a:solidFill>
                  <a:schemeClr val="bg1"/>
                </a:solidFill>
              </a:rPr>
              <a:t>menjelaskan</a:t>
            </a:r>
            <a:r>
              <a:rPr lang="en-US" sz="2800" dirty="0">
                <a:solidFill>
                  <a:schemeClr val="bg1"/>
                </a:solidFill>
              </a:rPr>
              <a:t> proses-proses </a:t>
            </a:r>
            <a:r>
              <a:rPr lang="en-US" sz="2800" dirty="0" err="1">
                <a:solidFill>
                  <a:schemeClr val="bg1"/>
                </a:solidFill>
              </a:rPr>
              <a:t>dalam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organisasi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berguna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untuk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standar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operasional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atau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pelatihan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b="1" dirty="0" err="1">
                <a:solidFill>
                  <a:schemeClr val="bg1"/>
                </a:solidFill>
              </a:rPr>
              <a:t>Keterlibatan</a:t>
            </a:r>
            <a:r>
              <a:rPr lang="en-US" sz="2800" b="1" dirty="0">
                <a:solidFill>
                  <a:schemeClr val="bg1"/>
                </a:solidFill>
              </a:rPr>
              <a:t> Aktor: </a:t>
            </a:r>
            <a:r>
              <a:rPr lang="en-US" sz="2800" dirty="0" err="1">
                <a:solidFill>
                  <a:schemeClr val="bg1"/>
                </a:solidFill>
              </a:rPr>
              <a:t>Menggambarkan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keterlibatan</a:t>
            </a:r>
            <a:r>
              <a:rPr lang="en-US" sz="2800" dirty="0">
                <a:solidFill>
                  <a:schemeClr val="bg1"/>
                </a:solidFill>
              </a:rPr>
              <a:t> orang, </a:t>
            </a:r>
            <a:r>
              <a:rPr lang="en-US" sz="2800" dirty="0" err="1">
                <a:solidFill>
                  <a:schemeClr val="bg1"/>
                </a:solidFill>
              </a:rPr>
              <a:t>tim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atau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sistem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dalam</a:t>
            </a:r>
            <a:r>
              <a:rPr lang="en-US" sz="2800" dirty="0">
                <a:solidFill>
                  <a:schemeClr val="bg1"/>
                </a:solidFill>
              </a:rPr>
              <a:t> proses, </a:t>
            </a:r>
            <a:r>
              <a:rPr lang="en-US" sz="2800" dirty="0" err="1">
                <a:solidFill>
                  <a:schemeClr val="bg1"/>
                </a:solidFill>
              </a:rPr>
              <a:t>seperti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karyawan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pelanggan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atau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perangkat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lunak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5507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3019702" y="3383149"/>
            <a:ext cx="7015893" cy="3520702"/>
          </a:xfrm>
          <a:custGeom>
            <a:avLst/>
            <a:gdLst/>
            <a:ahLst/>
            <a:cxnLst/>
            <a:rect l="l" t="t" r="r" b="b"/>
            <a:pathLst>
              <a:path w="7015893" h="3520702">
                <a:moveTo>
                  <a:pt x="0" y="0"/>
                </a:moveTo>
                <a:lnTo>
                  <a:pt x="7015893" y="0"/>
                </a:lnTo>
                <a:lnTo>
                  <a:pt x="7015893" y="3520702"/>
                </a:lnTo>
                <a:lnTo>
                  <a:pt x="0" y="3520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817836" y="1935349"/>
            <a:ext cx="6441464" cy="6416302"/>
            <a:chOff x="0" y="0"/>
            <a:chExt cx="6502400" cy="6477000"/>
          </a:xfrm>
        </p:grpSpPr>
        <p:sp>
          <p:nvSpPr>
            <p:cNvPr id="5" name="Freeform 5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-24712" r="-24712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025A1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1907551" y="800100"/>
            <a:ext cx="2131017" cy="457200"/>
          </a:xfrm>
          <a:custGeom>
            <a:avLst/>
            <a:gdLst/>
            <a:ahLst/>
            <a:cxnLst/>
            <a:rect l="l" t="t" r="r" b="b"/>
            <a:pathLst>
              <a:path w="2131017" h="457200">
                <a:moveTo>
                  <a:pt x="0" y="0"/>
                </a:moveTo>
                <a:lnTo>
                  <a:pt x="2131017" y="0"/>
                </a:lnTo>
                <a:lnTo>
                  <a:pt x="213101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0738" y="859825"/>
            <a:ext cx="10899423" cy="823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orizon" panose="020B0604020202020204" charset="0"/>
              </a:rPr>
              <a:t>Elements</a:t>
            </a:r>
            <a:endParaRPr lang="en-US" sz="5400" b="1" dirty="0">
              <a:solidFill>
                <a:schemeClr val="tx2">
                  <a:lumMod val="60000"/>
                  <a:lumOff val="40000"/>
                </a:schemeClr>
              </a:solidFill>
              <a:latin typeface="Horizon" panose="020B0604020202020204" charset="0"/>
              <a:ea typeface="Horizon"/>
              <a:cs typeface="Horizon"/>
              <a:sym typeface="Horizon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719280" y="2384077"/>
            <a:ext cx="8702342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2800" b="1" dirty="0" err="1">
                <a:solidFill>
                  <a:schemeClr val="bg1"/>
                </a:solidFill>
              </a:rPr>
              <a:t>Aktivitas</a:t>
            </a:r>
            <a:r>
              <a:rPr lang="en-US" sz="2800" b="1" dirty="0">
                <a:solidFill>
                  <a:schemeClr val="bg1"/>
                </a:solidFill>
              </a:rPr>
              <a:t>/Proses: </a:t>
            </a:r>
            <a:r>
              <a:rPr lang="en-US" sz="2800" dirty="0">
                <a:solidFill>
                  <a:schemeClr val="bg1"/>
                </a:solidFill>
              </a:rPr>
              <a:t>Langkah-</a:t>
            </a:r>
            <a:r>
              <a:rPr lang="en-US" sz="2800" dirty="0" err="1">
                <a:solidFill>
                  <a:schemeClr val="bg1"/>
                </a:solidFill>
              </a:rPr>
              <a:t>langkah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atau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tugas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spesifik</a:t>
            </a:r>
            <a:r>
              <a:rPr lang="en-US" sz="2800" dirty="0">
                <a:solidFill>
                  <a:schemeClr val="bg1"/>
                </a:solidFill>
              </a:rPr>
              <a:t> yang </a:t>
            </a:r>
            <a:r>
              <a:rPr lang="en-US" sz="2800" dirty="0" err="1">
                <a:solidFill>
                  <a:schemeClr val="bg1"/>
                </a:solidFill>
              </a:rPr>
              <a:t>harus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dilakukan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b="1" dirty="0">
                <a:solidFill>
                  <a:schemeClr val="bg1"/>
                </a:solidFill>
              </a:rPr>
              <a:t>Aktor: </a:t>
            </a:r>
            <a:r>
              <a:rPr lang="en-US" sz="2800" dirty="0">
                <a:solidFill>
                  <a:schemeClr val="bg1"/>
                </a:solidFill>
              </a:rPr>
              <a:t>Orang, </a:t>
            </a:r>
            <a:r>
              <a:rPr lang="en-US" sz="2800" dirty="0" err="1">
                <a:solidFill>
                  <a:schemeClr val="bg1"/>
                </a:solidFill>
              </a:rPr>
              <a:t>tim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atau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sistem</a:t>
            </a:r>
            <a:r>
              <a:rPr lang="en-US" sz="2800" dirty="0">
                <a:solidFill>
                  <a:schemeClr val="bg1"/>
                </a:solidFill>
              </a:rPr>
              <a:t> yang </a:t>
            </a:r>
            <a:r>
              <a:rPr lang="en-US" sz="2800" dirty="0" err="1">
                <a:solidFill>
                  <a:schemeClr val="bg1"/>
                </a:solidFill>
              </a:rPr>
              <a:t>bertanggung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jawab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untuk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melaksanakan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tugas-tugas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tersebut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b="1" dirty="0">
                <a:solidFill>
                  <a:schemeClr val="bg1"/>
                </a:solidFill>
              </a:rPr>
              <a:t>Alur </a:t>
            </a:r>
            <a:r>
              <a:rPr lang="en-US" sz="2800" b="1" dirty="0" err="1">
                <a:solidFill>
                  <a:schemeClr val="bg1"/>
                </a:solidFill>
              </a:rPr>
              <a:t>Kerja</a:t>
            </a:r>
            <a:r>
              <a:rPr lang="en-US" sz="2800" b="1" dirty="0">
                <a:solidFill>
                  <a:schemeClr val="bg1"/>
                </a:solidFill>
              </a:rPr>
              <a:t> (Workflow): </a:t>
            </a:r>
            <a:r>
              <a:rPr lang="en-US" sz="2800" dirty="0" err="1">
                <a:solidFill>
                  <a:schemeClr val="bg1"/>
                </a:solidFill>
              </a:rPr>
              <a:t>Urutan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aktivitas</a:t>
            </a:r>
            <a:r>
              <a:rPr lang="en-US" sz="2800" dirty="0">
                <a:solidFill>
                  <a:schemeClr val="bg1"/>
                </a:solidFill>
              </a:rPr>
              <a:t> dan </a:t>
            </a:r>
            <a:r>
              <a:rPr lang="en-US" sz="2800" dirty="0" err="1">
                <a:solidFill>
                  <a:schemeClr val="bg1"/>
                </a:solidFill>
              </a:rPr>
              <a:t>bagaimana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informasi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atau</a:t>
            </a:r>
            <a:r>
              <a:rPr lang="en-US" sz="2800" dirty="0">
                <a:solidFill>
                  <a:schemeClr val="bg1"/>
                </a:solidFill>
              </a:rPr>
              <a:t> material </a:t>
            </a:r>
            <a:r>
              <a:rPr lang="en-US" sz="2800" dirty="0" err="1">
                <a:solidFill>
                  <a:schemeClr val="bg1"/>
                </a:solidFill>
              </a:rPr>
              <a:t>mengalir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dari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satu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langkah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ke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langkah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berikutnya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b="1" dirty="0">
                <a:solidFill>
                  <a:schemeClr val="bg1"/>
                </a:solidFill>
              </a:rPr>
              <a:t>Keputusan/</a:t>
            </a:r>
            <a:r>
              <a:rPr lang="en-US" sz="2800" b="1" dirty="0" err="1">
                <a:solidFill>
                  <a:schemeClr val="bg1"/>
                </a:solidFill>
              </a:rPr>
              <a:t>Gerbang</a:t>
            </a:r>
            <a:r>
              <a:rPr lang="en-US" sz="2800" b="1" dirty="0">
                <a:solidFill>
                  <a:schemeClr val="bg1"/>
                </a:solidFill>
              </a:rPr>
              <a:t> (Decisions/Gateways): </a:t>
            </a:r>
            <a:r>
              <a:rPr lang="en-US" sz="2800" dirty="0" err="1">
                <a:solidFill>
                  <a:schemeClr val="bg1"/>
                </a:solidFill>
              </a:rPr>
              <a:t>Titik-titik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keputusan</a:t>
            </a:r>
            <a:r>
              <a:rPr lang="en-US" sz="2800" dirty="0">
                <a:solidFill>
                  <a:schemeClr val="bg1"/>
                </a:solidFill>
              </a:rPr>
              <a:t> yang </a:t>
            </a:r>
            <a:r>
              <a:rPr lang="en-US" sz="2800" dirty="0" err="1">
                <a:solidFill>
                  <a:schemeClr val="bg1"/>
                </a:solidFill>
              </a:rPr>
              <a:t>menentukan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arah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alur</a:t>
            </a:r>
            <a:r>
              <a:rPr lang="en-US" sz="2800" dirty="0">
                <a:solidFill>
                  <a:schemeClr val="bg1"/>
                </a:solidFill>
              </a:rPr>
              <a:t> proses </a:t>
            </a:r>
            <a:r>
              <a:rPr lang="en-US" sz="2800" dirty="0" err="1">
                <a:solidFill>
                  <a:schemeClr val="bg1"/>
                </a:solidFill>
              </a:rPr>
              <a:t>berdasarkan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kondisi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tertentu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b="1" dirty="0" err="1">
                <a:solidFill>
                  <a:schemeClr val="bg1"/>
                </a:solidFill>
              </a:rPr>
              <a:t>Sumber</a:t>
            </a:r>
            <a:r>
              <a:rPr lang="en-US" sz="2800" b="1" dirty="0">
                <a:solidFill>
                  <a:schemeClr val="bg1"/>
                </a:solidFill>
              </a:rPr>
              <a:t> Daya (Resources): </a:t>
            </a:r>
            <a:r>
              <a:rPr lang="en-US" sz="2800" dirty="0" err="1">
                <a:solidFill>
                  <a:schemeClr val="bg1"/>
                </a:solidFill>
              </a:rPr>
              <a:t>Sumber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daya</a:t>
            </a:r>
            <a:r>
              <a:rPr lang="en-US" sz="2800" dirty="0">
                <a:solidFill>
                  <a:schemeClr val="bg1"/>
                </a:solidFill>
              </a:rPr>
              <a:t> yang </a:t>
            </a:r>
            <a:r>
              <a:rPr lang="en-US" sz="2800" dirty="0" err="1">
                <a:solidFill>
                  <a:schemeClr val="bg1"/>
                </a:solidFill>
              </a:rPr>
              <a:t>dibutuhkan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untuk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menjalankan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tugas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seperti</a:t>
            </a:r>
            <a:r>
              <a:rPr lang="en-US" sz="2800" dirty="0">
                <a:solidFill>
                  <a:schemeClr val="bg1"/>
                </a:solidFill>
              </a:rPr>
              <a:t> data, </a:t>
            </a:r>
            <a:r>
              <a:rPr lang="en-US" sz="2800" dirty="0" err="1">
                <a:solidFill>
                  <a:schemeClr val="bg1"/>
                </a:solidFill>
              </a:rPr>
              <a:t>informasi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atau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peralatan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964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22071" y="297804"/>
            <a:ext cx="17233272" cy="1605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4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orizon" panose="020B0604020202020204" charset="0"/>
              </a:rPr>
              <a:t>Business Process Model AND Notation (BPMN)</a:t>
            </a:r>
            <a:endParaRPr lang="en-US" sz="4400" b="1" dirty="0">
              <a:solidFill>
                <a:schemeClr val="tx2">
                  <a:lumMod val="60000"/>
                  <a:lumOff val="40000"/>
                </a:schemeClr>
              </a:solidFill>
              <a:latin typeface="Horizon" panose="020B0604020202020204" charset="0"/>
              <a:ea typeface="Horizon"/>
              <a:cs typeface="Horizon"/>
              <a:sym typeface="Horizon"/>
            </a:endParaRP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BB6F501A-4E9F-0DED-5F41-124711B9B01E}"/>
              </a:ext>
            </a:extLst>
          </p:cNvPr>
          <p:cNvSpPr txBox="1"/>
          <p:nvPr/>
        </p:nvSpPr>
        <p:spPr>
          <a:xfrm>
            <a:off x="1752600" y="3419951"/>
            <a:ext cx="153924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ID" sz="3600" dirty="0">
              <a:latin typeface="+mj-lt"/>
            </a:endParaRPr>
          </a:p>
        </p:txBody>
      </p:sp>
      <p:pic>
        <p:nvPicPr>
          <p:cNvPr id="2050" name="Picture 2" descr="Employee Recruitment BPMN">
            <a:extLst>
              <a:ext uri="{FF2B5EF4-FFF2-40B4-BE49-F238E27FC236}">
                <a16:creationId xmlns:a16="http://schemas.microsoft.com/office/drawing/2014/main" id="{4A158406-DE09-17DE-B9C3-7871A14E8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4" y="2075636"/>
            <a:ext cx="15544800" cy="800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7B901B-40C0-D942-7377-1CA574DC7AE4}"/>
              </a:ext>
            </a:extLst>
          </p:cNvPr>
          <p:cNvCxnSpPr/>
          <p:nvPr/>
        </p:nvCxnSpPr>
        <p:spPr>
          <a:xfrm flipV="1">
            <a:off x="10896600" y="5829300"/>
            <a:ext cx="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291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095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12272" y="814194"/>
            <a:ext cx="13251216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000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Value stream mapping</a:t>
            </a:r>
          </a:p>
        </p:txBody>
      </p:sp>
      <p:sp>
        <p:nvSpPr>
          <p:cNvPr id="50" name="TextBox 11">
            <a:extLst>
              <a:ext uri="{FF2B5EF4-FFF2-40B4-BE49-F238E27FC236}">
                <a16:creationId xmlns:a16="http://schemas.microsoft.com/office/drawing/2014/main" id="{659EBD8C-FDCE-0F9E-79C1-DE1AEA6637D3}"/>
              </a:ext>
            </a:extLst>
          </p:cNvPr>
          <p:cNvSpPr txBox="1"/>
          <p:nvPr/>
        </p:nvSpPr>
        <p:spPr>
          <a:xfrm>
            <a:off x="1274364" y="6342721"/>
            <a:ext cx="808289" cy="8898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</a:pPr>
            <a:endParaRPr/>
          </a:p>
        </p:txBody>
      </p:sp>
      <p:pic>
        <p:nvPicPr>
          <p:cNvPr id="1026" name="Picture 2" descr="Steps to Powerful Value Stream Mapping">
            <a:extLst>
              <a:ext uri="{FF2B5EF4-FFF2-40B4-BE49-F238E27FC236}">
                <a16:creationId xmlns:a16="http://schemas.microsoft.com/office/drawing/2014/main" id="{0145A5D8-3910-71B1-B23D-C5B2F8B95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507" y="1798465"/>
            <a:ext cx="15676164" cy="848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980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095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12272" y="814194"/>
            <a:ext cx="16866128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000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Unified Modeling Language</a:t>
            </a:r>
          </a:p>
        </p:txBody>
      </p:sp>
      <p:sp>
        <p:nvSpPr>
          <p:cNvPr id="50" name="TextBox 11">
            <a:extLst>
              <a:ext uri="{FF2B5EF4-FFF2-40B4-BE49-F238E27FC236}">
                <a16:creationId xmlns:a16="http://schemas.microsoft.com/office/drawing/2014/main" id="{659EBD8C-FDCE-0F9E-79C1-DE1AEA6637D3}"/>
              </a:ext>
            </a:extLst>
          </p:cNvPr>
          <p:cNvSpPr txBox="1"/>
          <p:nvPr/>
        </p:nvSpPr>
        <p:spPr>
          <a:xfrm>
            <a:off x="1274364" y="6342721"/>
            <a:ext cx="808289" cy="8898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8458D-8436-2509-9D34-97F2E0873C7F}"/>
              </a:ext>
            </a:extLst>
          </p:cNvPr>
          <p:cNvSpPr txBox="1"/>
          <p:nvPr/>
        </p:nvSpPr>
        <p:spPr>
          <a:xfrm>
            <a:off x="812272" y="2030402"/>
            <a:ext cx="17170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</a:rPr>
              <a:t>Unified Modeling Language (UML) </a:t>
            </a:r>
            <a:r>
              <a:rPr lang="en-US" sz="2400" dirty="0" err="1">
                <a:solidFill>
                  <a:schemeClr val="bg1"/>
                </a:solidFill>
              </a:rPr>
              <a:t>adalah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bahasa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pemodelan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terstandar</a:t>
            </a:r>
            <a:r>
              <a:rPr lang="en-US" sz="2400" dirty="0">
                <a:solidFill>
                  <a:schemeClr val="bg1"/>
                </a:solidFill>
              </a:rPr>
              <a:t> yang </a:t>
            </a:r>
            <a:r>
              <a:rPr lang="en-US" sz="2400" dirty="0" err="1">
                <a:solidFill>
                  <a:schemeClr val="bg1"/>
                </a:solidFill>
              </a:rPr>
              <a:t>digunakan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untuk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memvisualisasikan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merancang</a:t>
            </a:r>
            <a:r>
              <a:rPr lang="en-US" sz="2400" dirty="0">
                <a:solidFill>
                  <a:schemeClr val="bg1"/>
                </a:solidFill>
              </a:rPr>
              <a:t>, dan </a:t>
            </a:r>
            <a:r>
              <a:rPr lang="en-US" sz="2400" dirty="0" err="1">
                <a:solidFill>
                  <a:schemeClr val="bg1"/>
                </a:solidFill>
              </a:rPr>
              <a:t>mendokumentasikan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sistem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perangkat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lunak</a:t>
            </a:r>
            <a:r>
              <a:rPr lang="en-US" sz="2400" dirty="0">
                <a:solidFill>
                  <a:schemeClr val="bg1"/>
                </a:solidFill>
              </a:rPr>
              <a:t>. UML </a:t>
            </a:r>
            <a:r>
              <a:rPr lang="en-US" sz="2400" dirty="0" err="1">
                <a:solidFill>
                  <a:schemeClr val="bg1"/>
                </a:solidFill>
              </a:rPr>
              <a:t>membantu</a:t>
            </a:r>
            <a:r>
              <a:rPr lang="en-US" sz="2400" dirty="0">
                <a:solidFill>
                  <a:schemeClr val="bg1"/>
                </a:solidFill>
              </a:rPr>
              <a:t> para </a:t>
            </a:r>
            <a:r>
              <a:rPr lang="en-US" sz="2400" dirty="0" err="1">
                <a:solidFill>
                  <a:schemeClr val="bg1"/>
                </a:solidFill>
              </a:rPr>
              <a:t>pengembang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dalam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merepresentasikan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struktur</a:t>
            </a:r>
            <a:r>
              <a:rPr lang="en-US" sz="2400" dirty="0">
                <a:solidFill>
                  <a:schemeClr val="bg1"/>
                </a:solidFill>
              </a:rPr>
              <a:t> dan </a:t>
            </a:r>
            <a:r>
              <a:rPr lang="en-US" sz="2400" dirty="0" err="1">
                <a:solidFill>
                  <a:schemeClr val="bg1"/>
                </a:solidFill>
              </a:rPr>
              <a:t>perilaku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suatu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sistem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melalui</a:t>
            </a:r>
            <a:r>
              <a:rPr lang="en-US" sz="2400" dirty="0">
                <a:solidFill>
                  <a:schemeClr val="bg1"/>
                </a:solidFill>
              </a:rPr>
              <a:t> diagram yang </a:t>
            </a:r>
            <a:r>
              <a:rPr lang="en-US" sz="2400" dirty="0" err="1">
                <a:solidFill>
                  <a:schemeClr val="bg1"/>
                </a:solidFill>
              </a:rPr>
              <a:t>mudah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dipahami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  <a:r>
              <a:rPr lang="en-US" sz="2400" dirty="0" err="1">
                <a:solidFill>
                  <a:schemeClr val="bg1"/>
                </a:solidFill>
              </a:rPr>
              <a:t>Penggunaannya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tidak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terbatas</a:t>
            </a:r>
            <a:r>
              <a:rPr lang="en-US" sz="2400" dirty="0">
                <a:solidFill>
                  <a:schemeClr val="bg1"/>
                </a:solidFill>
              </a:rPr>
              <a:t> pada </a:t>
            </a:r>
            <a:r>
              <a:rPr lang="en-US" sz="2400" dirty="0" err="1">
                <a:solidFill>
                  <a:schemeClr val="bg1"/>
                </a:solidFill>
              </a:rPr>
              <a:t>sistem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perangkat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lunak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tetapi</a:t>
            </a:r>
            <a:r>
              <a:rPr lang="en-US" sz="2400" dirty="0">
                <a:solidFill>
                  <a:schemeClr val="bg1"/>
                </a:solidFill>
              </a:rPr>
              <a:t> juga </a:t>
            </a:r>
            <a:r>
              <a:rPr lang="en-US" sz="2400" dirty="0" err="1">
                <a:solidFill>
                  <a:schemeClr val="bg1"/>
                </a:solidFill>
              </a:rPr>
              <a:t>dapat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diterapkan</a:t>
            </a:r>
            <a:r>
              <a:rPr lang="en-US" sz="2400" dirty="0">
                <a:solidFill>
                  <a:schemeClr val="bg1"/>
                </a:solidFill>
              </a:rPr>
              <a:t> pada proses </a:t>
            </a:r>
            <a:r>
              <a:rPr lang="en-US" sz="2400" dirty="0" err="1">
                <a:solidFill>
                  <a:schemeClr val="bg1"/>
                </a:solidFill>
              </a:rPr>
              <a:t>bisnis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atau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sistem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lainnya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FE3049-BF20-CF1A-8953-94E78BA2F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554" y="3846284"/>
            <a:ext cx="11808892" cy="633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64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095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12272" y="814194"/>
            <a:ext cx="16866128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00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Flowchart</a:t>
            </a:r>
            <a:endParaRPr lang="en-US" sz="5000" dirty="0">
              <a:solidFill>
                <a:srgbClr val="5BA3F8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50" name="TextBox 11">
            <a:extLst>
              <a:ext uri="{FF2B5EF4-FFF2-40B4-BE49-F238E27FC236}">
                <a16:creationId xmlns:a16="http://schemas.microsoft.com/office/drawing/2014/main" id="{659EBD8C-FDCE-0F9E-79C1-DE1AEA6637D3}"/>
              </a:ext>
            </a:extLst>
          </p:cNvPr>
          <p:cNvSpPr txBox="1"/>
          <p:nvPr/>
        </p:nvSpPr>
        <p:spPr>
          <a:xfrm>
            <a:off x="1274364" y="6342721"/>
            <a:ext cx="808289" cy="8898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475D17-FCC9-ABF8-8755-02E2102EB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152456"/>
            <a:ext cx="6980301" cy="810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1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C7ED-9821-E88B-D448-19DFA751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8CDA04-01BC-72B9-6036-BD5118D37499}"/>
              </a:ext>
            </a:extLst>
          </p:cNvPr>
          <p:cNvSpPr/>
          <p:nvPr/>
        </p:nvSpPr>
        <p:spPr>
          <a:xfrm>
            <a:off x="36095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38FF4AD-8ED4-55B3-EE1C-00480A3D1C5A}"/>
              </a:ext>
            </a:extLst>
          </p:cNvPr>
          <p:cNvSpPr txBox="1"/>
          <p:nvPr/>
        </p:nvSpPr>
        <p:spPr>
          <a:xfrm>
            <a:off x="2362200" y="4312726"/>
            <a:ext cx="16866128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440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Kuis pertemuan minggu ke 2</a:t>
            </a:r>
            <a:endParaRPr lang="en-US" sz="4400" dirty="0">
              <a:solidFill>
                <a:srgbClr val="5BA3F8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50" name="TextBox 11">
            <a:extLst>
              <a:ext uri="{FF2B5EF4-FFF2-40B4-BE49-F238E27FC236}">
                <a16:creationId xmlns:a16="http://schemas.microsoft.com/office/drawing/2014/main" id="{0BE9A86D-DEE9-745A-E08A-AA46370FB108}"/>
              </a:ext>
            </a:extLst>
          </p:cNvPr>
          <p:cNvSpPr txBox="1"/>
          <p:nvPr/>
        </p:nvSpPr>
        <p:spPr>
          <a:xfrm>
            <a:off x="1274364" y="6342721"/>
            <a:ext cx="808289" cy="8898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835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1767</TotalTime>
  <Words>387</Words>
  <Application>Microsoft Office PowerPoint</Application>
  <PresentationFormat>Custom</PresentationFormat>
  <Paragraphs>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Horizon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Hitam dan Biru Modern Pengembangan Bisnis Presentation</dc:title>
  <dc:creator>T U F</dc:creator>
  <cp:lastModifiedBy>Rosita Misiadi</cp:lastModifiedBy>
  <cp:revision>78</cp:revision>
  <dcterms:created xsi:type="dcterms:W3CDTF">2006-08-16T00:00:00Z</dcterms:created>
  <dcterms:modified xsi:type="dcterms:W3CDTF">2025-09-04T08:34:25Z</dcterms:modified>
  <dc:identifier>DAGQOzp5eD0</dc:identifier>
</cp:coreProperties>
</file>