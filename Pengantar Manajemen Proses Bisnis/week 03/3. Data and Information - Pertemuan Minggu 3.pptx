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81" r:id="rId3"/>
    <p:sldId id="258" r:id="rId4"/>
    <p:sldId id="277" r:id="rId5"/>
    <p:sldId id="292" r:id="rId6"/>
    <p:sldId id="291" r:id="rId7"/>
    <p:sldId id="289" r:id="rId8"/>
    <p:sldId id="290" r:id="rId9"/>
    <p:sldId id="286" r:id="rId10"/>
    <p:sldId id="288" r:id="rId11"/>
    <p:sldId id="285" r:id="rId12"/>
    <p:sldId id="282" r:id="rId13"/>
    <p:sldId id="279" r:id="rId14"/>
    <p:sldId id="283" r:id="rId15"/>
    <p:sldId id="284" r:id="rId16"/>
    <p:sldId id="287" r:id="rId17"/>
  </p:sldIdLst>
  <p:sldSz cx="18288000" cy="10287000"/>
  <p:notesSz cx="6858000" cy="9144000"/>
  <p:embeddedFontLst>
    <p:embeddedFont>
      <p:font typeface="Horizon" panose="020B0604020202020204" charset="0"/>
      <p:regular r:id="rId19"/>
    </p:embeddedFont>
    <p:embeddedFont>
      <p:font typeface="Open Sans" panose="020B0606030504020204" pitchFamily="34" charset="0"/>
      <p:regular r:id="rId20"/>
      <p:bold r:id="rId21"/>
      <p:italic r:id="rId22"/>
      <p:boldItalic r:id="rId23"/>
    </p:embeddedFont>
    <p:embeddedFont>
      <p:font typeface="Poppins" panose="00000500000000000000" pitchFamily="2" charset="0"/>
      <p:regular r:id="rId24"/>
      <p:bold r:id="rId25"/>
      <p:italic r:id="rId26"/>
      <p:boldItalic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78954" autoAdjust="0"/>
  </p:normalViewPr>
  <p:slideViewPr>
    <p:cSldViewPr>
      <p:cViewPr varScale="1">
        <p:scale>
          <a:sx n="41" d="100"/>
          <a:sy n="41" d="100"/>
        </p:scale>
        <p:origin x="143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648FF2-3AE9-4C9D-B971-1F713743036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D7595F-36AF-4FD5-9F6E-732F965AF5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337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D7595F-36AF-4FD5-9F6E-732F965AF55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6835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endParaRPr lang="en-US" b="0" i="0" dirty="0">
              <a:solidFill>
                <a:srgbClr val="000000"/>
              </a:solidFill>
              <a:effectLst/>
              <a:latin typeface="Plus Jakarta San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D7595F-36AF-4FD5-9F6E-732F965AF55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6342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D7595F-36AF-4FD5-9F6E-732F965AF55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7166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D7595F-36AF-4FD5-9F6E-732F965AF55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2297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A4232-B352-62AB-7D82-21CAACE59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F2073C-E4FB-0C64-C340-AA5A329A9F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D4FBEA-2DE1-C073-CA53-5110A7904F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endParaRPr lang="en-US" b="0" i="0" dirty="0">
              <a:solidFill>
                <a:srgbClr val="000000"/>
              </a:solidFill>
              <a:effectLst/>
              <a:latin typeface="Plus Jakarta San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AFC2AC-D5C3-E84B-77CF-531F82281E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D7595F-36AF-4FD5-9F6E-732F965AF55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0095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24790-A5EB-C3FF-F677-CB7858FE1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9CDAFC-2F38-9C97-19B6-ADA0250669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FBA06A-E383-391E-3EAE-21F0597824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977AFE-7EBD-BFF5-104F-779B59B5A6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D7595F-36AF-4FD5-9F6E-732F965AF55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5375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4FE15-D5FB-A1FE-572C-37A954841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F6289A-99FD-E51C-78CE-4DD04196FD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013E3B-9FE0-5CEE-81DC-B936DF4182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F9145-C6AC-BBCC-F539-7ABBD28A13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D7595F-36AF-4FD5-9F6E-732F965AF55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931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C6398-DF14-6D3A-4AEA-62A6A9176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5F5D4F-A2A8-52E2-718B-F744D117BC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4B5ADF-B29F-7E5E-2AA4-A53E27ADC9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endParaRPr lang="en-US" b="0" i="0" dirty="0">
              <a:solidFill>
                <a:srgbClr val="000000"/>
              </a:solidFill>
              <a:effectLst/>
              <a:latin typeface="Plus Jakarta San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3260AB-3D36-CED4-5A51-3C177979F3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D7595F-36AF-4FD5-9F6E-732F965AF55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0542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D7595F-36AF-4FD5-9F6E-732F965AF55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2600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D7595F-36AF-4FD5-9F6E-732F965AF55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2304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D7595F-36AF-4FD5-9F6E-732F965AF55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7460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D7595F-36AF-4FD5-9F6E-732F965AF55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3410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D7595F-36AF-4FD5-9F6E-732F965AF55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4779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D7595F-36AF-4FD5-9F6E-732F965AF55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3749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D7595F-36AF-4FD5-9F6E-732F965AF55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6921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D7595F-36AF-4FD5-9F6E-732F965AF55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2388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svg"/><Relationship Id="rId10" Type="http://schemas.openxmlformats.org/officeDocument/2006/relationships/image" Target="../media/image8.sv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597" r="-1559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764722" y="1769228"/>
            <a:ext cx="15600090" cy="7315200"/>
            <a:chOff x="0" y="0"/>
            <a:chExt cx="4108666" cy="192663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108666" cy="1926637"/>
            </a:xfrm>
            <a:custGeom>
              <a:avLst/>
              <a:gdLst/>
              <a:ahLst/>
              <a:cxnLst/>
              <a:rect l="l" t="t" r="r" b="b"/>
              <a:pathLst>
                <a:path w="4108666" h="1926637">
                  <a:moveTo>
                    <a:pt x="0" y="0"/>
                  </a:moveTo>
                  <a:lnTo>
                    <a:pt x="4108666" y="0"/>
                  </a:lnTo>
                  <a:lnTo>
                    <a:pt x="4108666" y="1926637"/>
                  </a:lnTo>
                  <a:lnTo>
                    <a:pt x="0" y="1926637"/>
                  </a:lnTo>
                  <a:close/>
                </a:path>
              </a:pathLst>
            </a:custGeom>
            <a:gradFill rotWithShape="1">
              <a:gsLst>
                <a:gs pos="0">
                  <a:srgbClr val="0B037B">
                    <a:alpha val="30000"/>
                  </a:srgbClr>
                </a:gs>
                <a:gs pos="100000">
                  <a:srgbClr val="5765E9">
                    <a:alpha val="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108666" cy="19647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5400000">
            <a:off x="8545518" y="3308050"/>
            <a:ext cx="7315200" cy="3670900"/>
          </a:xfrm>
          <a:custGeom>
            <a:avLst/>
            <a:gdLst/>
            <a:ahLst/>
            <a:cxnLst/>
            <a:rect l="l" t="t" r="r" b="b"/>
            <a:pathLst>
              <a:path w="7315200" h="3670900">
                <a:moveTo>
                  <a:pt x="0" y="0"/>
                </a:moveTo>
                <a:lnTo>
                  <a:pt x="7315200" y="0"/>
                </a:lnTo>
                <a:lnTo>
                  <a:pt x="7315200" y="3670900"/>
                </a:lnTo>
                <a:lnTo>
                  <a:pt x="0" y="3670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0817836" y="1935349"/>
            <a:ext cx="6441464" cy="6416302"/>
            <a:chOff x="0" y="0"/>
            <a:chExt cx="6502400" cy="6477000"/>
          </a:xfrm>
        </p:grpSpPr>
        <p:sp>
          <p:nvSpPr>
            <p:cNvPr id="8" name="Freeform 8"/>
            <p:cNvSpPr/>
            <p:nvPr/>
          </p:nvSpPr>
          <p:spPr>
            <a:xfrm>
              <a:off x="-23042" y="119185"/>
              <a:ext cx="6542159" cy="6244242"/>
            </a:xfrm>
            <a:custGeom>
              <a:avLst/>
              <a:gdLst/>
              <a:ahLst/>
              <a:cxnLst/>
              <a:rect l="l" t="t" r="r" b="b"/>
              <a:pathLst>
                <a:path w="6542159" h="6244242">
                  <a:moveTo>
                    <a:pt x="3271080" y="4996"/>
                  </a:moveTo>
                  <a:cubicBezTo>
                    <a:pt x="2154117" y="0"/>
                    <a:pt x="1119857" y="593026"/>
                    <a:pt x="559929" y="1559521"/>
                  </a:cubicBezTo>
                  <a:cubicBezTo>
                    <a:pt x="0" y="2526015"/>
                    <a:pt x="0" y="3718228"/>
                    <a:pt x="559929" y="4684723"/>
                  </a:cubicBezTo>
                  <a:cubicBezTo>
                    <a:pt x="1119857" y="5651217"/>
                    <a:pt x="2154117" y="6244243"/>
                    <a:pt x="3271080" y="6239248"/>
                  </a:cubicBezTo>
                  <a:cubicBezTo>
                    <a:pt x="4388043" y="6244243"/>
                    <a:pt x="5422303" y="5651217"/>
                    <a:pt x="5982231" y="4684723"/>
                  </a:cubicBezTo>
                  <a:cubicBezTo>
                    <a:pt x="6542160" y="3718229"/>
                    <a:pt x="6542160" y="2526015"/>
                    <a:pt x="5982231" y="1559521"/>
                  </a:cubicBezTo>
                  <a:cubicBezTo>
                    <a:pt x="5422303" y="593027"/>
                    <a:pt x="4388043" y="1"/>
                    <a:pt x="3271080" y="4996"/>
                  </a:cubicBezTo>
                  <a:close/>
                </a:path>
              </a:pathLst>
            </a:custGeom>
            <a:blipFill>
              <a:blip r:embed="rId6"/>
              <a:stretch>
                <a:fillRect l="-24572" r="-24572"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73038" y="66269"/>
              <a:ext cx="6350000" cy="6349987"/>
            </a:xfrm>
            <a:custGeom>
              <a:avLst/>
              <a:gdLst/>
              <a:ahLst/>
              <a:cxnLst/>
              <a:rect l="l" t="t" r="r" b="b"/>
              <a:pathLst>
                <a:path w="6350000" h="6349987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1025A1"/>
            </a:solidFill>
          </p:spPr>
        </p:sp>
      </p:grpSp>
      <p:sp>
        <p:nvSpPr>
          <p:cNvPr id="10" name="Freeform 10"/>
          <p:cNvSpPr/>
          <p:nvPr/>
        </p:nvSpPr>
        <p:spPr>
          <a:xfrm>
            <a:off x="1028700" y="8606150"/>
            <a:ext cx="1743454" cy="389900"/>
          </a:xfrm>
          <a:custGeom>
            <a:avLst/>
            <a:gdLst/>
            <a:ahLst/>
            <a:cxnLst/>
            <a:rect l="l" t="t" r="r" b="b"/>
            <a:pathLst>
              <a:path w="1743454" h="389900">
                <a:moveTo>
                  <a:pt x="0" y="0"/>
                </a:moveTo>
                <a:lnTo>
                  <a:pt x="1743454" y="0"/>
                </a:lnTo>
                <a:lnTo>
                  <a:pt x="1743454" y="389900"/>
                </a:lnTo>
                <a:lnTo>
                  <a:pt x="0" y="3899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8474389" y="1028700"/>
            <a:ext cx="2131017" cy="457200"/>
          </a:xfrm>
          <a:custGeom>
            <a:avLst/>
            <a:gdLst/>
            <a:ahLst/>
            <a:cxnLst/>
            <a:rect l="l" t="t" r="r" b="b"/>
            <a:pathLst>
              <a:path w="2131017" h="457200">
                <a:moveTo>
                  <a:pt x="0" y="0"/>
                </a:moveTo>
                <a:lnTo>
                  <a:pt x="2131017" y="0"/>
                </a:lnTo>
                <a:lnTo>
                  <a:pt x="2131017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211099" y="3016153"/>
            <a:ext cx="13051611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6000" spc="427" dirty="0">
                <a:solidFill>
                  <a:srgbClr val="5BA3F8"/>
                </a:solidFill>
                <a:latin typeface="Horizon"/>
                <a:ea typeface="Horizon"/>
                <a:cs typeface="Horizon"/>
                <a:sym typeface="Horizon"/>
              </a:rPr>
              <a:t>Data and Information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78428" y="5018761"/>
            <a:ext cx="7883157" cy="1218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Rosita, </a:t>
            </a:r>
            <a:r>
              <a:rPr lang="en-US" sz="3399" dirty="0" err="1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S.Pd</a:t>
            </a:r>
            <a:r>
              <a:rPr lang="en-US" sz="3399" dirty="0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3399" dirty="0" err="1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M.Pd</a:t>
            </a:r>
            <a:r>
              <a:rPr lang="en-US" sz="3399" dirty="0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>
              <a:lnSpc>
                <a:spcPts val="4759"/>
              </a:lnSpc>
            </a:pPr>
            <a:endParaRPr lang="en-US" sz="3399" dirty="0">
              <a:solidFill>
                <a:srgbClr val="F4F4F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475" r="-18719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1" name="TextBox 11"/>
          <p:cNvSpPr txBox="1"/>
          <p:nvPr/>
        </p:nvSpPr>
        <p:spPr>
          <a:xfrm>
            <a:off x="1427967" y="4000500"/>
            <a:ext cx="16191207" cy="16440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99"/>
              </a:lnSpc>
            </a:pPr>
            <a:r>
              <a:rPr lang="en-US" sz="5400" b="1">
                <a:solidFill>
                  <a:schemeClr val="tx2">
                    <a:lumMod val="60000"/>
                    <a:lumOff val="40000"/>
                  </a:schemeClr>
                </a:solidFill>
                <a:latin typeface="Horizon" panose="020B0604020202020204" charset="0"/>
              </a:rPr>
              <a:t>APA YANG DIMAKSUD DENGAN DATA???</a:t>
            </a:r>
            <a:endParaRPr lang="en-US" sz="5400" dirty="0">
              <a:solidFill>
                <a:srgbClr val="5BA3F8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1659D91D-A06C-1AF6-8691-6518CAA8B984}"/>
              </a:ext>
            </a:extLst>
          </p:cNvPr>
          <p:cNvSpPr/>
          <p:nvPr/>
        </p:nvSpPr>
        <p:spPr>
          <a:xfrm>
            <a:off x="9523571" y="66674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defTabSz="91440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20872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60A47A9-B8ED-0FE0-5428-70FA6E5552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820" y="437392"/>
            <a:ext cx="15678360" cy="94122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475" r="-18719"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13019702" y="3383149"/>
            <a:ext cx="7015893" cy="3520702"/>
          </a:xfrm>
          <a:custGeom>
            <a:avLst/>
            <a:gdLst/>
            <a:ahLst/>
            <a:cxnLst/>
            <a:rect l="l" t="t" r="r" b="b"/>
            <a:pathLst>
              <a:path w="7015893" h="3520702">
                <a:moveTo>
                  <a:pt x="0" y="0"/>
                </a:moveTo>
                <a:lnTo>
                  <a:pt x="7015893" y="0"/>
                </a:lnTo>
                <a:lnTo>
                  <a:pt x="7015893" y="3520702"/>
                </a:lnTo>
                <a:lnTo>
                  <a:pt x="0" y="35207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1907551" y="800100"/>
            <a:ext cx="2131017" cy="457200"/>
          </a:xfrm>
          <a:custGeom>
            <a:avLst/>
            <a:gdLst/>
            <a:ahLst/>
            <a:cxnLst/>
            <a:rect l="l" t="t" r="r" b="b"/>
            <a:pathLst>
              <a:path w="2131017" h="457200">
                <a:moveTo>
                  <a:pt x="0" y="0"/>
                </a:moveTo>
                <a:lnTo>
                  <a:pt x="2131017" y="0"/>
                </a:lnTo>
                <a:lnTo>
                  <a:pt x="2131017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08128" y="1186618"/>
            <a:ext cx="10899423" cy="8617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399"/>
              </a:lnSpc>
            </a:pPr>
            <a:r>
              <a:rPr lang="en-US" sz="6399" dirty="0">
                <a:solidFill>
                  <a:srgbClr val="5BA3F8"/>
                </a:solidFill>
                <a:latin typeface="Horizon"/>
                <a:ea typeface="Horizon"/>
                <a:cs typeface="Horizon"/>
                <a:sym typeface="Horizon"/>
              </a:rPr>
              <a:t>Definition</a:t>
            </a:r>
          </a:p>
        </p:txBody>
      </p:sp>
      <p:sp>
        <p:nvSpPr>
          <p:cNvPr id="19" name="TextBox 12">
            <a:extLst>
              <a:ext uri="{FF2B5EF4-FFF2-40B4-BE49-F238E27FC236}">
                <a16:creationId xmlns:a16="http://schemas.microsoft.com/office/drawing/2014/main" id="{EFC91264-E195-3ED7-5F34-1E55D174A2D4}"/>
              </a:ext>
            </a:extLst>
          </p:cNvPr>
          <p:cNvSpPr txBox="1"/>
          <p:nvPr/>
        </p:nvSpPr>
        <p:spPr>
          <a:xfrm>
            <a:off x="1008128" y="2781301"/>
            <a:ext cx="13030440" cy="4924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id-ID" sz="4000" b="1" noProof="0" dirty="0">
                <a:solidFill>
                  <a:schemeClr val="bg1"/>
                </a:solidFill>
              </a:rPr>
              <a:t>Data adalah </a:t>
            </a:r>
            <a:r>
              <a:rPr lang="id-ID" sz="4000" noProof="0" dirty="0">
                <a:solidFill>
                  <a:schemeClr val="bg1"/>
                </a:solidFill>
              </a:rPr>
              <a:t>fakta dan angka mentah yang belum diproses, sehingga tidak memiliki makna khusus. Data pada dasarnya adalah bahan dasar dari informasi. Ibaratnya seperti tumpukan batu bata yang menunggu untuk digunakan.</a:t>
            </a:r>
          </a:p>
          <a:p>
            <a:pPr algn="just"/>
            <a:endParaRPr lang="id-ID" sz="4000" noProof="0" dirty="0">
              <a:solidFill>
                <a:schemeClr val="bg1"/>
              </a:solidFill>
            </a:endParaRPr>
          </a:p>
          <a:p>
            <a:pPr algn="just"/>
            <a:endParaRPr lang="id-ID" sz="4000" noProof="0" dirty="0">
              <a:solidFill>
                <a:schemeClr val="bg1"/>
              </a:solidFill>
            </a:endParaRPr>
          </a:p>
          <a:p>
            <a:pPr algn="just"/>
            <a:endParaRPr lang="id-ID" sz="4000" noProof="0" dirty="0">
              <a:solidFill>
                <a:schemeClr val="bg1"/>
              </a:solidFill>
            </a:endParaRPr>
          </a:p>
          <a:p>
            <a:pPr algn="just"/>
            <a:endParaRPr lang="id-ID" sz="40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8212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9B679-4963-7582-28B7-1C47864EC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E95F818-77EE-7F4F-2D02-152480564DD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475" r="-18719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2E536B7-C8F0-EC5A-5D13-98B0B2243FDE}"/>
              </a:ext>
            </a:extLst>
          </p:cNvPr>
          <p:cNvSpPr txBox="1"/>
          <p:nvPr/>
        </p:nvSpPr>
        <p:spPr>
          <a:xfrm>
            <a:off x="1427967" y="4000500"/>
            <a:ext cx="16191207" cy="16440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99"/>
              </a:lnSpc>
            </a:pPr>
            <a:r>
              <a:rPr lang="en-US" sz="5400" b="1">
                <a:solidFill>
                  <a:schemeClr val="tx2">
                    <a:lumMod val="60000"/>
                    <a:lumOff val="40000"/>
                  </a:schemeClr>
                </a:solidFill>
                <a:latin typeface="Horizon" panose="020B0604020202020204" charset="0"/>
              </a:rPr>
              <a:t>APA YANG DIMAKSUD DENGAN INFORMASI???</a:t>
            </a:r>
            <a:endParaRPr lang="en-US" sz="5400" dirty="0">
              <a:solidFill>
                <a:srgbClr val="5BA3F8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62107BBD-BB27-D4D0-95D0-D70763748546}"/>
              </a:ext>
            </a:extLst>
          </p:cNvPr>
          <p:cNvSpPr/>
          <p:nvPr/>
        </p:nvSpPr>
        <p:spPr>
          <a:xfrm>
            <a:off x="9523571" y="66674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defTabSz="91440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17670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451FF-8E6A-7867-B7BA-2774D2CCE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6542B6C-BC2C-4371-306F-D9E0DC75745C}"/>
              </a:ext>
            </a:extLst>
          </p:cNvPr>
          <p:cNvSpPr/>
          <p:nvPr/>
        </p:nvSpPr>
        <p:spPr>
          <a:xfrm>
            <a:off x="0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475" r="-18719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F4B1A1C-0B41-9FF2-E8C5-81BB1ED811E5}"/>
              </a:ext>
            </a:extLst>
          </p:cNvPr>
          <p:cNvSpPr/>
          <p:nvPr/>
        </p:nvSpPr>
        <p:spPr>
          <a:xfrm rot="-5400000">
            <a:off x="13019702" y="3383149"/>
            <a:ext cx="7015893" cy="3520702"/>
          </a:xfrm>
          <a:custGeom>
            <a:avLst/>
            <a:gdLst/>
            <a:ahLst/>
            <a:cxnLst/>
            <a:rect l="l" t="t" r="r" b="b"/>
            <a:pathLst>
              <a:path w="7015893" h="3520702">
                <a:moveTo>
                  <a:pt x="0" y="0"/>
                </a:moveTo>
                <a:lnTo>
                  <a:pt x="7015893" y="0"/>
                </a:lnTo>
                <a:lnTo>
                  <a:pt x="7015893" y="3520702"/>
                </a:lnTo>
                <a:lnTo>
                  <a:pt x="0" y="35207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B14ABF0E-46E3-A8E5-BA71-7EF2B81CF833}"/>
              </a:ext>
            </a:extLst>
          </p:cNvPr>
          <p:cNvSpPr/>
          <p:nvPr/>
        </p:nvSpPr>
        <p:spPr>
          <a:xfrm>
            <a:off x="11907551" y="800100"/>
            <a:ext cx="2131017" cy="457200"/>
          </a:xfrm>
          <a:custGeom>
            <a:avLst/>
            <a:gdLst/>
            <a:ahLst/>
            <a:cxnLst/>
            <a:rect l="l" t="t" r="r" b="b"/>
            <a:pathLst>
              <a:path w="2131017" h="457200">
                <a:moveTo>
                  <a:pt x="0" y="0"/>
                </a:moveTo>
                <a:lnTo>
                  <a:pt x="2131017" y="0"/>
                </a:lnTo>
                <a:lnTo>
                  <a:pt x="2131017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6BBFDB6-0670-329F-F5C5-EBC902A32A3B}"/>
              </a:ext>
            </a:extLst>
          </p:cNvPr>
          <p:cNvSpPr txBox="1"/>
          <p:nvPr/>
        </p:nvSpPr>
        <p:spPr>
          <a:xfrm>
            <a:off x="1008128" y="1186618"/>
            <a:ext cx="10899423" cy="8617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399"/>
              </a:lnSpc>
            </a:pPr>
            <a:r>
              <a:rPr lang="en-US" sz="6399" dirty="0">
                <a:solidFill>
                  <a:srgbClr val="5BA3F8"/>
                </a:solidFill>
                <a:latin typeface="Horizon"/>
                <a:ea typeface="Horizon"/>
                <a:cs typeface="Horizon"/>
                <a:sym typeface="Horizon"/>
              </a:rPr>
              <a:t>Definition</a:t>
            </a:r>
          </a:p>
        </p:txBody>
      </p:sp>
      <p:sp>
        <p:nvSpPr>
          <p:cNvPr id="19" name="TextBox 12">
            <a:extLst>
              <a:ext uri="{FF2B5EF4-FFF2-40B4-BE49-F238E27FC236}">
                <a16:creationId xmlns:a16="http://schemas.microsoft.com/office/drawing/2014/main" id="{2BA71F31-2702-57A7-9E1F-79CDB64AEC64}"/>
              </a:ext>
            </a:extLst>
          </p:cNvPr>
          <p:cNvSpPr txBox="1"/>
          <p:nvPr/>
        </p:nvSpPr>
        <p:spPr>
          <a:xfrm>
            <a:off x="1008128" y="2781301"/>
            <a:ext cx="13030440" cy="4308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id-ID" sz="4000" b="1" noProof="0">
                <a:solidFill>
                  <a:schemeClr val="bg1"/>
                </a:solidFill>
              </a:rPr>
              <a:t>Informasi </a:t>
            </a:r>
            <a:r>
              <a:rPr lang="id-ID" sz="4000" b="1" noProof="0" dirty="0">
                <a:solidFill>
                  <a:schemeClr val="bg1"/>
                </a:solidFill>
              </a:rPr>
              <a:t>adalah </a:t>
            </a:r>
            <a:r>
              <a:rPr lang="id-ID" sz="4000" noProof="0" dirty="0">
                <a:solidFill>
                  <a:schemeClr val="bg1"/>
                </a:solidFill>
              </a:rPr>
              <a:t>data yang telah diproses, diorganisasi, dan distrukturkan sehingga memberikan makna dan konteks. Ibaratnya seperti sebuah rumah yang sudah jadi, dibangun dari batu bata tersebut.</a:t>
            </a:r>
          </a:p>
          <a:p>
            <a:pPr algn="just"/>
            <a:endParaRPr lang="id-ID" sz="4000" noProof="0" dirty="0">
              <a:solidFill>
                <a:schemeClr val="bg1"/>
              </a:solidFill>
            </a:endParaRPr>
          </a:p>
          <a:p>
            <a:pPr algn="just"/>
            <a:endParaRPr lang="id-ID" sz="4000" noProof="0" dirty="0">
              <a:solidFill>
                <a:schemeClr val="bg1"/>
              </a:solidFill>
            </a:endParaRPr>
          </a:p>
          <a:p>
            <a:pPr algn="just"/>
            <a:endParaRPr lang="id-ID" sz="40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412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DA1CE-1D94-2BE2-A1AD-EE299ADB6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EBD58C3-9B47-6357-703E-0B7E53AF1A8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475" r="-18719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4C83F77-2F9E-C90E-0D7C-A469B0F15F61}"/>
              </a:ext>
            </a:extLst>
          </p:cNvPr>
          <p:cNvSpPr txBox="1"/>
          <p:nvPr/>
        </p:nvSpPr>
        <p:spPr>
          <a:xfrm>
            <a:off x="1048768" y="861065"/>
            <a:ext cx="15512032" cy="2464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399"/>
              </a:lnSpc>
            </a:pPr>
            <a:r>
              <a:rPr lang="en-US" sz="5400" dirty="0">
                <a:solidFill>
                  <a:srgbClr val="5BA3F8"/>
                </a:solidFill>
                <a:latin typeface="Horizon"/>
                <a:ea typeface="Horizon"/>
                <a:cs typeface="Horizon"/>
                <a:sym typeface="Horizon"/>
              </a:rPr>
              <a:t>Difference between Data and Information</a:t>
            </a:r>
          </a:p>
          <a:p>
            <a:pPr algn="l">
              <a:lnSpc>
                <a:spcPts val="6399"/>
              </a:lnSpc>
            </a:pPr>
            <a:endParaRPr lang="en-US" sz="5400" dirty="0">
              <a:solidFill>
                <a:srgbClr val="5BA3F8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  <p:sp>
        <p:nvSpPr>
          <p:cNvPr id="19" name="TextBox 12">
            <a:extLst>
              <a:ext uri="{FF2B5EF4-FFF2-40B4-BE49-F238E27FC236}">
                <a16:creationId xmlns:a16="http://schemas.microsoft.com/office/drawing/2014/main" id="{3C214AA8-D77E-F12A-C735-C7801B6E7EED}"/>
              </a:ext>
            </a:extLst>
          </p:cNvPr>
          <p:cNvSpPr txBox="1"/>
          <p:nvPr/>
        </p:nvSpPr>
        <p:spPr>
          <a:xfrm>
            <a:off x="1023368" y="3429815"/>
            <a:ext cx="13362330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Data </a:t>
            </a:r>
            <a:r>
              <a:rPr lang="en-US" sz="3200" dirty="0" err="1">
                <a:solidFill>
                  <a:schemeClr val="bg1"/>
                </a:solidFill>
              </a:rPr>
              <a:t>tidak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terorganisir</a:t>
            </a:r>
            <a:r>
              <a:rPr lang="en-US" sz="3200" dirty="0">
                <a:solidFill>
                  <a:schemeClr val="bg1"/>
                </a:solidFill>
              </a:rPr>
              <a:t> dan </a:t>
            </a:r>
            <a:r>
              <a:rPr lang="en-US" sz="3200" dirty="0" err="1">
                <a:solidFill>
                  <a:schemeClr val="bg1"/>
                </a:solidFill>
              </a:rPr>
              <a:t>tidak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memiliki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konteks</a:t>
            </a:r>
            <a:r>
              <a:rPr lang="en-US" sz="3200" dirty="0">
                <a:solidFill>
                  <a:schemeClr val="bg1"/>
                </a:solidFill>
              </a:rPr>
              <a:t>, </a:t>
            </a:r>
            <a:r>
              <a:rPr lang="en-US" sz="3200" dirty="0" err="1">
                <a:solidFill>
                  <a:schemeClr val="bg1"/>
                </a:solidFill>
              </a:rPr>
              <a:t>sedangkan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informasi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terorganisir</a:t>
            </a:r>
            <a:r>
              <a:rPr lang="en-US" sz="3200" dirty="0">
                <a:solidFill>
                  <a:schemeClr val="bg1"/>
                </a:solidFill>
              </a:rPr>
              <a:t>, </a:t>
            </a:r>
            <a:r>
              <a:rPr lang="en-US" sz="3200" dirty="0" err="1">
                <a:solidFill>
                  <a:schemeClr val="bg1"/>
                </a:solidFill>
              </a:rPr>
              <a:t>terstruktur</a:t>
            </a:r>
            <a:r>
              <a:rPr lang="en-US" sz="3200" dirty="0">
                <a:solidFill>
                  <a:schemeClr val="bg1"/>
                </a:solidFill>
              </a:rPr>
              <a:t>, dan </a:t>
            </a:r>
            <a:r>
              <a:rPr lang="en-US" sz="3200" dirty="0" err="1">
                <a:solidFill>
                  <a:schemeClr val="bg1"/>
                </a:solidFill>
              </a:rPr>
              <a:t>memiliki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makna</a:t>
            </a:r>
            <a:r>
              <a:rPr lang="en-US" sz="3200" dirty="0">
                <a:solidFill>
                  <a:schemeClr val="bg1"/>
                </a:solidFill>
              </a:rPr>
              <a:t>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chemeClr val="bg1"/>
                </a:solidFill>
              </a:rPr>
              <a:t>Pikirkan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perbedaan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antara</a:t>
            </a:r>
            <a:r>
              <a:rPr lang="en-US" sz="3200" dirty="0">
                <a:solidFill>
                  <a:schemeClr val="bg1"/>
                </a:solidFill>
              </a:rPr>
              <a:t> daftar </a:t>
            </a:r>
            <a:r>
              <a:rPr lang="en-US" sz="3200" dirty="0" err="1">
                <a:solidFill>
                  <a:schemeClr val="bg1"/>
                </a:solidFill>
              </a:rPr>
              <a:t>angka</a:t>
            </a:r>
            <a:r>
              <a:rPr lang="en-US" sz="3200" dirty="0">
                <a:solidFill>
                  <a:schemeClr val="bg1"/>
                </a:solidFill>
              </a:rPr>
              <a:t> dan </a:t>
            </a:r>
            <a:r>
              <a:rPr lang="en-US" sz="3200" dirty="0" err="1">
                <a:solidFill>
                  <a:schemeClr val="bg1"/>
                </a:solidFill>
              </a:rPr>
              <a:t>laporan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keuangan</a:t>
            </a:r>
            <a:r>
              <a:rPr lang="en-US" sz="3200" dirty="0">
                <a:solidFill>
                  <a:schemeClr val="bg1"/>
                </a:solidFill>
              </a:rPr>
              <a:t>. Angka-</a:t>
            </a:r>
            <a:r>
              <a:rPr lang="en-US" sz="3200" dirty="0" err="1">
                <a:solidFill>
                  <a:schemeClr val="bg1"/>
                </a:solidFill>
              </a:rPr>
              <a:t>angka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itu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sendiri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adalah</a:t>
            </a:r>
            <a:r>
              <a:rPr lang="en-US" sz="3200" dirty="0">
                <a:solidFill>
                  <a:schemeClr val="bg1"/>
                </a:solidFill>
              </a:rPr>
              <a:t> data, </a:t>
            </a:r>
            <a:r>
              <a:rPr lang="en-US" sz="3200" dirty="0" err="1">
                <a:solidFill>
                  <a:schemeClr val="bg1"/>
                </a:solidFill>
              </a:rPr>
              <a:t>sedangkan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laporan</a:t>
            </a:r>
            <a:r>
              <a:rPr lang="en-US" sz="3200" dirty="0">
                <a:solidFill>
                  <a:schemeClr val="bg1"/>
                </a:solidFill>
              </a:rPr>
              <a:t> yang </a:t>
            </a:r>
            <a:r>
              <a:rPr lang="en-US" sz="3200" dirty="0" err="1">
                <a:solidFill>
                  <a:schemeClr val="bg1"/>
                </a:solidFill>
              </a:rPr>
              <a:t>menggunakan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angka-angka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tersebut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untuk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menyajikan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analisis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adalah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informasi</a:t>
            </a:r>
            <a:r>
              <a:rPr lang="en-US" sz="32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F57CA8D5-DC82-0CFF-364E-6B36A73D010C}"/>
              </a:ext>
            </a:extLst>
          </p:cNvPr>
          <p:cNvSpPr/>
          <p:nvPr/>
        </p:nvSpPr>
        <p:spPr>
          <a:xfrm>
            <a:off x="1371600" y="66674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defTabSz="91440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Crimson Pro" pitchFamily="34" charset="-122"/>
                <a:cs typeface="Crimson Pro" pitchFamily="34" charset="-120"/>
              </a:rPr>
              <a:t>Data</a:t>
            </a:r>
            <a:endParaRPr kumimoji="0" lang="en-US" sz="4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E62099C1-F26E-45F1-3906-A10CC987204C}"/>
              </a:ext>
            </a:extLst>
          </p:cNvPr>
          <p:cNvSpPr/>
          <p:nvPr/>
        </p:nvSpPr>
        <p:spPr>
          <a:xfrm>
            <a:off x="1023368" y="7355991"/>
            <a:ext cx="5881807" cy="2630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28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Mentah</a:t>
            </a:r>
            <a:r>
              <a:rPr lang="en-US" sz="28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dan </a:t>
            </a:r>
            <a:r>
              <a:rPr lang="en-US" sz="28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belum</a:t>
            </a:r>
            <a:r>
              <a:rPr lang="en-US" sz="28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diproses</a:t>
            </a:r>
            <a:endParaRPr lang="en-US" sz="2800" dirty="0">
              <a:solidFill>
                <a:schemeClr val="bg1"/>
              </a:solidFill>
              <a:latin typeface="+mj-lt"/>
              <a:ea typeface="Open Sans" pitchFamily="34" charset="-122"/>
              <a:cs typeface="Open Sans" pitchFamily="34" charset="-120"/>
            </a:endParaRPr>
          </a:p>
          <a:p>
            <a:pPr marL="342900" indent="-342900" algn="l"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Tidak </a:t>
            </a:r>
            <a:r>
              <a:rPr lang="en-US" sz="28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memiliki</a:t>
            </a:r>
            <a:r>
              <a:rPr lang="en-US" sz="28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konteks</a:t>
            </a:r>
            <a:r>
              <a:rPr lang="en-US" sz="28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dan </a:t>
            </a:r>
            <a:r>
              <a:rPr lang="en-US" sz="28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makna</a:t>
            </a:r>
            <a:endParaRPr lang="en-US" sz="2800" dirty="0">
              <a:solidFill>
                <a:schemeClr val="bg1"/>
              </a:solidFill>
              <a:latin typeface="+mj-lt"/>
              <a:ea typeface="Open Sans" pitchFamily="34" charset="-122"/>
              <a:cs typeface="Open Sans" pitchFamily="34" charset="-120"/>
            </a:endParaRPr>
          </a:p>
          <a:p>
            <a:pPr marL="342900" indent="-342900" algn="l"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Tidak </a:t>
            </a:r>
            <a:r>
              <a:rPr lang="en-US" sz="28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terstruktur</a:t>
            </a:r>
            <a:r>
              <a:rPr lang="en-US" sz="28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dan </a:t>
            </a:r>
            <a:r>
              <a:rPr lang="en-US" sz="28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tidak</a:t>
            </a:r>
            <a:r>
              <a:rPr lang="en-US" sz="28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terorganisir</a:t>
            </a:r>
            <a:endParaRPr lang="en-US" sz="2800" dirty="0">
              <a:solidFill>
                <a:schemeClr val="bg1"/>
              </a:solidFill>
              <a:latin typeface="+mj-lt"/>
              <a:ea typeface="Open Sans" pitchFamily="34" charset="-122"/>
              <a:cs typeface="Open Sans" pitchFamily="34" charset="-120"/>
            </a:endParaRPr>
          </a:p>
          <a:p>
            <a:pPr marL="342900" indent="-342900" algn="l">
              <a:buSzPct val="100000"/>
              <a:buChar char="•"/>
            </a:pPr>
            <a:endParaRPr lang="en-US" sz="2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572CC023-25B7-B28E-0511-1BAFD1FC2692}"/>
              </a:ext>
            </a:extLst>
          </p:cNvPr>
          <p:cNvSpPr/>
          <p:nvPr/>
        </p:nvSpPr>
        <p:spPr>
          <a:xfrm>
            <a:off x="9523571" y="66674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defTabSz="91440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Crimson Pro" pitchFamily="34" charset="-122"/>
                <a:cs typeface="Crimson Pro" pitchFamily="34" charset="-120"/>
              </a:rPr>
              <a:t>Information</a:t>
            </a:r>
            <a:endParaRPr kumimoji="0" lang="en-US" sz="4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9B8FDFAE-D8AF-44DF-2CCA-03D96112662B}"/>
              </a:ext>
            </a:extLst>
          </p:cNvPr>
          <p:cNvSpPr/>
          <p:nvPr/>
        </p:nvSpPr>
        <p:spPr>
          <a:xfrm>
            <a:off x="9296400" y="7338997"/>
            <a:ext cx="5881807" cy="2630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  <a:latin typeface="+mj-lt"/>
              </a:rPr>
              <a:t>Telah </a:t>
            </a:r>
            <a:r>
              <a:rPr lang="en-US" sz="2800" dirty="0" err="1">
                <a:solidFill>
                  <a:schemeClr val="bg1"/>
                </a:solidFill>
                <a:latin typeface="+mj-lt"/>
              </a:rPr>
              <a:t>diproses</a:t>
            </a:r>
            <a:r>
              <a:rPr lang="en-US" sz="2800" dirty="0">
                <a:solidFill>
                  <a:schemeClr val="bg1"/>
                </a:solidFill>
                <a:latin typeface="+mj-lt"/>
              </a:rPr>
              <a:t> dan </a:t>
            </a:r>
            <a:r>
              <a:rPr lang="en-US" sz="2800" dirty="0" err="1">
                <a:solidFill>
                  <a:schemeClr val="bg1"/>
                </a:solidFill>
                <a:latin typeface="+mj-lt"/>
              </a:rPr>
              <a:t>terstruktur</a:t>
            </a:r>
            <a:endParaRPr lang="en-US" sz="2800" dirty="0">
              <a:solidFill>
                <a:schemeClr val="bg1"/>
              </a:solidFill>
              <a:latin typeface="+mj-lt"/>
            </a:endParaRPr>
          </a:p>
          <a:p>
            <a:pPr marL="342900" indent="-342900" algn="l">
              <a:buSzPct val="100000"/>
              <a:buChar char="•"/>
            </a:pPr>
            <a:r>
              <a:rPr lang="en-US" sz="2800" dirty="0" err="1">
                <a:solidFill>
                  <a:schemeClr val="bg1"/>
                </a:solidFill>
                <a:latin typeface="+mj-lt"/>
              </a:rPr>
              <a:t>Memberikan</a:t>
            </a:r>
            <a:r>
              <a:rPr lang="en-US" sz="280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+mj-lt"/>
              </a:rPr>
              <a:t>konteks</a:t>
            </a:r>
            <a:r>
              <a:rPr lang="en-US" sz="2800" dirty="0">
                <a:solidFill>
                  <a:schemeClr val="bg1"/>
                </a:solidFill>
                <a:latin typeface="+mj-lt"/>
              </a:rPr>
              <a:t> dan </a:t>
            </a:r>
            <a:r>
              <a:rPr lang="en-US" sz="2800" dirty="0" err="1">
                <a:solidFill>
                  <a:schemeClr val="bg1"/>
                </a:solidFill>
                <a:latin typeface="+mj-lt"/>
              </a:rPr>
              <a:t>makna</a:t>
            </a:r>
            <a:endParaRPr lang="en-US" sz="2800" dirty="0">
              <a:solidFill>
                <a:schemeClr val="bg1"/>
              </a:solidFill>
              <a:latin typeface="+mj-lt"/>
            </a:endParaRPr>
          </a:p>
          <a:p>
            <a:pPr marL="342900" indent="-342900" algn="l">
              <a:buSzPct val="100000"/>
              <a:buChar char="•"/>
            </a:pPr>
            <a:r>
              <a:rPr lang="en-US" sz="2800" dirty="0" err="1">
                <a:solidFill>
                  <a:schemeClr val="bg1"/>
                </a:solidFill>
                <a:latin typeface="+mj-lt"/>
              </a:rPr>
              <a:t>Terorganisir</a:t>
            </a:r>
            <a:r>
              <a:rPr lang="en-US" sz="2800" dirty="0">
                <a:solidFill>
                  <a:schemeClr val="bg1"/>
                </a:solidFill>
                <a:latin typeface="+mj-lt"/>
              </a:rPr>
              <a:t> dan </a:t>
            </a:r>
            <a:r>
              <a:rPr lang="en-US" sz="2800" dirty="0" err="1">
                <a:solidFill>
                  <a:schemeClr val="bg1"/>
                </a:solidFill>
                <a:latin typeface="+mj-lt"/>
              </a:rPr>
              <a:t>disajikan</a:t>
            </a:r>
            <a:r>
              <a:rPr lang="en-US" sz="280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+mj-lt"/>
              </a:rPr>
              <a:t>dengan</a:t>
            </a:r>
            <a:r>
              <a:rPr lang="en-US" sz="280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+mj-lt"/>
              </a:rPr>
              <a:t>cara</a:t>
            </a:r>
            <a:r>
              <a:rPr lang="en-US" sz="2800" dirty="0">
                <a:solidFill>
                  <a:schemeClr val="bg1"/>
                </a:solidFill>
                <a:latin typeface="+mj-lt"/>
              </a:rPr>
              <a:t> yang </a:t>
            </a:r>
            <a:r>
              <a:rPr lang="en-US" sz="2800" dirty="0" err="1">
                <a:solidFill>
                  <a:schemeClr val="bg1"/>
                </a:solidFill>
                <a:latin typeface="+mj-lt"/>
              </a:rPr>
              <a:t>bermakna</a:t>
            </a:r>
            <a:endParaRPr lang="en-US" sz="28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40417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A2612-D18E-68C6-7663-E555B2D78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50E6E43-8EF7-9EFF-5AF5-787A0C286A6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475" r="-18719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CB6F11E4-2C79-6559-AB2A-F199F223366F}"/>
              </a:ext>
            </a:extLst>
          </p:cNvPr>
          <p:cNvSpPr txBox="1"/>
          <p:nvPr/>
        </p:nvSpPr>
        <p:spPr>
          <a:xfrm>
            <a:off x="1260523" y="878998"/>
            <a:ext cx="16191207" cy="16440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399"/>
              </a:lnSpc>
            </a:pPr>
            <a:r>
              <a:rPr lang="en-US" sz="5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Horizon" panose="020B0604020202020204" charset="0"/>
              </a:rPr>
              <a:t>DATA BASED characteristic</a:t>
            </a:r>
          </a:p>
          <a:p>
            <a:pPr algn="l">
              <a:lnSpc>
                <a:spcPts val="6399"/>
              </a:lnSpc>
            </a:pPr>
            <a:endParaRPr lang="en-US" sz="5400" dirty="0">
              <a:solidFill>
                <a:srgbClr val="5BA3F8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  <p:sp>
        <p:nvSpPr>
          <p:cNvPr id="19" name="TextBox 12">
            <a:extLst>
              <a:ext uri="{FF2B5EF4-FFF2-40B4-BE49-F238E27FC236}">
                <a16:creationId xmlns:a16="http://schemas.microsoft.com/office/drawing/2014/main" id="{814ABD71-E6BA-C974-4974-CB040AF38253}"/>
              </a:ext>
            </a:extLst>
          </p:cNvPr>
          <p:cNvSpPr txBox="1"/>
          <p:nvPr/>
        </p:nvSpPr>
        <p:spPr>
          <a:xfrm>
            <a:off x="810870" y="2765260"/>
            <a:ext cx="16666260" cy="6155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Data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kualitatif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bersifat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deskriptif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biasanya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disajikan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dalam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bentuk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kata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atau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narasi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, dan </a:t>
            </a:r>
            <a:r>
              <a:rPr lang="en-US" sz="400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non-</a:t>
            </a:r>
            <a:r>
              <a:rPr lang="en-US" sz="400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numerik</a:t>
            </a:r>
            <a:r>
              <a:rPr lang="en-US" sz="400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. Metode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untuk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memperoleh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data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kualitatif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: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wawancara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dokumen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kuesioner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observasi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400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diskusi</a:t>
            </a:r>
            <a:r>
              <a:rPr lang="en-US" sz="400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kelompoK. Contoh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: status,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jenis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kelamin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warna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kulit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hobi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dll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.</a:t>
            </a:r>
          </a:p>
          <a:p>
            <a:pPr algn="just"/>
            <a:endParaRPr lang="en-US" sz="4000" dirty="0">
              <a:solidFill>
                <a:schemeClr val="bg1"/>
              </a:solidFill>
              <a:ea typeface="Open Sans" pitchFamily="34" charset="-122"/>
              <a:cs typeface="Open Sans" pitchFamily="34" charset="-120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Data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kuantitatif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adalah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data yang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dapat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diukur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dihitung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atau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direpresentasikan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menggunakan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angka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atau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bilangan</a:t>
            </a:r>
            <a:r>
              <a:rPr lang="en-US" sz="400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. Contoh: usia, tinggi badan, berat badan, suhu, dll.</a:t>
            </a:r>
          </a:p>
          <a:p>
            <a:endParaRPr lang="en-US" sz="4000">
              <a:solidFill>
                <a:schemeClr val="bg1"/>
              </a:solidFill>
              <a:ea typeface="Open Sans" pitchFamily="34" charset="-122"/>
              <a:cs typeface="Open Sans" pitchFamily="34" charset="-12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dirty="0">
              <a:solidFill>
                <a:schemeClr val="bg1"/>
              </a:solidFill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806BD5A9-C31B-7D77-8171-CF38F9621F7A}"/>
              </a:ext>
            </a:extLst>
          </p:cNvPr>
          <p:cNvSpPr/>
          <p:nvPr/>
        </p:nvSpPr>
        <p:spPr>
          <a:xfrm>
            <a:off x="9523571" y="66674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defTabSz="91440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67816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475" r="-18719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1" name="TextBox 11"/>
          <p:cNvSpPr txBox="1"/>
          <p:nvPr/>
        </p:nvSpPr>
        <p:spPr>
          <a:xfrm>
            <a:off x="895465" y="1333500"/>
            <a:ext cx="16191207" cy="16440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399"/>
              </a:lnSpc>
            </a:pPr>
            <a:r>
              <a:rPr lang="en-US" sz="5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Horizon" panose="020B0604020202020204" charset="0"/>
              </a:rPr>
              <a:t>DATA Quantitative </a:t>
            </a:r>
          </a:p>
          <a:p>
            <a:pPr algn="l">
              <a:lnSpc>
                <a:spcPts val="6399"/>
              </a:lnSpc>
            </a:pPr>
            <a:endParaRPr lang="en-US" sz="5400" dirty="0">
              <a:solidFill>
                <a:srgbClr val="5BA3F8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  <p:sp>
        <p:nvSpPr>
          <p:cNvPr id="19" name="TextBox 12">
            <a:extLst>
              <a:ext uri="{FF2B5EF4-FFF2-40B4-BE49-F238E27FC236}">
                <a16:creationId xmlns:a16="http://schemas.microsoft.com/office/drawing/2014/main" id="{EFC91264-E195-3ED7-5F34-1E55D174A2D4}"/>
              </a:ext>
            </a:extLst>
          </p:cNvPr>
          <p:cNvSpPr txBox="1"/>
          <p:nvPr/>
        </p:nvSpPr>
        <p:spPr>
          <a:xfrm>
            <a:off x="895465" y="3543300"/>
            <a:ext cx="16666260" cy="4308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Data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kuantitatif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dibagi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menjadi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: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Data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diskrit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adalah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data yang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dikumpulkan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dari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himpunan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data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tertentu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terdiri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dari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jumlah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nilai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terbatas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yang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dapat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dihitung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Data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kontinu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adalah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jenis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data yang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dapat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memiliki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nilai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dengan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jumlah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kemungkinan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tak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terbatas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, dan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nilainya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juga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dapat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bervariasi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. Ini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dikenal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sebagai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data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kontinu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.</a:t>
            </a:r>
          </a:p>
          <a:p>
            <a:pPr algn="just"/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   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Contoh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: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tinggi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badan,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suhu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berat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badan,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dll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.</a:t>
            </a: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1659D91D-A06C-1AF6-8691-6518CAA8B984}"/>
              </a:ext>
            </a:extLst>
          </p:cNvPr>
          <p:cNvSpPr/>
          <p:nvPr/>
        </p:nvSpPr>
        <p:spPr>
          <a:xfrm>
            <a:off x="9523571" y="66674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defTabSz="91440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53467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475" r="-18719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1" name="TextBox 11"/>
          <p:cNvSpPr txBox="1"/>
          <p:nvPr/>
        </p:nvSpPr>
        <p:spPr>
          <a:xfrm>
            <a:off x="906351" y="560610"/>
            <a:ext cx="16191207" cy="16440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399"/>
              </a:lnSpc>
            </a:pPr>
            <a:r>
              <a:rPr lang="en-US" sz="5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Horizon" panose="020B0604020202020204" charset="0"/>
              </a:rPr>
              <a:t>SKALA BERDASARKAN DATA</a:t>
            </a:r>
          </a:p>
          <a:p>
            <a:pPr algn="l">
              <a:lnSpc>
                <a:spcPts val="6399"/>
              </a:lnSpc>
            </a:pPr>
            <a:endParaRPr lang="en-US" sz="5400" dirty="0">
              <a:solidFill>
                <a:srgbClr val="5BA3F8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  <p:sp>
        <p:nvSpPr>
          <p:cNvPr id="19" name="TextBox 12">
            <a:extLst>
              <a:ext uri="{FF2B5EF4-FFF2-40B4-BE49-F238E27FC236}">
                <a16:creationId xmlns:a16="http://schemas.microsoft.com/office/drawing/2014/main" id="{EFC91264-E195-3ED7-5F34-1E55D174A2D4}"/>
              </a:ext>
            </a:extLst>
          </p:cNvPr>
          <p:cNvSpPr txBox="1"/>
          <p:nvPr/>
        </p:nvSpPr>
        <p:spPr>
          <a:xfrm>
            <a:off x="1190441" y="1865322"/>
            <a:ext cx="16666260" cy="8617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Data nominal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adalah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skala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yang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memberi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label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variabel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ke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dalam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klasifikasi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berbeda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tanpa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memberikan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nilai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kuantitatif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atau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urutan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tertentu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.</a:t>
            </a:r>
          </a:p>
          <a:p>
            <a:pPr algn="just"/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   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Contoh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: agama,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pekerjaan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kewarganegaraan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jenis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kelamin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dll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.</a:t>
            </a:r>
          </a:p>
          <a:p>
            <a:pPr algn="just"/>
            <a:endParaRPr lang="en-US" sz="4000" dirty="0">
              <a:solidFill>
                <a:schemeClr val="bg1"/>
              </a:solidFill>
              <a:ea typeface="Open Sans" pitchFamily="34" charset="-122"/>
              <a:cs typeface="Open Sans" pitchFamily="34" charset="-120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Data ordinal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adalah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jenis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data yang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dapat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diurutkan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atau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dikategorikan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dalam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suatu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urutan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tertentu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tetapi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perbedaan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antar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kategori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tidak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dapat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diukur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secara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konsisten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.</a:t>
            </a:r>
          </a:p>
          <a:p>
            <a:pPr marL="522288" algn="just"/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Contoh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: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skala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kepuasan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pelanggan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ukuran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pakaian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peringkat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dalam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kompetisi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dll.Skala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interval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adalah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jenis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skala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numerik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di mana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urutan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dan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perbedaan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antar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variabel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dapat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diketahui.Contoh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: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skala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suhu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, IQ,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skor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nilai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rata-rata (IPK),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dll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.</a:t>
            </a:r>
          </a:p>
          <a:p>
            <a:pPr algn="just"/>
            <a:endParaRPr lang="en-US" sz="4000" dirty="0">
              <a:solidFill>
                <a:schemeClr val="bg1"/>
              </a:solidFill>
              <a:ea typeface="Open Sans" pitchFamily="34" charset="-122"/>
              <a:cs typeface="Open Sans" pitchFamily="34" charset="-120"/>
            </a:endParaRPr>
          </a:p>
          <a:p>
            <a:pPr algn="just"/>
            <a:endParaRPr lang="en-US" sz="4000" dirty="0">
              <a:solidFill>
                <a:schemeClr val="bg1"/>
              </a:solidFill>
              <a:ea typeface="Open Sans" pitchFamily="34" charset="-122"/>
              <a:cs typeface="Open Sans" pitchFamily="34" charset="-120"/>
            </a:endParaRPr>
          </a:p>
          <a:p>
            <a:pPr algn="just"/>
            <a:endParaRPr lang="en-US" sz="4000" dirty="0">
              <a:solidFill>
                <a:schemeClr val="bg1"/>
              </a:solidFill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1659D91D-A06C-1AF6-8691-6518CAA8B984}"/>
              </a:ext>
            </a:extLst>
          </p:cNvPr>
          <p:cNvSpPr/>
          <p:nvPr/>
        </p:nvSpPr>
        <p:spPr>
          <a:xfrm>
            <a:off x="9523571" y="66674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defTabSz="91440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13549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475" r="-18719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1" name="TextBox 11"/>
          <p:cNvSpPr txBox="1"/>
          <p:nvPr/>
        </p:nvSpPr>
        <p:spPr>
          <a:xfrm>
            <a:off x="906352" y="560610"/>
            <a:ext cx="15512032" cy="16440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399"/>
              </a:lnSpc>
            </a:pPr>
            <a:r>
              <a:rPr lang="en-US" sz="5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Horizon" panose="020B0604020202020204" charset="0"/>
              </a:rPr>
              <a:t>Quality of Data</a:t>
            </a:r>
          </a:p>
          <a:p>
            <a:pPr algn="l">
              <a:lnSpc>
                <a:spcPts val="6399"/>
              </a:lnSpc>
            </a:pPr>
            <a:endParaRPr lang="en-US" sz="5400" dirty="0">
              <a:solidFill>
                <a:srgbClr val="5BA3F8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  <p:sp>
        <p:nvSpPr>
          <p:cNvPr id="19" name="TextBox 12">
            <a:extLst>
              <a:ext uri="{FF2B5EF4-FFF2-40B4-BE49-F238E27FC236}">
                <a16:creationId xmlns:a16="http://schemas.microsoft.com/office/drawing/2014/main" id="{EFC91264-E195-3ED7-5F34-1E55D174A2D4}"/>
              </a:ext>
            </a:extLst>
          </p:cNvPr>
          <p:cNvSpPr txBox="1"/>
          <p:nvPr/>
        </p:nvSpPr>
        <p:spPr>
          <a:xfrm>
            <a:off x="1190441" y="1865322"/>
            <a:ext cx="16666260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Data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memiliki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karakteristik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tertentu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yang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menentukan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kualitas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dan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kegunaannya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.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Karakteristik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ini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dapat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dinilai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untuk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memahami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keandalan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dan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relevansi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data.</a:t>
            </a: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1659D91D-A06C-1AF6-8691-6518CAA8B984}"/>
              </a:ext>
            </a:extLst>
          </p:cNvPr>
          <p:cNvSpPr/>
          <p:nvPr/>
        </p:nvSpPr>
        <p:spPr>
          <a:xfrm>
            <a:off x="9523571" y="66674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defTabSz="91440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2440AE48-687D-A1AD-E21F-D65124C20F23}"/>
              </a:ext>
            </a:extLst>
          </p:cNvPr>
          <p:cNvSpPr/>
          <p:nvPr/>
        </p:nvSpPr>
        <p:spPr>
          <a:xfrm>
            <a:off x="1524000" y="4180045"/>
            <a:ext cx="20385210" cy="86058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D00DB746-E072-926A-FED5-8D19F8DB996D}"/>
              </a:ext>
            </a:extLst>
          </p:cNvPr>
          <p:cNvSpPr/>
          <p:nvPr/>
        </p:nvSpPr>
        <p:spPr>
          <a:xfrm>
            <a:off x="1716048" y="4302918"/>
            <a:ext cx="9176742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28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Akurasi</a:t>
            </a:r>
            <a:endParaRPr lang="en-US" sz="2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908A7194-102B-1141-B528-AF0165D0A6AF}"/>
              </a:ext>
            </a:extLst>
          </p:cNvPr>
          <p:cNvSpPr/>
          <p:nvPr/>
        </p:nvSpPr>
        <p:spPr>
          <a:xfrm>
            <a:off x="5611892" y="4302918"/>
            <a:ext cx="9176742" cy="614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28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Data </a:t>
            </a:r>
            <a:r>
              <a:rPr lang="en-US" sz="28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bebas</a:t>
            </a:r>
            <a:r>
              <a:rPr lang="en-US" sz="28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dari</a:t>
            </a:r>
            <a:r>
              <a:rPr lang="en-US" sz="28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kesalahan</a:t>
            </a:r>
            <a:r>
              <a:rPr lang="en-US" sz="28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dan </a:t>
            </a:r>
            <a:r>
              <a:rPr lang="en-US" sz="28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mencerminkan</a:t>
            </a:r>
            <a:r>
              <a:rPr lang="en-US" sz="28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kenyataan</a:t>
            </a:r>
            <a:r>
              <a:rPr lang="en-US" sz="28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.</a:t>
            </a:r>
            <a:endParaRPr lang="en-US" sz="2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5849CCB8-202F-C8F6-FDD6-AAED55F98CE4}"/>
              </a:ext>
            </a:extLst>
          </p:cNvPr>
          <p:cNvSpPr/>
          <p:nvPr/>
        </p:nvSpPr>
        <p:spPr>
          <a:xfrm>
            <a:off x="1524000" y="5040629"/>
            <a:ext cx="20385210" cy="86058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7237C563-A9C4-EB4D-F999-36333FDC3C8D}"/>
              </a:ext>
            </a:extLst>
          </p:cNvPr>
          <p:cNvSpPr/>
          <p:nvPr/>
        </p:nvSpPr>
        <p:spPr>
          <a:xfrm>
            <a:off x="1716048" y="5163502"/>
            <a:ext cx="9176742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28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Kelengkapan</a:t>
            </a:r>
            <a:endParaRPr lang="en-US" sz="2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0EB0422D-E6BD-448C-841F-D526A7555A81}"/>
              </a:ext>
            </a:extLst>
          </p:cNvPr>
          <p:cNvSpPr/>
          <p:nvPr/>
        </p:nvSpPr>
        <p:spPr>
          <a:xfrm>
            <a:off x="5611892" y="5163502"/>
            <a:ext cx="9176742" cy="614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it-IT" sz="28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Semua elemen data yang diperlukan tersedia dan tercatat.</a:t>
            </a:r>
            <a:endParaRPr lang="en-US" sz="2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1B144549-6859-A777-48CE-10E3AC2BAF28}"/>
              </a:ext>
            </a:extLst>
          </p:cNvPr>
          <p:cNvSpPr/>
          <p:nvPr/>
        </p:nvSpPr>
        <p:spPr>
          <a:xfrm>
            <a:off x="1524000" y="5901213"/>
            <a:ext cx="20385210" cy="86058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2CE09F2F-BAA5-FB08-8AB6-8689ADB1BE9F}"/>
              </a:ext>
            </a:extLst>
          </p:cNvPr>
          <p:cNvSpPr/>
          <p:nvPr/>
        </p:nvSpPr>
        <p:spPr>
          <a:xfrm>
            <a:off x="1716048" y="6024085"/>
            <a:ext cx="9176742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28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Konsistensi</a:t>
            </a:r>
            <a:endParaRPr lang="en-US" sz="2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25FE55F1-AB1A-46A9-34B9-E8DE10CF30FF}"/>
              </a:ext>
            </a:extLst>
          </p:cNvPr>
          <p:cNvSpPr/>
          <p:nvPr/>
        </p:nvSpPr>
        <p:spPr>
          <a:xfrm>
            <a:off x="5611892" y="6024085"/>
            <a:ext cx="9176742" cy="614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it-IT" sz="28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Data konsisten di berbagai sumber dan catatan.</a:t>
            </a:r>
            <a:endParaRPr lang="en-US" sz="2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395F4B60-0076-0CB7-51DC-45297A9C061A}"/>
              </a:ext>
            </a:extLst>
          </p:cNvPr>
          <p:cNvSpPr/>
          <p:nvPr/>
        </p:nvSpPr>
        <p:spPr>
          <a:xfrm>
            <a:off x="931752" y="7898963"/>
            <a:ext cx="20385210" cy="55316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89D0BB4B-89B8-BB6D-5C22-39DE9E105D1C}"/>
              </a:ext>
            </a:extLst>
          </p:cNvPr>
          <p:cNvSpPr/>
          <p:nvPr/>
        </p:nvSpPr>
        <p:spPr>
          <a:xfrm>
            <a:off x="1716048" y="6884669"/>
            <a:ext cx="9176742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280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Ketetapan </a:t>
            </a:r>
            <a:r>
              <a:rPr lang="en-US" sz="28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Waktu</a:t>
            </a:r>
            <a:endParaRPr lang="en-US" sz="2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941E9CBC-469A-6511-2812-3A0CB84482BF}"/>
              </a:ext>
            </a:extLst>
          </p:cNvPr>
          <p:cNvSpPr/>
          <p:nvPr/>
        </p:nvSpPr>
        <p:spPr>
          <a:xfrm>
            <a:off x="5611892" y="6884669"/>
            <a:ext cx="9176742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it-IT" sz="28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Data tersedia ketika dibutuhkan.</a:t>
            </a:r>
            <a:endParaRPr lang="en-US" sz="2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9F229DC8-2B8F-C200-30F0-2995155F3427}"/>
              </a:ext>
            </a:extLst>
          </p:cNvPr>
          <p:cNvSpPr/>
          <p:nvPr/>
        </p:nvSpPr>
        <p:spPr>
          <a:xfrm>
            <a:off x="1524000" y="7314961"/>
            <a:ext cx="20385210" cy="86058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CC8196ED-9725-10BD-E82C-5087A5F8B965}"/>
              </a:ext>
            </a:extLst>
          </p:cNvPr>
          <p:cNvSpPr/>
          <p:nvPr/>
        </p:nvSpPr>
        <p:spPr>
          <a:xfrm>
            <a:off x="1786217" y="7687346"/>
            <a:ext cx="9176742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28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Relevansi</a:t>
            </a:r>
            <a:endParaRPr lang="en-US" sz="2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AFF312D9-63F7-209A-7D06-68423940BB0B}"/>
              </a:ext>
            </a:extLst>
          </p:cNvPr>
          <p:cNvSpPr/>
          <p:nvPr/>
        </p:nvSpPr>
        <p:spPr>
          <a:xfrm>
            <a:off x="5611892" y="7745252"/>
            <a:ext cx="11456908" cy="307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28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Data </a:t>
            </a:r>
            <a:r>
              <a:rPr lang="en-US" sz="28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sesuai</a:t>
            </a:r>
            <a:r>
              <a:rPr lang="en-US" sz="28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dengan</a:t>
            </a:r>
            <a:r>
              <a:rPr lang="en-US" sz="28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tujuan</a:t>
            </a:r>
            <a:r>
              <a:rPr lang="en-US" sz="28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yang </a:t>
            </a:r>
            <a:r>
              <a:rPr lang="en-US" sz="28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dimaksud</a:t>
            </a:r>
            <a:r>
              <a:rPr lang="en-US" sz="28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dan </a:t>
            </a:r>
            <a:r>
              <a:rPr lang="en-US" sz="28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pengambilan</a:t>
            </a:r>
            <a:r>
              <a:rPr lang="en-US" sz="28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keputusan</a:t>
            </a:r>
            <a:r>
              <a:rPr lang="en-US" sz="28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.</a:t>
            </a:r>
            <a:endParaRPr lang="en-US" sz="28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24508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8" grpId="0" animBg="1"/>
      <p:bldP spid="20" grpId="0" animBg="1"/>
      <p:bldP spid="22" grpId="0" animBg="1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475" r="-18719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1" name="TextBox 11"/>
          <p:cNvSpPr txBox="1"/>
          <p:nvPr/>
        </p:nvSpPr>
        <p:spPr>
          <a:xfrm>
            <a:off x="1023368" y="300174"/>
            <a:ext cx="15512032" cy="16440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399"/>
              </a:lnSpc>
            </a:pPr>
            <a:r>
              <a:rPr lang="en-US" sz="5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Horizon" panose="020B0604020202020204" charset="0"/>
              </a:rPr>
              <a:t>Quality of Information</a:t>
            </a:r>
          </a:p>
          <a:p>
            <a:pPr algn="l">
              <a:lnSpc>
                <a:spcPts val="6399"/>
              </a:lnSpc>
            </a:pPr>
            <a:endParaRPr lang="en-US" sz="5400" dirty="0">
              <a:solidFill>
                <a:srgbClr val="5BA3F8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  <p:sp>
        <p:nvSpPr>
          <p:cNvPr id="19" name="TextBox 12">
            <a:extLst>
              <a:ext uri="{FF2B5EF4-FFF2-40B4-BE49-F238E27FC236}">
                <a16:creationId xmlns:a16="http://schemas.microsoft.com/office/drawing/2014/main" id="{EFC91264-E195-3ED7-5F34-1E55D174A2D4}"/>
              </a:ext>
            </a:extLst>
          </p:cNvPr>
          <p:cNvSpPr txBox="1"/>
          <p:nvPr/>
        </p:nvSpPr>
        <p:spPr>
          <a:xfrm>
            <a:off x="609600" y="1873246"/>
            <a:ext cx="16666260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Kualitas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informasi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sangat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penting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untuk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membuat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keputusan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dan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menarik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kesimpulan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 yang </a:t>
            </a:r>
            <a:r>
              <a:rPr lang="en-US" sz="4000" dirty="0" err="1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akurat</a:t>
            </a:r>
            <a:r>
              <a:rPr lang="en-US" sz="40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.</a:t>
            </a:r>
          </a:p>
        </p:txBody>
      </p:sp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BA857E34-7A43-F88D-FD86-C7AFC86E34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9810" y="3770333"/>
            <a:ext cx="500420" cy="500420"/>
          </a:xfrm>
          <a:prstGeom prst="rect">
            <a:avLst/>
          </a:prstGeom>
        </p:spPr>
      </p:pic>
      <p:sp>
        <p:nvSpPr>
          <p:cNvPr id="4" name="Text 3">
            <a:extLst>
              <a:ext uri="{FF2B5EF4-FFF2-40B4-BE49-F238E27FC236}">
                <a16:creationId xmlns:a16="http://schemas.microsoft.com/office/drawing/2014/main" id="{0986A65F-21D5-0175-F71B-8F3C8BE5F1FE}"/>
              </a:ext>
            </a:extLst>
          </p:cNvPr>
          <p:cNvSpPr/>
          <p:nvPr/>
        </p:nvSpPr>
        <p:spPr>
          <a:xfrm>
            <a:off x="1381664" y="4640140"/>
            <a:ext cx="2502575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4800" b="1" dirty="0" err="1">
                <a:solidFill>
                  <a:schemeClr val="bg1"/>
                </a:solidFill>
                <a:latin typeface="+mj-lt"/>
                <a:ea typeface="Crimson Pro" pitchFamily="34" charset="-122"/>
                <a:cs typeface="Crimson Pro" pitchFamily="34" charset="-120"/>
              </a:rPr>
              <a:t>Akurasi</a:t>
            </a:r>
            <a:endParaRPr lang="en-US" sz="4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086A58D0-EE40-2A13-5AEB-AE6D2C747813}"/>
              </a:ext>
            </a:extLst>
          </p:cNvPr>
          <p:cNvSpPr/>
          <p:nvPr/>
        </p:nvSpPr>
        <p:spPr>
          <a:xfrm>
            <a:off x="1375229" y="4968686"/>
            <a:ext cx="5856221" cy="640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Informasi</a:t>
            </a:r>
            <a:r>
              <a:rPr lang="en-US" sz="28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bebas</a:t>
            </a:r>
            <a:r>
              <a:rPr lang="en-US" sz="28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dari</a:t>
            </a:r>
            <a:r>
              <a:rPr lang="en-US" sz="28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kesalahan</a:t>
            </a:r>
            <a:r>
              <a:rPr lang="en-US" sz="28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dan </a:t>
            </a:r>
            <a:r>
              <a:rPr lang="en-US" sz="28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mencerminkan</a:t>
            </a:r>
            <a:r>
              <a:rPr lang="en-US" sz="28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kenyataan</a:t>
            </a:r>
            <a:r>
              <a:rPr lang="en-US" sz="28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.</a:t>
            </a:r>
            <a:endParaRPr lang="en-US" sz="28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7275FE89-BD51-CB3E-DD5D-BE10594EBC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3124" y="3520123"/>
            <a:ext cx="500420" cy="500420"/>
          </a:xfrm>
          <a:prstGeom prst="rect">
            <a:avLst/>
          </a:prstGeom>
        </p:spPr>
      </p:pic>
      <p:sp>
        <p:nvSpPr>
          <p:cNvPr id="7" name="Text 5">
            <a:extLst>
              <a:ext uri="{FF2B5EF4-FFF2-40B4-BE49-F238E27FC236}">
                <a16:creationId xmlns:a16="http://schemas.microsoft.com/office/drawing/2014/main" id="{0779DBD5-4AB9-736F-FC29-20A5293390A9}"/>
              </a:ext>
            </a:extLst>
          </p:cNvPr>
          <p:cNvSpPr/>
          <p:nvPr/>
        </p:nvSpPr>
        <p:spPr>
          <a:xfrm>
            <a:off x="7528096" y="4467489"/>
            <a:ext cx="2502575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4800" b="1" dirty="0" err="1">
                <a:solidFill>
                  <a:schemeClr val="bg1"/>
                </a:solidFill>
                <a:latin typeface="+mj-lt"/>
                <a:ea typeface="Crimson Pro" pitchFamily="34" charset="-122"/>
                <a:cs typeface="Crimson Pro" pitchFamily="34" charset="-120"/>
              </a:rPr>
              <a:t>Kelengkapan</a:t>
            </a:r>
            <a:endParaRPr lang="en-US" sz="4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3A7B853-8B78-0CA7-D26D-488DBA27748A}"/>
              </a:ext>
            </a:extLst>
          </p:cNvPr>
          <p:cNvSpPr/>
          <p:nvPr/>
        </p:nvSpPr>
        <p:spPr>
          <a:xfrm>
            <a:off x="7528096" y="4918504"/>
            <a:ext cx="3721179" cy="320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nn-NO" sz="28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Semua informasi yang relevan disertakan</a:t>
            </a:r>
            <a:endParaRPr lang="en-US" sz="28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4" name="Image 3" descr="preencoded.png">
            <a:extLst>
              <a:ext uri="{FF2B5EF4-FFF2-40B4-BE49-F238E27FC236}">
                <a16:creationId xmlns:a16="http://schemas.microsoft.com/office/drawing/2014/main" id="{B295FD46-83EE-1B72-912B-90B8C816CE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9810" y="6292471"/>
            <a:ext cx="500420" cy="500420"/>
          </a:xfrm>
          <a:prstGeom prst="rect">
            <a:avLst/>
          </a:prstGeom>
        </p:spPr>
      </p:pic>
      <p:sp>
        <p:nvSpPr>
          <p:cNvPr id="15" name="Text 7">
            <a:extLst>
              <a:ext uri="{FF2B5EF4-FFF2-40B4-BE49-F238E27FC236}">
                <a16:creationId xmlns:a16="http://schemas.microsoft.com/office/drawing/2014/main" id="{64FAB7AA-CAED-69F8-E816-A0A71C58B128}"/>
              </a:ext>
            </a:extLst>
          </p:cNvPr>
          <p:cNvSpPr/>
          <p:nvPr/>
        </p:nvSpPr>
        <p:spPr>
          <a:xfrm>
            <a:off x="1381664" y="7021068"/>
            <a:ext cx="2502575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4800" b="1" dirty="0" err="1">
                <a:solidFill>
                  <a:schemeClr val="bg1"/>
                </a:solidFill>
                <a:latin typeface="+mj-lt"/>
                <a:ea typeface="Crimson Pro" pitchFamily="34" charset="-122"/>
                <a:cs typeface="Crimson Pro" pitchFamily="34" charset="-120"/>
              </a:rPr>
              <a:t>Relevansi</a:t>
            </a:r>
            <a:endParaRPr lang="en-US" sz="4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423747D6-9BD6-A207-1242-F9E3420E57B8}"/>
              </a:ext>
            </a:extLst>
          </p:cNvPr>
          <p:cNvSpPr/>
          <p:nvPr/>
        </p:nvSpPr>
        <p:spPr>
          <a:xfrm>
            <a:off x="1375229" y="7365278"/>
            <a:ext cx="5018020" cy="640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Informasi</a:t>
            </a:r>
            <a:r>
              <a:rPr lang="en-US" sz="28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sesuai</a:t>
            </a:r>
            <a:r>
              <a:rPr lang="en-US" sz="28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dengan</a:t>
            </a:r>
            <a:r>
              <a:rPr lang="en-US" sz="28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tujuan</a:t>
            </a:r>
            <a:r>
              <a:rPr lang="en-US" sz="28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tertentu</a:t>
            </a:r>
            <a:r>
              <a:rPr lang="en-US" sz="28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.</a:t>
            </a:r>
            <a:endParaRPr lang="en-US" sz="28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7" name="Image 4" descr="preencoded.png">
            <a:extLst>
              <a:ext uri="{FF2B5EF4-FFF2-40B4-BE49-F238E27FC236}">
                <a16:creationId xmlns:a16="http://schemas.microsoft.com/office/drawing/2014/main" id="{8D2C8318-823F-508D-AAC9-33E19B23EF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8096" y="6325696"/>
            <a:ext cx="500420" cy="500420"/>
          </a:xfrm>
          <a:prstGeom prst="rect">
            <a:avLst/>
          </a:prstGeom>
        </p:spPr>
      </p:pic>
      <p:sp>
        <p:nvSpPr>
          <p:cNvPr id="18" name="Text 9">
            <a:extLst>
              <a:ext uri="{FF2B5EF4-FFF2-40B4-BE49-F238E27FC236}">
                <a16:creationId xmlns:a16="http://schemas.microsoft.com/office/drawing/2014/main" id="{7F485F02-4A71-6D6F-36BA-75AEB38E5CA9}"/>
              </a:ext>
            </a:extLst>
          </p:cNvPr>
          <p:cNvSpPr/>
          <p:nvPr/>
        </p:nvSpPr>
        <p:spPr>
          <a:xfrm>
            <a:off x="7528096" y="7026260"/>
            <a:ext cx="2502575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4800" b="1" dirty="0" err="1">
                <a:solidFill>
                  <a:schemeClr val="bg1"/>
                </a:solidFill>
                <a:latin typeface="+mj-lt"/>
                <a:ea typeface="Crimson Pro" pitchFamily="34" charset="-122"/>
                <a:cs typeface="Crimson Pro" pitchFamily="34" charset="-120"/>
              </a:rPr>
              <a:t>Ketepatan</a:t>
            </a:r>
            <a:r>
              <a:rPr lang="en-US" sz="4800" b="1" dirty="0">
                <a:solidFill>
                  <a:schemeClr val="bg1"/>
                </a:solidFill>
                <a:latin typeface="+mj-lt"/>
                <a:ea typeface="Crimson Pro" pitchFamily="34" charset="-122"/>
                <a:cs typeface="Crimson Pro" pitchFamily="34" charset="-12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+mj-lt"/>
                <a:ea typeface="Crimson Pro" pitchFamily="34" charset="-122"/>
                <a:cs typeface="Crimson Pro" pitchFamily="34" charset="-120"/>
              </a:rPr>
              <a:t>waktu</a:t>
            </a:r>
            <a:endParaRPr lang="en-US" sz="4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1FB0BA-CE52-53D9-9D89-D6602B34E67E}"/>
              </a:ext>
            </a:extLst>
          </p:cNvPr>
          <p:cNvSpPr txBox="1"/>
          <p:nvPr/>
        </p:nvSpPr>
        <p:spPr>
          <a:xfrm>
            <a:off x="7528096" y="7471898"/>
            <a:ext cx="9144000" cy="417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lang="it-IT" sz="28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Informasi tersedia ketika dibutuhkan.</a:t>
            </a:r>
            <a:endParaRPr lang="en-US" sz="28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8085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4" grpId="0" animBg="1"/>
      <p:bldP spid="5" grpId="0" animBg="1"/>
      <p:bldP spid="7" grpId="0" animBg="1"/>
      <p:bldP spid="10" grpId="0" animBg="1"/>
      <p:bldP spid="15" grpId="0" animBg="1"/>
      <p:bldP spid="16" grpId="0" animBg="1"/>
      <p:bldP spid="18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475" r="-18719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930738" y="1033445"/>
            <a:ext cx="15267021" cy="8233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399"/>
              </a:lnSpc>
            </a:pPr>
            <a:r>
              <a:rPr lang="en-US" sz="5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Horizon" panose="020B0604020202020204" charset="0"/>
              </a:rPr>
              <a:t>SIKLUS PENGOLAHAN DATA</a:t>
            </a:r>
          </a:p>
        </p:txBody>
      </p:sp>
      <p:sp>
        <p:nvSpPr>
          <p:cNvPr id="19" name="TextBox 12">
            <a:extLst>
              <a:ext uri="{FF2B5EF4-FFF2-40B4-BE49-F238E27FC236}">
                <a16:creationId xmlns:a16="http://schemas.microsoft.com/office/drawing/2014/main" id="{EFC91264-E195-3ED7-5F34-1E55D174A2D4}"/>
              </a:ext>
            </a:extLst>
          </p:cNvPr>
          <p:cNvSpPr txBox="1"/>
          <p:nvPr/>
        </p:nvSpPr>
        <p:spPr>
          <a:xfrm>
            <a:off x="923118" y="2152515"/>
            <a:ext cx="15267021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Siklus</a:t>
            </a:r>
            <a:r>
              <a:rPr lang="en-US" sz="32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pengolahan</a:t>
            </a:r>
            <a:r>
              <a:rPr lang="en-US" sz="32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data </a:t>
            </a:r>
            <a:r>
              <a:rPr lang="en-US" sz="32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menjelaskan</a:t>
            </a:r>
            <a:r>
              <a:rPr lang="en-US" sz="32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langkah-langkah</a:t>
            </a:r>
            <a:r>
              <a:rPr lang="en-US" sz="32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yang </a:t>
            </a:r>
            <a:r>
              <a:rPr lang="en-US" sz="32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terlibat</a:t>
            </a:r>
            <a:r>
              <a:rPr lang="en-US" sz="32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dalam</a:t>
            </a:r>
            <a:r>
              <a:rPr lang="en-US" sz="32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mengubah</a:t>
            </a:r>
            <a:r>
              <a:rPr lang="en-US" sz="32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data </a:t>
            </a:r>
            <a:r>
              <a:rPr lang="en-US" sz="32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mentah</a:t>
            </a:r>
            <a:r>
              <a:rPr lang="en-US" sz="32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menjadi</a:t>
            </a:r>
            <a:r>
              <a:rPr lang="en-US" sz="32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informasi</a:t>
            </a:r>
            <a:r>
              <a:rPr lang="en-US" sz="32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yang </a:t>
            </a:r>
            <a:r>
              <a:rPr lang="en-US" sz="32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bermakna</a:t>
            </a:r>
            <a:r>
              <a:rPr lang="en-US" sz="32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.</a:t>
            </a:r>
            <a:endParaRPr lang="en-US" sz="3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B4E3BEED-04B1-1901-432B-6EE97F6A56E9}"/>
              </a:ext>
            </a:extLst>
          </p:cNvPr>
          <p:cNvSpPr/>
          <p:nvPr/>
        </p:nvSpPr>
        <p:spPr>
          <a:xfrm>
            <a:off x="930738" y="3572570"/>
            <a:ext cx="15259401" cy="804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Siklus</a:t>
            </a:r>
            <a:r>
              <a:rPr lang="en-US" sz="32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ini</a:t>
            </a:r>
            <a:r>
              <a:rPr lang="en-US" sz="32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mencakup</a:t>
            </a:r>
            <a:r>
              <a:rPr lang="en-US" sz="32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input data, </a:t>
            </a:r>
            <a:r>
              <a:rPr lang="en-US" sz="32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pemrosesan</a:t>
            </a:r>
            <a:r>
              <a:rPr lang="en-US" sz="32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32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penyimpanan</a:t>
            </a:r>
            <a:r>
              <a:rPr lang="en-US" sz="32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, dan output. </a:t>
            </a:r>
            <a:r>
              <a:rPr lang="en-US" sz="32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Setiap</a:t>
            </a:r>
            <a:r>
              <a:rPr lang="en-US" sz="32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langkah</a:t>
            </a:r>
            <a:r>
              <a:rPr lang="en-US" sz="32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berperan</a:t>
            </a:r>
            <a:r>
              <a:rPr lang="en-US" sz="32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penting</a:t>
            </a:r>
            <a:r>
              <a:rPr lang="en-US" sz="32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dalam</a:t>
            </a:r>
            <a:r>
              <a:rPr lang="en-US" sz="32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menciptakan</a:t>
            </a:r>
            <a:r>
              <a:rPr lang="en-US" sz="32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informasi</a:t>
            </a:r>
            <a:r>
              <a:rPr lang="en-US" sz="32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yang </a:t>
            </a:r>
            <a:r>
              <a:rPr lang="en-US" sz="32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berharga</a:t>
            </a:r>
            <a:r>
              <a:rPr lang="en-US" sz="32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dari</a:t>
            </a:r>
            <a:r>
              <a:rPr lang="en-US" sz="32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data </a:t>
            </a:r>
            <a:r>
              <a:rPr lang="en-US" sz="32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mentah</a:t>
            </a:r>
            <a:r>
              <a:rPr lang="en-US" sz="32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.</a:t>
            </a:r>
            <a:endParaRPr lang="en-US" sz="3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0" name="Shape 4">
            <a:extLst>
              <a:ext uri="{FF2B5EF4-FFF2-40B4-BE49-F238E27FC236}">
                <a16:creationId xmlns:a16="http://schemas.microsoft.com/office/drawing/2014/main" id="{306664C4-2921-3BEE-9AD0-D9077A910509}"/>
              </a:ext>
            </a:extLst>
          </p:cNvPr>
          <p:cNvSpPr/>
          <p:nvPr/>
        </p:nvSpPr>
        <p:spPr>
          <a:xfrm>
            <a:off x="1764804" y="5461891"/>
            <a:ext cx="642461" cy="22860"/>
          </a:xfrm>
          <a:prstGeom prst="roundRect">
            <a:avLst>
              <a:gd name="adj" fmla="val 337298"/>
            </a:avLst>
          </a:prstGeom>
          <a:solidFill>
            <a:srgbClr val="D1C8C6"/>
          </a:solidFill>
          <a:ln/>
        </p:spPr>
      </p:sp>
      <p:sp>
        <p:nvSpPr>
          <p:cNvPr id="31" name="Shape 5">
            <a:extLst>
              <a:ext uri="{FF2B5EF4-FFF2-40B4-BE49-F238E27FC236}">
                <a16:creationId xmlns:a16="http://schemas.microsoft.com/office/drawing/2014/main" id="{415EB021-D217-B4CD-2B3E-1E7199ED5B04}"/>
              </a:ext>
            </a:extLst>
          </p:cNvPr>
          <p:cNvSpPr/>
          <p:nvPr/>
        </p:nvSpPr>
        <p:spPr>
          <a:xfrm>
            <a:off x="1374636" y="5266866"/>
            <a:ext cx="413028" cy="413028"/>
          </a:xfrm>
          <a:prstGeom prst="roundRect">
            <a:avLst>
              <a:gd name="adj" fmla="val 18669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011EC0F3-FCC9-2793-6442-515DD6C7639E}"/>
              </a:ext>
            </a:extLst>
          </p:cNvPr>
          <p:cNvSpPr/>
          <p:nvPr/>
        </p:nvSpPr>
        <p:spPr>
          <a:xfrm>
            <a:off x="1529655" y="5335684"/>
            <a:ext cx="102989" cy="275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800" b="1" dirty="0">
                <a:solidFill>
                  <a:srgbClr val="443728"/>
                </a:solidFill>
                <a:latin typeface="+mj-lt"/>
                <a:ea typeface="Crimson Pro" pitchFamily="34" charset="-122"/>
                <a:cs typeface="Crimson Pro" pitchFamily="34" charset="-120"/>
              </a:rPr>
              <a:t>1</a:t>
            </a:r>
            <a:endParaRPr lang="en-US" sz="2800" dirty="0">
              <a:latin typeface="+mj-lt"/>
            </a:endParaRPr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99F8CC95-BAA4-F33D-2104-6FA782693E79}"/>
              </a:ext>
            </a:extLst>
          </p:cNvPr>
          <p:cNvSpPr/>
          <p:nvPr/>
        </p:nvSpPr>
        <p:spPr>
          <a:xfrm>
            <a:off x="2590800" y="5243887"/>
            <a:ext cx="2294811" cy="28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3200" b="1" dirty="0">
                <a:solidFill>
                  <a:schemeClr val="bg1"/>
                </a:solidFill>
                <a:latin typeface="+mj-lt"/>
                <a:ea typeface="Crimson Pro" pitchFamily="34" charset="-122"/>
                <a:cs typeface="Crimson Pro" pitchFamily="34" charset="-120"/>
              </a:rPr>
              <a:t>Input</a:t>
            </a:r>
            <a:endParaRPr lang="en-US" sz="3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4" name="Shape 9">
            <a:extLst>
              <a:ext uri="{FF2B5EF4-FFF2-40B4-BE49-F238E27FC236}">
                <a16:creationId xmlns:a16="http://schemas.microsoft.com/office/drawing/2014/main" id="{C77CCEFB-C1DB-F44C-50CD-249C9B467451}"/>
              </a:ext>
            </a:extLst>
          </p:cNvPr>
          <p:cNvSpPr/>
          <p:nvPr/>
        </p:nvSpPr>
        <p:spPr>
          <a:xfrm>
            <a:off x="1764804" y="6702879"/>
            <a:ext cx="642461" cy="22860"/>
          </a:xfrm>
          <a:prstGeom prst="roundRect">
            <a:avLst>
              <a:gd name="adj" fmla="val 337298"/>
            </a:avLst>
          </a:prstGeom>
          <a:solidFill>
            <a:srgbClr val="D1C8C6"/>
          </a:solidFill>
          <a:ln/>
        </p:spPr>
      </p:sp>
      <p:sp>
        <p:nvSpPr>
          <p:cNvPr id="35" name="Shape 10">
            <a:extLst>
              <a:ext uri="{FF2B5EF4-FFF2-40B4-BE49-F238E27FC236}">
                <a16:creationId xmlns:a16="http://schemas.microsoft.com/office/drawing/2014/main" id="{DFE7CC5A-D749-7023-EA86-ECB21198535A}"/>
              </a:ext>
            </a:extLst>
          </p:cNvPr>
          <p:cNvSpPr/>
          <p:nvPr/>
        </p:nvSpPr>
        <p:spPr>
          <a:xfrm>
            <a:off x="1374636" y="6507855"/>
            <a:ext cx="413028" cy="413028"/>
          </a:xfrm>
          <a:prstGeom prst="roundRect">
            <a:avLst>
              <a:gd name="adj" fmla="val 18669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6" name="Text 11">
            <a:extLst>
              <a:ext uri="{FF2B5EF4-FFF2-40B4-BE49-F238E27FC236}">
                <a16:creationId xmlns:a16="http://schemas.microsoft.com/office/drawing/2014/main" id="{301DEEF9-358C-4B3B-B697-CBBF7378400F}"/>
              </a:ext>
            </a:extLst>
          </p:cNvPr>
          <p:cNvSpPr/>
          <p:nvPr/>
        </p:nvSpPr>
        <p:spPr>
          <a:xfrm>
            <a:off x="1510962" y="6576673"/>
            <a:ext cx="140375" cy="275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400" b="1" dirty="0">
                <a:solidFill>
                  <a:srgbClr val="443728"/>
                </a:solidFill>
                <a:latin typeface="+mj-lt"/>
                <a:ea typeface="Crimson Pro" pitchFamily="34" charset="-122"/>
                <a:cs typeface="Crimson Pro" pitchFamily="34" charset="-120"/>
              </a:rPr>
              <a:t>2</a:t>
            </a:r>
            <a:endParaRPr lang="en-US" sz="2400" dirty="0">
              <a:latin typeface="+mj-lt"/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D1C30661-5B62-30FF-C4ED-4046060FAD92}"/>
              </a:ext>
            </a:extLst>
          </p:cNvPr>
          <p:cNvSpPr/>
          <p:nvPr/>
        </p:nvSpPr>
        <p:spPr>
          <a:xfrm>
            <a:off x="2590800" y="6484876"/>
            <a:ext cx="2294811" cy="28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3200" b="1" dirty="0">
                <a:solidFill>
                  <a:schemeClr val="bg1"/>
                </a:solidFill>
                <a:latin typeface="+mj-lt"/>
                <a:ea typeface="Crimson Pro" pitchFamily="34" charset="-122"/>
                <a:cs typeface="Crimson Pro" pitchFamily="34" charset="-120"/>
              </a:rPr>
              <a:t>Processing</a:t>
            </a:r>
            <a:endParaRPr lang="en-US" sz="3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8" name="Shape 14">
            <a:extLst>
              <a:ext uri="{FF2B5EF4-FFF2-40B4-BE49-F238E27FC236}">
                <a16:creationId xmlns:a16="http://schemas.microsoft.com/office/drawing/2014/main" id="{B8756D29-776C-7415-FB4F-20FEFDC2411F}"/>
              </a:ext>
            </a:extLst>
          </p:cNvPr>
          <p:cNvSpPr/>
          <p:nvPr/>
        </p:nvSpPr>
        <p:spPr>
          <a:xfrm>
            <a:off x="1764804" y="7943867"/>
            <a:ext cx="642461" cy="22860"/>
          </a:xfrm>
          <a:prstGeom prst="roundRect">
            <a:avLst>
              <a:gd name="adj" fmla="val 337298"/>
            </a:avLst>
          </a:prstGeom>
          <a:solidFill>
            <a:srgbClr val="D1C8C6"/>
          </a:solidFill>
          <a:ln/>
        </p:spPr>
      </p:sp>
      <p:sp>
        <p:nvSpPr>
          <p:cNvPr id="39" name="Shape 15">
            <a:extLst>
              <a:ext uri="{FF2B5EF4-FFF2-40B4-BE49-F238E27FC236}">
                <a16:creationId xmlns:a16="http://schemas.microsoft.com/office/drawing/2014/main" id="{EC770047-031F-F27E-038C-204E9B1BF8E7}"/>
              </a:ext>
            </a:extLst>
          </p:cNvPr>
          <p:cNvSpPr/>
          <p:nvPr/>
        </p:nvSpPr>
        <p:spPr>
          <a:xfrm>
            <a:off x="1374636" y="7748843"/>
            <a:ext cx="413028" cy="413028"/>
          </a:xfrm>
          <a:prstGeom prst="roundRect">
            <a:avLst>
              <a:gd name="adj" fmla="val 18669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40" name="Text 16">
            <a:extLst>
              <a:ext uri="{FF2B5EF4-FFF2-40B4-BE49-F238E27FC236}">
                <a16:creationId xmlns:a16="http://schemas.microsoft.com/office/drawing/2014/main" id="{4ECA45A5-722A-BDD5-FB52-B3C4F15A525F}"/>
              </a:ext>
            </a:extLst>
          </p:cNvPr>
          <p:cNvSpPr/>
          <p:nvPr/>
        </p:nvSpPr>
        <p:spPr>
          <a:xfrm>
            <a:off x="1513939" y="7817661"/>
            <a:ext cx="134422" cy="275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400" b="1" dirty="0">
                <a:solidFill>
                  <a:srgbClr val="443728"/>
                </a:solidFill>
                <a:latin typeface="+mj-lt"/>
                <a:ea typeface="Crimson Pro" pitchFamily="34" charset="-122"/>
                <a:cs typeface="Crimson Pro" pitchFamily="34" charset="-120"/>
              </a:rPr>
              <a:t>3</a:t>
            </a:r>
            <a:endParaRPr lang="en-US" sz="2400" dirty="0">
              <a:latin typeface="+mj-lt"/>
            </a:endParaRPr>
          </a:p>
        </p:txBody>
      </p:sp>
      <p:sp>
        <p:nvSpPr>
          <p:cNvPr id="41" name="Text 17">
            <a:extLst>
              <a:ext uri="{FF2B5EF4-FFF2-40B4-BE49-F238E27FC236}">
                <a16:creationId xmlns:a16="http://schemas.microsoft.com/office/drawing/2014/main" id="{9CD9E510-1EDB-91F6-51A5-67127214C375}"/>
              </a:ext>
            </a:extLst>
          </p:cNvPr>
          <p:cNvSpPr/>
          <p:nvPr/>
        </p:nvSpPr>
        <p:spPr>
          <a:xfrm>
            <a:off x="2590800" y="7725864"/>
            <a:ext cx="2294811" cy="28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3200" b="1" dirty="0">
                <a:solidFill>
                  <a:schemeClr val="bg1"/>
                </a:solidFill>
                <a:latin typeface="+mj-lt"/>
                <a:ea typeface="Crimson Pro" pitchFamily="34" charset="-122"/>
                <a:cs typeface="Crimson Pro" pitchFamily="34" charset="-120"/>
              </a:rPr>
              <a:t>Storage/</a:t>
            </a:r>
            <a:r>
              <a:rPr lang="en-US" sz="3200" b="1" dirty="0" err="1">
                <a:solidFill>
                  <a:schemeClr val="bg1"/>
                </a:solidFill>
                <a:latin typeface="+mj-lt"/>
                <a:ea typeface="Crimson Pro" pitchFamily="34" charset="-122"/>
                <a:cs typeface="Crimson Pro" pitchFamily="34" charset="-120"/>
              </a:rPr>
              <a:t>Penyimpanan</a:t>
            </a:r>
            <a:endParaRPr lang="en-US" sz="3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2" name="Shape 19">
            <a:extLst>
              <a:ext uri="{FF2B5EF4-FFF2-40B4-BE49-F238E27FC236}">
                <a16:creationId xmlns:a16="http://schemas.microsoft.com/office/drawing/2014/main" id="{617DC2A8-F36D-3C12-BA7D-2305D2E5E4BA}"/>
              </a:ext>
            </a:extLst>
          </p:cNvPr>
          <p:cNvSpPr/>
          <p:nvPr/>
        </p:nvSpPr>
        <p:spPr>
          <a:xfrm>
            <a:off x="1764804" y="9184856"/>
            <a:ext cx="642461" cy="22860"/>
          </a:xfrm>
          <a:prstGeom prst="roundRect">
            <a:avLst>
              <a:gd name="adj" fmla="val 337298"/>
            </a:avLst>
          </a:prstGeom>
          <a:solidFill>
            <a:srgbClr val="D1C8C6"/>
          </a:solidFill>
          <a:ln/>
        </p:spPr>
      </p:sp>
      <p:sp>
        <p:nvSpPr>
          <p:cNvPr id="43" name="Shape 20">
            <a:extLst>
              <a:ext uri="{FF2B5EF4-FFF2-40B4-BE49-F238E27FC236}">
                <a16:creationId xmlns:a16="http://schemas.microsoft.com/office/drawing/2014/main" id="{47E7D3F9-F8A0-EE8F-919C-15BF0525BA60}"/>
              </a:ext>
            </a:extLst>
          </p:cNvPr>
          <p:cNvSpPr/>
          <p:nvPr/>
        </p:nvSpPr>
        <p:spPr>
          <a:xfrm>
            <a:off x="1374636" y="8989832"/>
            <a:ext cx="413028" cy="413028"/>
          </a:xfrm>
          <a:prstGeom prst="roundRect">
            <a:avLst>
              <a:gd name="adj" fmla="val 18669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44" name="Text 21">
            <a:extLst>
              <a:ext uri="{FF2B5EF4-FFF2-40B4-BE49-F238E27FC236}">
                <a16:creationId xmlns:a16="http://schemas.microsoft.com/office/drawing/2014/main" id="{4F06B2F6-3497-49DA-F782-9C2DE3312DD0}"/>
              </a:ext>
            </a:extLst>
          </p:cNvPr>
          <p:cNvSpPr/>
          <p:nvPr/>
        </p:nvSpPr>
        <p:spPr>
          <a:xfrm>
            <a:off x="1506914" y="9058650"/>
            <a:ext cx="148471" cy="275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400" b="1" dirty="0">
                <a:solidFill>
                  <a:srgbClr val="443728"/>
                </a:solidFill>
                <a:latin typeface="+mj-lt"/>
                <a:ea typeface="Crimson Pro" pitchFamily="34" charset="-122"/>
                <a:cs typeface="Crimson Pro" pitchFamily="34" charset="-120"/>
              </a:rPr>
              <a:t>4</a:t>
            </a:r>
            <a:endParaRPr lang="en-US" sz="2400" dirty="0">
              <a:latin typeface="+mj-lt"/>
            </a:endParaRPr>
          </a:p>
        </p:txBody>
      </p:sp>
      <p:sp>
        <p:nvSpPr>
          <p:cNvPr id="45" name="Text 22">
            <a:extLst>
              <a:ext uri="{FF2B5EF4-FFF2-40B4-BE49-F238E27FC236}">
                <a16:creationId xmlns:a16="http://schemas.microsoft.com/office/drawing/2014/main" id="{F9791E63-E82C-87D5-E197-97F61E299763}"/>
              </a:ext>
            </a:extLst>
          </p:cNvPr>
          <p:cNvSpPr/>
          <p:nvPr/>
        </p:nvSpPr>
        <p:spPr>
          <a:xfrm>
            <a:off x="2590800" y="8966852"/>
            <a:ext cx="2294811" cy="28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3200" b="1" dirty="0">
                <a:solidFill>
                  <a:schemeClr val="bg1"/>
                </a:solidFill>
                <a:latin typeface="+mj-lt"/>
                <a:ea typeface="Crimson Pro" pitchFamily="34" charset="-122"/>
                <a:cs typeface="Crimson Pro" pitchFamily="34" charset="-120"/>
              </a:rPr>
              <a:t>Output</a:t>
            </a:r>
            <a:endParaRPr lang="en-US" sz="3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6" name="Text 8">
            <a:extLst>
              <a:ext uri="{FF2B5EF4-FFF2-40B4-BE49-F238E27FC236}">
                <a16:creationId xmlns:a16="http://schemas.microsoft.com/office/drawing/2014/main" id="{AE3DE6BC-F94C-60FE-A708-2B2788C9A7E1}"/>
              </a:ext>
            </a:extLst>
          </p:cNvPr>
          <p:cNvSpPr/>
          <p:nvPr/>
        </p:nvSpPr>
        <p:spPr>
          <a:xfrm>
            <a:off x="2628900" y="5679894"/>
            <a:ext cx="6574155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8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Mengumpulkan</a:t>
            </a:r>
            <a:r>
              <a:rPr lang="en-US" sz="28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data </a:t>
            </a:r>
            <a:r>
              <a:rPr lang="en-US" sz="28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mentah</a:t>
            </a:r>
            <a:r>
              <a:rPr lang="en-US" sz="28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dari</a:t>
            </a:r>
            <a:r>
              <a:rPr lang="en-US" sz="28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berbagai</a:t>
            </a:r>
            <a:r>
              <a:rPr lang="en-US" sz="28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sumber</a:t>
            </a:r>
            <a:r>
              <a:rPr lang="en-US" sz="28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.</a:t>
            </a:r>
            <a:endParaRPr lang="en-US" sz="2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7" name="Text 13">
            <a:extLst>
              <a:ext uri="{FF2B5EF4-FFF2-40B4-BE49-F238E27FC236}">
                <a16:creationId xmlns:a16="http://schemas.microsoft.com/office/drawing/2014/main" id="{2D26B65D-FF52-4BFA-196F-4F96015C6E3A}"/>
              </a:ext>
            </a:extLst>
          </p:cNvPr>
          <p:cNvSpPr/>
          <p:nvPr/>
        </p:nvSpPr>
        <p:spPr>
          <a:xfrm>
            <a:off x="2628900" y="6920883"/>
            <a:ext cx="6574155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80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Mengubah data mentah menjadi informasi yang bermakna.</a:t>
            </a:r>
            <a:endParaRPr lang="en-US" sz="2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8" name="Text 18">
            <a:extLst>
              <a:ext uri="{FF2B5EF4-FFF2-40B4-BE49-F238E27FC236}">
                <a16:creationId xmlns:a16="http://schemas.microsoft.com/office/drawing/2014/main" id="{FE4456C8-A51C-040C-FB3A-ECFF8B1C827E}"/>
              </a:ext>
            </a:extLst>
          </p:cNvPr>
          <p:cNvSpPr/>
          <p:nvPr/>
        </p:nvSpPr>
        <p:spPr>
          <a:xfrm>
            <a:off x="2628900" y="8161871"/>
            <a:ext cx="6574155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8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Menyimpan</a:t>
            </a:r>
            <a:r>
              <a:rPr lang="en-US" sz="28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informasi</a:t>
            </a:r>
            <a:r>
              <a:rPr lang="en-US" sz="28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yang </a:t>
            </a:r>
            <a:r>
              <a:rPr lang="en-US" sz="28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sudah</a:t>
            </a:r>
            <a:r>
              <a:rPr lang="en-US" sz="28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diproses</a:t>
            </a:r>
            <a:r>
              <a:rPr lang="en-US" sz="28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untuk</a:t>
            </a:r>
            <a:r>
              <a:rPr lang="en-US" sz="28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digunakan</a:t>
            </a:r>
            <a:r>
              <a:rPr lang="en-US" sz="28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di masa </a:t>
            </a:r>
            <a:r>
              <a:rPr lang="en-US" sz="28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depan</a:t>
            </a:r>
            <a:r>
              <a:rPr lang="en-US" sz="28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.</a:t>
            </a:r>
            <a:endParaRPr lang="en-US" sz="2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9" name="Text 23">
            <a:extLst>
              <a:ext uri="{FF2B5EF4-FFF2-40B4-BE49-F238E27FC236}">
                <a16:creationId xmlns:a16="http://schemas.microsoft.com/office/drawing/2014/main" id="{5047850B-FDED-C50D-03E7-06C3284A3A2D}"/>
              </a:ext>
            </a:extLst>
          </p:cNvPr>
          <p:cNvSpPr/>
          <p:nvPr/>
        </p:nvSpPr>
        <p:spPr>
          <a:xfrm>
            <a:off x="2628900" y="9402860"/>
            <a:ext cx="6574155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8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Menyajikan</a:t>
            </a:r>
            <a:r>
              <a:rPr lang="en-US" sz="28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informasi</a:t>
            </a:r>
            <a:r>
              <a:rPr lang="en-US" sz="28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yang </a:t>
            </a:r>
            <a:r>
              <a:rPr lang="en-US" sz="28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telah</a:t>
            </a:r>
            <a:r>
              <a:rPr lang="en-US" sz="28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diproses</a:t>
            </a:r>
            <a:r>
              <a:rPr lang="en-US" sz="28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dalam</a:t>
            </a:r>
            <a:r>
              <a:rPr lang="en-US" sz="28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format yang </a:t>
            </a:r>
            <a:r>
              <a:rPr lang="en-US" sz="28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berguna</a:t>
            </a:r>
            <a:r>
              <a:rPr lang="en-US" sz="28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.</a:t>
            </a:r>
            <a:endParaRPr lang="en-US" sz="28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15507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5" grpId="0" animBg="1"/>
      <p:bldP spid="36" grpId="0" animBg="1"/>
      <p:bldP spid="37" grpId="0" animBg="1"/>
      <p:bldP spid="40" grpId="0" animBg="1"/>
      <p:bldP spid="41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475" r="-18719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1" name="TextBox 11"/>
          <p:cNvSpPr txBox="1"/>
          <p:nvPr/>
        </p:nvSpPr>
        <p:spPr>
          <a:xfrm>
            <a:off x="1023368" y="300174"/>
            <a:ext cx="15512032" cy="8233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399"/>
              </a:lnSpc>
            </a:pPr>
            <a:r>
              <a:rPr lang="en-US" sz="5400" dirty="0">
                <a:solidFill>
                  <a:srgbClr val="5BA3F8"/>
                </a:solidFill>
                <a:latin typeface="Horizon"/>
                <a:ea typeface="Horizon"/>
                <a:cs typeface="Horizon"/>
                <a:sym typeface="Horizon"/>
              </a:rPr>
              <a:t>STUDI KASUS</a:t>
            </a:r>
          </a:p>
        </p:txBody>
      </p:sp>
      <p:sp>
        <p:nvSpPr>
          <p:cNvPr id="19" name="TextBox 12">
            <a:extLst>
              <a:ext uri="{FF2B5EF4-FFF2-40B4-BE49-F238E27FC236}">
                <a16:creationId xmlns:a16="http://schemas.microsoft.com/office/drawing/2014/main" id="{EFC91264-E195-3ED7-5F34-1E55D174A2D4}"/>
              </a:ext>
            </a:extLst>
          </p:cNvPr>
          <p:cNvSpPr txBox="1"/>
          <p:nvPr/>
        </p:nvSpPr>
        <p:spPr>
          <a:xfrm>
            <a:off x="685800" y="1465065"/>
            <a:ext cx="16666260" cy="4308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err="1">
                <a:solidFill>
                  <a:schemeClr val="bg1"/>
                </a:solidFill>
              </a:rPr>
              <a:t>Bayangkan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sebuah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toko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ritel</a:t>
            </a:r>
            <a:r>
              <a:rPr lang="en-US" sz="4000" dirty="0">
                <a:solidFill>
                  <a:schemeClr val="bg1"/>
                </a:solidFill>
              </a:rPr>
              <a:t> yang </a:t>
            </a:r>
            <a:r>
              <a:rPr lang="en-US" sz="4000" dirty="0" err="1">
                <a:solidFill>
                  <a:schemeClr val="bg1"/>
                </a:solidFill>
              </a:rPr>
              <a:t>melacak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transaksi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penjualan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harian</a:t>
            </a:r>
            <a:r>
              <a:rPr lang="en-US" sz="4000" dirty="0">
                <a:solidFill>
                  <a:schemeClr val="bg1"/>
                </a:solidFill>
              </a:rPr>
              <a:t>. Data </a:t>
            </a:r>
            <a:r>
              <a:rPr lang="en-US" sz="4000" dirty="0" err="1">
                <a:solidFill>
                  <a:schemeClr val="bg1"/>
                </a:solidFill>
              </a:rPr>
              <a:t>mentahnya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mencakup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tanggal</a:t>
            </a:r>
            <a:r>
              <a:rPr lang="en-US" sz="4000" dirty="0">
                <a:solidFill>
                  <a:schemeClr val="bg1"/>
                </a:solidFill>
              </a:rPr>
              <a:t>, </a:t>
            </a:r>
            <a:r>
              <a:rPr lang="en-US" sz="4000" dirty="0" err="1">
                <a:solidFill>
                  <a:schemeClr val="bg1"/>
                </a:solidFill>
              </a:rPr>
              <a:t>waktu</a:t>
            </a:r>
            <a:r>
              <a:rPr lang="en-US" sz="4000" dirty="0">
                <a:solidFill>
                  <a:schemeClr val="bg1"/>
                </a:solidFill>
              </a:rPr>
              <a:t>, </a:t>
            </a:r>
            <a:r>
              <a:rPr lang="en-US" sz="4000" dirty="0" err="1">
                <a:solidFill>
                  <a:schemeClr val="bg1"/>
                </a:solidFill>
              </a:rPr>
              <a:t>produk</a:t>
            </a:r>
            <a:r>
              <a:rPr lang="en-US" sz="4000" dirty="0">
                <a:solidFill>
                  <a:schemeClr val="bg1"/>
                </a:solidFill>
              </a:rPr>
              <a:t> yang </a:t>
            </a:r>
            <a:r>
              <a:rPr lang="en-US" sz="4000" dirty="0" err="1">
                <a:solidFill>
                  <a:schemeClr val="bg1"/>
                </a:solidFill>
              </a:rPr>
              <a:t>terjual</a:t>
            </a:r>
            <a:r>
              <a:rPr lang="en-US" sz="4000" dirty="0">
                <a:solidFill>
                  <a:schemeClr val="bg1"/>
                </a:solidFill>
              </a:rPr>
              <a:t>, dan </a:t>
            </a:r>
            <a:r>
              <a:rPr lang="en-US" sz="4000" dirty="0" err="1">
                <a:solidFill>
                  <a:schemeClr val="bg1"/>
                </a:solidFill>
              </a:rPr>
              <a:t>jumlah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pembelian</a:t>
            </a:r>
            <a:r>
              <a:rPr lang="en-US" sz="4000" dirty="0">
                <a:solidFill>
                  <a:schemeClr val="bg1"/>
                </a:solidFill>
              </a:rPr>
              <a:t>. Data </a:t>
            </a:r>
            <a:r>
              <a:rPr lang="en-US" sz="4000" dirty="0" err="1">
                <a:solidFill>
                  <a:schemeClr val="bg1"/>
                </a:solidFill>
              </a:rPr>
              <a:t>ini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sendiri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tidak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memberikan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wawasan</a:t>
            </a:r>
            <a:r>
              <a:rPr lang="en-US" sz="4000" dirty="0">
                <a:solidFill>
                  <a:schemeClr val="bg1"/>
                </a:solidFill>
              </a:rPr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err="1">
                <a:solidFill>
                  <a:schemeClr val="bg1"/>
                </a:solidFill>
              </a:rPr>
              <a:t>Namun</a:t>
            </a:r>
            <a:r>
              <a:rPr lang="en-US" sz="4000" dirty="0">
                <a:solidFill>
                  <a:schemeClr val="bg1"/>
                </a:solidFill>
              </a:rPr>
              <a:t>, </a:t>
            </a:r>
            <a:r>
              <a:rPr lang="en-US" sz="4000" dirty="0" err="1">
                <a:solidFill>
                  <a:schemeClr val="bg1"/>
                </a:solidFill>
              </a:rPr>
              <a:t>dengan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memproses</a:t>
            </a:r>
            <a:r>
              <a:rPr lang="en-US" sz="4000" dirty="0">
                <a:solidFill>
                  <a:schemeClr val="bg1"/>
                </a:solidFill>
              </a:rPr>
              <a:t> dan </a:t>
            </a:r>
            <a:r>
              <a:rPr lang="en-US" sz="4000" dirty="0" err="1">
                <a:solidFill>
                  <a:schemeClr val="bg1"/>
                </a:solidFill>
              </a:rPr>
              <a:t>menganalisis</a:t>
            </a:r>
            <a:r>
              <a:rPr lang="en-US" sz="4000" dirty="0">
                <a:solidFill>
                  <a:schemeClr val="bg1"/>
                </a:solidFill>
              </a:rPr>
              <a:t> data </a:t>
            </a:r>
            <a:r>
              <a:rPr lang="en-US" sz="4000" dirty="0" err="1">
                <a:solidFill>
                  <a:schemeClr val="bg1"/>
                </a:solidFill>
              </a:rPr>
              <a:t>ini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dapat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ditemukan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tren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dalam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pola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penjualan</a:t>
            </a:r>
            <a:r>
              <a:rPr lang="en-US" sz="4000" dirty="0">
                <a:solidFill>
                  <a:schemeClr val="bg1"/>
                </a:solidFill>
              </a:rPr>
              <a:t>, </a:t>
            </a:r>
            <a:r>
              <a:rPr lang="en-US" sz="4000" dirty="0" err="1">
                <a:solidFill>
                  <a:schemeClr val="bg1"/>
                </a:solidFill>
              </a:rPr>
              <a:t>produk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populer</a:t>
            </a:r>
            <a:r>
              <a:rPr lang="en-US" sz="4000" dirty="0">
                <a:solidFill>
                  <a:schemeClr val="bg1"/>
                </a:solidFill>
              </a:rPr>
              <a:t>, dan </a:t>
            </a:r>
            <a:r>
              <a:rPr lang="en-US" sz="4000" dirty="0" err="1">
                <a:solidFill>
                  <a:schemeClr val="bg1"/>
                </a:solidFill>
              </a:rPr>
              <a:t>preferensi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pelanggan</a:t>
            </a:r>
            <a:r>
              <a:rPr lang="en-US" sz="4000" dirty="0">
                <a:solidFill>
                  <a:schemeClr val="bg1"/>
                </a:solidFill>
              </a:rPr>
              <a:t>. </a:t>
            </a:r>
            <a:r>
              <a:rPr lang="en-US" sz="4000" dirty="0" err="1">
                <a:solidFill>
                  <a:schemeClr val="bg1"/>
                </a:solidFill>
              </a:rPr>
              <a:t>Informasi</a:t>
            </a:r>
            <a:r>
              <a:rPr lang="en-US" sz="4000" dirty="0">
                <a:solidFill>
                  <a:schemeClr val="bg1"/>
                </a:solidFill>
              </a:rPr>
              <a:t> yang </a:t>
            </a:r>
            <a:r>
              <a:rPr lang="en-US" sz="4000" dirty="0" err="1">
                <a:solidFill>
                  <a:schemeClr val="bg1"/>
                </a:solidFill>
              </a:rPr>
              <a:t>sudah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diproses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ini</a:t>
            </a:r>
            <a:r>
              <a:rPr lang="en-US" sz="4000" dirty="0">
                <a:solidFill>
                  <a:schemeClr val="bg1"/>
                </a:solidFill>
              </a:rPr>
              <a:t> sangat </a:t>
            </a:r>
            <a:r>
              <a:rPr lang="en-US" sz="4000" dirty="0" err="1">
                <a:solidFill>
                  <a:schemeClr val="bg1"/>
                </a:solidFill>
              </a:rPr>
              <a:t>berharga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untuk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membuat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keputusan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strategis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terkait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inventaris</a:t>
            </a:r>
            <a:r>
              <a:rPr lang="en-US" sz="4000" dirty="0">
                <a:solidFill>
                  <a:schemeClr val="bg1"/>
                </a:solidFill>
              </a:rPr>
              <a:t>, </a:t>
            </a:r>
            <a:r>
              <a:rPr lang="en-US" sz="4000" dirty="0" err="1">
                <a:solidFill>
                  <a:schemeClr val="bg1"/>
                </a:solidFill>
              </a:rPr>
              <a:t>pemasaran</a:t>
            </a:r>
            <a:r>
              <a:rPr lang="en-US" sz="4000" dirty="0">
                <a:solidFill>
                  <a:schemeClr val="bg1"/>
                </a:solidFill>
              </a:rPr>
              <a:t>, dan </a:t>
            </a:r>
            <a:r>
              <a:rPr lang="en-US" sz="4000" dirty="0" err="1">
                <a:solidFill>
                  <a:schemeClr val="bg1"/>
                </a:solidFill>
              </a:rPr>
              <a:t>penetapan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harga</a:t>
            </a:r>
            <a:r>
              <a:rPr lang="en-US" sz="40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DCA903A9-D9DD-C4B9-735C-570340876E24}"/>
              </a:ext>
            </a:extLst>
          </p:cNvPr>
          <p:cNvSpPr/>
          <p:nvPr/>
        </p:nvSpPr>
        <p:spPr>
          <a:xfrm>
            <a:off x="1371600" y="66674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defTabSz="91440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Crimson Pro" pitchFamily="34" charset="-122"/>
                <a:cs typeface="Crimson Pro" pitchFamily="34" charset="-120"/>
              </a:rPr>
              <a:t>Data</a:t>
            </a:r>
            <a:endParaRPr kumimoji="0" lang="en-US" sz="4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0754DF26-DFA2-D629-DDDB-6CCC1F4B61F9}"/>
              </a:ext>
            </a:extLst>
          </p:cNvPr>
          <p:cNvSpPr/>
          <p:nvPr/>
        </p:nvSpPr>
        <p:spPr>
          <a:xfrm>
            <a:off x="1023368" y="7355991"/>
            <a:ext cx="5881807" cy="2630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Data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Waktu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Produk</a:t>
            </a:r>
            <a:r>
              <a:rPr lang="en-US" sz="36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yang </a:t>
            </a:r>
            <a:r>
              <a:rPr lang="en-US" sz="36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terjual</a:t>
            </a:r>
            <a:endParaRPr lang="en-US" sz="3600" dirty="0">
              <a:solidFill>
                <a:schemeClr val="bg1"/>
              </a:solidFill>
              <a:latin typeface="+mj-lt"/>
              <a:ea typeface="Open Sans" pitchFamily="34" charset="-122"/>
              <a:cs typeface="Open Sans" pitchFamily="34" charset="-120"/>
            </a:endParaRP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Jumlah</a:t>
            </a:r>
            <a:r>
              <a:rPr lang="en-US" sz="36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Pembelian</a:t>
            </a:r>
            <a:endParaRPr lang="en-US" sz="3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1659D91D-A06C-1AF6-8691-6518CAA8B984}"/>
              </a:ext>
            </a:extLst>
          </p:cNvPr>
          <p:cNvSpPr/>
          <p:nvPr/>
        </p:nvSpPr>
        <p:spPr>
          <a:xfrm>
            <a:off x="9523571" y="66674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defTabSz="91440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Crimson Pro" pitchFamily="34" charset="-122"/>
                <a:cs typeface="Crimson Pro" pitchFamily="34" charset="-120"/>
              </a:rPr>
              <a:t>Information</a:t>
            </a:r>
            <a:endParaRPr kumimoji="0" lang="en-US" sz="4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37E5D711-9CC3-9C8D-AB94-E2029D6DF1A9}"/>
              </a:ext>
            </a:extLst>
          </p:cNvPr>
          <p:cNvSpPr/>
          <p:nvPr/>
        </p:nvSpPr>
        <p:spPr>
          <a:xfrm>
            <a:off x="9296400" y="7338997"/>
            <a:ext cx="5881807" cy="2630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36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Pola </a:t>
            </a:r>
            <a:r>
              <a:rPr lang="en-US" sz="36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Penjualan</a:t>
            </a:r>
            <a:r>
              <a:rPr lang="en-US" sz="36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	</a:t>
            </a:r>
          </a:p>
          <a:p>
            <a:pPr marL="342900" indent="-342900" algn="l">
              <a:buSzPct val="100000"/>
              <a:buChar char="•"/>
            </a:pPr>
            <a:r>
              <a:rPr lang="en-US" sz="36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Produk</a:t>
            </a:r>
            <a:r>
              <a:rPr lang="en-US" sz="36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Populer</a:t>
            </a:r>
            <a:endParaRPr lang="en-US" sz="3600" dirty="0">
              <a:solidFill>
                <a:schemeClr val="bg1"/>
              </a:solidFill>
              <a:latin typeface="+mj-lt"/>
              <a:ea typeface="Open Sans" pitchFamily="34" charset="-122"/>
              <a:cs typeface="Open Sans" pitchFamily="34" charset="-120"/>
            </a:endParaRPr>
          </a:p>
          <a:p>
            <a:pPr marL="342900" indent="-342900" algn="l">
              <a:buSzPct val="100000"/>
              <a:buChar char="•"/>
            </a:pPr>
            <a:r>
              <a:rPr lang="en-US" sz="36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Preferensi</a:t>
            </a:r>
            <a:r>
              <a:rPr lang="en-US" sz="36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Pelanggan</a:t>
            </a:r>
            <a:endParaRPr lang="en-US" sz="3600" dirty="0">
              <a:solidFill>
                <a:schemeClr val="bg1"/>
              </a:solidFill>
              <a:latin typeface="+mj-lt"/>
              <a:ea typeface="Open Sans" pitchFamily="34" charset="-122"/>
              <a:cs typeface="Open San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44034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475" r="-18719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1" name="TextBox 11"/>
          <p:cNvSpPr txBox="1"/>
          <p:nvPr/>
        </p:nvSpPr>
        <p:spPr>
          <a:xfrm>
            <a:off x="1023368" y="300174"/>
            <a:ext cx="15512032" cy="2464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399"/>
              </a:lnSpc>
            </a:pPr>
            <a:r>
              <a:rPr lang="en-US" sz="5400" dirty="0">
                <a:solidFill>
                  <a:srgbClr val="5BA3F8"/>
                </a:solidFill>
                <a:latin typeface="Horizon"/>
                <a:ea typeface="Horizon"/>
                <a:cs typeface="Horizon"/>
                <a:sym typeface="Horizon"/>
              </a:rPr>
              <a:t>INFORMATION SYSTEM IN BUSINESS</a:t>
            </a:r>
          </a:p>
          <a:p>
            <a:pPr algn="l">
              <a:lnSpc>
                <a:spcPts val="6399"/>
              </a:lnSpc>
            </a:pPr>
            <a:endParaRPr lang="en-US" sz="5400" dirty="0">
              <a:solidFill>
                <a:srgbClr val="5BA3F8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  <p:sp>
        <p:nvSpPr>
          <p:cNvPr id="19" name="TextBox 12">
            <a:extLst>
              <a:ext uri="{FF2B5EF4-FFF2-40B4-BE49-F238E27FC236}">
                <a16:creationId xmlns:a16="http://schemas.microsoft.com/office/drawing/2014/main" id="{EFC91264-E195-3ED7-5F34-1E55D174A2D4}"/>
              </a:ext>
            </a:extLst>
          </p:cNvPr>
          <p:cNvSpPr txBox="1"/>
          <p:nvPr/>
        </p:nvSpPr>
        <p:spPr>
          <a:xfrm>
            <a:off x="810870" y="2149398"/>
            <a:ext cx="16666260" cy="4308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A </a:t>
            </a:r>
            <a:r>
              <a:rPr lang="en-US" sz="4000" dirty="0" err="1">
                <a:solidFill>
                  <a:schemeClr val="bg1"/>
                </a:solidFill>
              </a:rPr>
              <a:t>Sistem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informasi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bisnis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adalah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kunci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untuk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mengelola</a:t>
            </a:r>
            <a:r>
              <a:rPr lang="en-US" sz="4000" dirty="0">
                <a:solidFill>
                  <a:schemeClr val="bg1"/>
                </a:solidFill>
              </a:rPr>
              <a:t>, </a:t>
            </a:r>
            <a:r>
              <a:rPr lang="en-US" sz="4000" dirty="0" err="1">
                <a:solidFill>
                  <a:schemeClr val="bg1"/>
                </a:solidFill>
              </a:rPr>
              <a:t>menganalisis</a:t>
            </a:r>
            <a:r>
              <a:rPr lang="en-US" sz="4000" dirty="0">
                <a:solidFill>
                  <a:schemeClr val="bg1"/>
                </a:solidFill>
              </a:rPr>
              <a:t>, dan </a:t>
            </a:r>
            <a:r>
              <a:rPr lang="en-US" sz="4000" dirty="0" err="1">
                <a:solidFill>
                  <a:schemeClr val="bg1"/>
                </a:solidFill>
              </a:rPr>
              <a:t>memanfaatkan</a:t>
            </a:r>
            <a:r>
              <a:rPr lang="en-US" sz="4000" dirty="0">
                <a:solidFill>
                  <a:schemeClr val="bg1"/>
                </a:solidFill>
              </a:rPr>
              <a:t> data dan </a:t>
            </a:r>
            <a:r>
              <a:rPr lang="en-US" sz="4000" dirty="0" err="1">
                <a:solidFill>
                  <a:schemeClr val="bg1"/>
                </a:solidFill>
              </a:rPr>
              <a:t>informasi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dengan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efisien</a:t>
            </a:r>
            <a:r>
              <a:rPr lang="en-US" sz="4000" dirty="0">
                <a:solidFill>
                  <a:schemeClr val="bg1"/>
                </a:solidFill>
              </a:rPr>
              <a:t>, </a:t>
            </a:r>
            <a:r>
              <a:rPr lang="en-US" sz="4000" dirty="0" err="1">
                <a:solidFill>
                  <a:schemeClr val="bg1"/>
                </a:solidFill>
              </a:rPr>
              <a:t>memberikan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keunggulan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kompetitif</a:t>
            </a:r>
            <a:r>
              <a:rPr lang="en-US" sz="4000" dirty="0">
                <a:solidFill>
                  <a:schemeClr val="bg1"/>
                </a:solidFill>
              </a:rPr>
              <a:t>, dan </a:t>
            </a:r>
            <a:r>
              <a:rPr lang="en-US" sz="4000" dirty="0" err="1">
                <a:solidFill>
                  <a:schemeClr val="bg1"/>
                </a:solidFill>
              </a:rPr>
              <a:t>mendukung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pengambilan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keputusan</a:t>
            </a:r>
            <a:r>
              <a:rPr lang="en-US" sz="4000" dirty="0">
                <a:solidFill>
                  <a:schemeClr val="bg1"/>
                </a:solidFill>
              </a:rPr>
              <a:t> yang </a:t>
            </a:r>
            <a:r>
              <a:rPr lang="en-US" sz="4000" dirty="0" err="1">
                <a:solidFill>
                  <a:schemeClr val="bg1"/>
                </a:solidFill>
              </a:rPr>
              <a:t>tepat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waktu</a:t>
            </a:r>
            <a:r>
              <a:rPr lang="en-US" sz="4000" dirty="0">
                <a:solidFill>
                  <a:schemeClr val="bg1"/>
                </a:solidFill>
              </a:rPr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dirty="0">
              <a:solidFill>
                <a:schemeClr val="bg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err="1">
                <a:solidFill>
                  <a:schemeClr val="bg1"/>
                </a:solidFill>
              </a:rPr>
              <a:t>Sistem-sistem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ini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mengumpulkan</a:t>
            </a:r>
            <a:r>
              <a:rPr lang="en-US" sz="4000" dirty="0">
                <a:solidFill>
                  <a:schemeClr val="bg1"/>
                </a:solidFill>
              </a:rPr>
              <a:t>, </a:t>
            </a:r>
            <a:r>
              <a:rPr lang="en-US" sz="4000" dirty="0" err="1">
                <a:solidFill>
                  <a:schemeClr val="bg1"/>
                </a:solidFill>
              </a:rPr>
              <a:t>memproses</a:t>
            </a:r>
            <a:r>
              <a:rPr lang="en-US" sz="4000" dirty="0">
                <a:solidFill>
                  <a:schemeClr val="bg1"/>
                </a:solidFill>
              </a:rPr>
              <a:t>, </a:t>
            </a:r>
            <a:r>
              <a:rPr lang="en-US" sz="4000" dirty="0" err="1">
                <a:solidFill>
                  <a:schemeClr val="bg1"/>
                </a:solidFill>
              </a:rPr>
              <a:t>menyimpan</a:t>
            </a:r>
            <a:r>
              <a:rPr lang="en-US" sz="4000" dirty="0">
                <a:solidFill>
                  <a:schemeClr val="bg1"/>
                </a:solidFill>
              </a:rPr>
              <a:t>, dan </a:t>
            </a:r>
            <a:r>
              <a:rPr lang="en-US" sz="4000" dirty="0" err="1">
                <a:solidFill>
                  <a:schemeClr val="bg1"/>
                </a:solidFill>
              </a:rPr>
              <a:t>mendistribusikan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informasi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untuk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meningkatkan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efisiensi</a:t>
            </a:r>
            <a:r>
              <a:rPr lang="en-US" sz="4000" dirty="0">
                <a:solidFill>
                  <a:schemeClr val="bg1"/>
                </a:solidFill>
              </a:rPr>
              <a:t>, </a:t>
            </a:r>
            <a:r>
              <a:rPr lang="en-US" sz="4000" dirty="0" err="1">
                <a:solidFill>
                  <a:schemeClr val="bg1"/>
                </a:solidFill>
              </a:rPr>
              <a:t>produktivitas</a:t>
            </a:r>
            <a:r>
              <a:rPr lang="en-US" sz="4000" dirty="0">
                <a:solidFill>
                  <a:schemeClr val="bg1"/>
                </a:solidFill>
              </a:rPr>
              <a:t>, dan </a:t>
            </a:r>
            <a:r>
              <a:rPr lang="en-US" sz="4000" dirty="0" err="1">
                <a:solidFill>
                  <a:schemeClr val="bg1"/>
                </a:solidFill>
              </a:rPr>
              <a:t>daya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saing</a:t>
            </a:r>
            <a:r>
              <a:rPr lang="en-US" sz="40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0754DF26-DFA2-D629-DDDB-6CCC1F4B61F9}"/>
              </a:ext>
            </a:extLst>
          </p:cNvPr>
          <p:cNvSpPr/>
          <p:nvPr/>
        </p:nvSpPr>
        <p:spPr>
          <a:xfrm>
            <a:off x="1023368" y="7355991"/>
            <a:ext cx="5881807" cy="2630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571500" indent="-571500" algn="l">
              <a:buFont typeface="Arial" panose="020B0604020202020204" pitchFamily="34" charset="0"/>
              <a:buChar char="•"/>
            </a:pPr>
            <a:endParaRPr lang="en-US" sz="3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1659D91D-A06C-1AF6-8691-6518CAA8B984}"/>
              </a:ext>
            </a:extLst>
          </p:cNvPr>
          <p:cNvSpPr/>
          <p:nvPr/>
        </p:nvSpPr>
        <p:spPr>
          <a:xfrm>
            <a:off x="9523571" y="66674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defTabSz="91440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37E5D711-9CC3-9C8D-AB94-E2029D6DF1A9}"/>
              </a:ext>
            </a:extLst>
          </p:cNvPr>
          <p:cNvSpPr/>
          <p:nvPr/>
        </p:nvSpPr>
        <p:spPr>
          <a:xfrm>
            <a:off x="9296400" y="7338997"/>
            <a:ext cx="5881807" cy="2630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buSzPct val="100000"/>
              <a:buChar char="•"/>
            </a:pPr>
            <a:endParaRPr lang="en-US" sz="3600" dirty="0">
              <a:solidFill>
                <a:schemeClr val="bg1"/>
              </a:solidFill>
              <a:latin typeface="+mj-lt"/>
              <a:ea typeface="Open Sans" pitchFamily="34" charset="-122"/>
              <a:cs typeface="Open San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19820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475" r="-18719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1" name="TextBox 11"/>
          <p:cNvSpPr txBox="1"/>
          <p:nvPr/>
        </p:nvSpPr>
        <p:spPr>
          <a:xfrm>
            <a:off x="1023368" y="300174"/>
            <a:ext cx="15512032" cy="16440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399"/>
              </a:lnSpc>
            </a:pPr>
            <a:r>
              <a:rPr lang="en-US" sz="5400" dirty="0">
                <a:solidFill>
                  <a:srgbClr val="5BA3F8"/>
                </a:solidFill>
                <a:latin typeface="Horizon"/>
                <a:ea typeface="Horizon"/>
                <a:cs typeface="Horizon"/>
                <a:sym typeface="Horizon"/>
              </a:rPr>
              <a:t>MANFAAT SISTEM INFORMASI BISNIS</a:t>
            </a:r>
          </a:p>
        </p:txBody>
      </p:sp>
      <p:sp>
        <p:nvSpPr>
          <p:cNvPr id="19" name="TextBox 12">
            <a:extLst>
              <a:ext uri="{FF2B5EF4-FFF2-40B4-BE49-F238E27FC236}">
                <a16:creationId xmlns:a16="http://schemas.microsoft.com/office/drawing/2014/main" id="{EFC91264-E195-3ED7-5F34-1E55D174A2D4}"/>
              </a:ext>
            </a:extLst>
          </p:cNvPr>
          <p:cNvSpPr txBox="1"/>
          <p:nvPr/>
        </p:nvSpPr>
        <p:spPr>
          <a:xfrm>
            <a:off x="810870" y="2149398"/>
            <a:ext cx="16666260" cy="7386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err="1">
                <a:solidFill>
                  <a:schemeClr val="bg1"/>
                </a:solidFill>
              </a:rPr>
              <a:t>Sistem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Informasi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Bisnis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digunakan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untuk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mengumpulkan</a:t>
            </a:r>
            <a:r>
              <a:rPr lang="en-US" sz="4000" dirty="0">
                <a:solidFill>
                  <a:schemeClr val="bg1"/>
                </a:solidFill>
              </a:rPr>
              <a:t>, </a:t>
            </a:r>
            <a:r>
              <a:rPr lang="en-US" sz="4000" dirty="0" err="1">
                <a:solidFill>
                  <a:schemeClr val="bg1"/>
                </a:solidFill>
              </a:rPr>
              <a:t>menyimpan</a:t>
            </a:r>
            <a:r>
              <a:rPr lang="en-US" sz="4000" dirty="0">
                <a:solidFill>
                  <a:schemeClr val="bg1"/>
                </a:solidFill>
              </a:rPr>
              <a:t>, </a:t>
            </a:r>
            <a:r>
              <a:rPr lang="en-US" sz="4000" dirty="0" err="1">
                <a:solidFill>
                  <a:schemeClr val="bg1"/>
                </a:solidFill>
              </a:rPr>
              <a:t>menyortir</a:t>
            </a:r>
            <a:r>
              <a:rPr lang="en-US" sz="4000" dirty="0">
                <a:solidFill>
                  <a:schemeClr val="bg1"/>
                </a:solidFill>
              </a:rPr>
              <a:t>, dan </a:t>
            </a:r>
            <a:r>
              <a:rPr lang="en-US" sz="4000" dirty="0" err="1">
                <a:solidFill>
                  <a:schemeClr val="bg1"/>
                </a:solidFill>
              </a:rPr>
              <a:t>mengelola</a:t>
            </a:r>
            <a:r>
              <a:rPr lang="en-US" sz="4000" dirty="0">
                <a:solidFill>
                  <a:schemeClr val="bg1"/>
                </a:solidFill>
              </a:rPr>
              <a:t> data </a:t>
            </a:r>
            <a:r>
              <a:rPr lang="en-US" sz="4000" dirty="0" err="1">
                <a:solidFill>
                  <a:schemeClr val="bg1"/>
                </a:solidFill>
              </a:rPr>
              <a:t>serta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informasi</a:t>
            </a:r>
            <a:r>
              <a:rPr lang="en-US" sz="4000" dirty="0">
                <a:solidFill>
                  <a:schemeClr val="bg1"/>
                </a:solidFill>
              </a:rPr>
              <a:t> yang </a:t>
            </a:r>
            <a:r>
              <a:rPr lang="en-US" sz="4000" dirty="0" err="1">
                <a:solidFill>
                  <a:schemeClr val="bg1"/>
                </a:solidFill>
              </a:rPr>
              <a:t>terkait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dengan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bisnis</a:t>
            </a:r>
            <a:r>
              <a:rPr lang="en-US" sz="4000" dirty="0">
                <a:solidFill>
                  <a:schemeClr val="bg1"/>
                </a:solidFill>
              </a:rPr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err="1">
                <a:solidFill>
                  <a:schemeClr val="bg1"/>
                </a:solidFill>
              </a:rPr>
              <a:t>Sistem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Informasi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Bisnis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menyediakan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alat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untuk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menganalisis</a:t>
            </a:r>
            <a:r>
              <a:rPr lang="en-US" sz="4000" dirty="0">
                <a:solidFill>
                  <a:schemeClr val="bg1"/>
                </a:solidFill>
              </a:rPr>
              <a:t> data dan </a:t>
            </a:r>
            <a:r>
              <a:rPr lang="en-US" sz="4000" dirty="0" err="1">
                <a:solidFill>
                  <a:schemeClr val="bg1"/>
                </a:solidFill>
              </a:rPr>
              <a:t>informasi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bisnis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untuk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membantu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manajemen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membuat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pilihan</a:t>
            </a:r>
            <a:r>
              <a:rPr lang="en-US" sz="4000" dirty="0">
                <a:solidFill>
                  <a:schemeClr val="bg1"/>
                </a:solidFill>
              </a:rPr>
              <a:t> yang </a:t>
            </a:r>
            <a:r>
              <a:rPr lang="en-US" sz="4000" dirty="0" err="1">
                <a:solidFill>
                  <a:schemeClr val="bg1"/>
                </a:solidFill>
              </a:rPr>
              <a:t>lebih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baik</a:t>
            </a:r>
            <a:r>
              <a:rPr lang="en-US" sz="4000" dirty="0">
                <a:solidFill>
                  <a:schemeClr val="bg1"/>
                </a:solidFill>
              </a:rPr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err="1">
                <a:solidFill>
                  <a:schemeClr val="bg1"/>
                </a:solidFill>
              </a:rPr>
              <a:t>Efisiensi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operasional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dapat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ditingkatkan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dengan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mengotomatisasi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tugas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bisnis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dengan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bantuan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sistem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informasi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bisnis</a:t>
            </a:r>
            <a:r>
              <a:rPr lang="en-US" sz="4000" dirty="0">
                <a:solidFill>
                  <a:schemeClr val="bg1"/>
                </a:solidFill>
              </a:rPr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err="1">
                <a:solidFill>
                  <a:schemeClr val="bg1"/>
                </a:solidFill>
              </a:rPr>
              <a:t>Membantu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perusahaan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dalam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mengembangkan</a:t>
            </a:r>
            <a:r>
              <a:rPr lang="en-US" sz="4000" dirty="0">
                <a:solidFill>
                  <a:schemeClr val="bg1"/>
                </a:solidFill>
              </a:rPr>
              <a:t> strategi </a:t>
            </a:r>
            <a:r>
              <a:rPr lang="en-US" sz="4000" dirty="0" err="1">
                <a:solidFill>
                  <a:schemeClr val="bg1"/>
                </a:solidFill>
              </a:rPr>
              <a:t>bisnis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jangka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panjang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dengan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menganalisis</a:t>
            </a:r>
            <a:r>
              <a:rPr lang="en-US" sz="4000" dirty="0">
                <a:solidFill>
                  <a:schemeClr val="bg1"/>
                </a:solidFill>
              </a:rPr>
              <a:t> data </a:t>
            </a:r>
            <a:r>
              <a:rPr lang="en-US" sz="4000" dirty="0" err="1">
                <a:solidFill>
                  <a:schemeClr val="bg1"/>
                </a:solidFill>
              </a:rPr>
              <a:t>historis</a:t>
            </a:r>
            <a:r>
              <a:rPr lang="en-US" sz="4000" dirty="0">
                <a:solidFill>
                  <a:schemeClr val="bg1"/>
                </a:solidFill>
              </a:rPr>
              <a:t> dan </a:t>
            </a:r>
            <a:r>
              <a:rPr lang="en-US" sz="4000" dirty="0" err="1">
                <a:solidFill>
                  <a:schemeClr val="bg1"/>
                </a:solidFill>
              </a:rPr>
              <a:t>tren</a:t>
            </a:r>
            <a:r>
              <a:rPr lang="en-US" sz="4000" dirty="0">
                <a:solidFill>
                  <a:schemeClr val="bg1"/>
                </a:solidFill>
              </a:rPr>
              <a:t> pasar.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Data dan proses </a:t>
            </a:r>
            <a:r>
              <a:rPr lang="en-US" sz="4000" dirty="0" err="1">
                <a:solidFill>
                  <a:schemeClr val="bg1"/>
                </a:solidFill>
              </a:rPr>
              <a:t>bisnis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dapat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diintegrasikan</a:t>
            </a:r>
            <a:r>
              <a:rPr lang="en-US" sz="4000" dirty="0">
                <a:solidFill>
                  <a:schemeClr val="bg1"/>
                </a:solidFill>
              </a:rPr>
              <a:t> di </a:t>
            </a:r>
            <a:r>
              <a:rPr lang="en-US" sz="4000" dirty="0" err="1">
                <a:solidFill>
                  <a:schemeClr val="bg1"/>
                </a:solidFill>
              </a:rPr>
              <a:t>seluruh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departemen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dengan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bantuan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sistem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informasi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bisnis</a:t>
            </a:r>
            <a:r>
              <a:rPr lang="en-US" sz="4000" dirty="0">
                <a:solidFill>
                  <a:schemeClr val="bg1"/>
                </a:solidFill>
              </a:rPr>
              <a:t>, </a:t>
            </a:r>
            <a:r>
              <a:rPr lang="en-US" sz="4000" dirty="0" err="1">
                <a:solidFill>
                  <a:schemeClr val="bg1"/>
                </a:solidFill>
              </a:rPr>
              <a:t>memungkinkan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penyebaran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informasi</a:t>
            </a:r>
            <a:r>
              <a:rPr lang="en-US" sz="4000" dirty="0">
                <a:solidFill>
                  <a:schemeClr val="bg1"/>
                </a:solidFill>
              </a:rPr>
              <a:t> yang </a:t>
            </a:r>
            <a:r>
              <a:rPr lang="en-US" sz="4000" dirty="0" err="1">
                <a:solidFill>
                  <a:schemeClr val="bg1"/>
                </a:solidFill>
              </a:rPr>
              <a:t>lebih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cepat</a:t>
            </a:r>
            <a:r>
              <a:rPr lang="en-US" sz="4000" dirty="0">
                <a:solidFill>
                  <a:schemeClr val="bg1"/>
                </a:solidFill>
              </a:rPr>
              <a:t> dan </a:t>
            </a:r>
            <a:r>
              <a:rPr lang="en-US" sz="4000" dirty="0" err="1">
                <a:solidFill>
                  <a:schemeClr val="bg1"/>
                </a:solidFill>
              </a:rPr>
              <a:t>meningkatkan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kerja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sama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tim.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0754DF26-DFA2-D629-DDDB-6CCC1F4B61F9}"/>
              </a:ext>
            </a:extLst>
          </p:cNvPr>
          <p:cNvSpPr/>
          <p:nvPr/>
        </p:nvSpPr>
        <p:spPr>
          <a:xfrm>
            <a:off x="1023368" y="7355991"/>
            <a:ext cx="5881807" cy="2630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571500" indent="-571500" algn="l">
              <a:buFont typeface="Arial" panose="020B0604020202020204" pitchFamily="34" charset="0"/>
              <a:buChar char="•"/>
            </a:pPr>
            <a:endParaRPr lang="en-US" sz="3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1659D91D-A06C-1AF6-8691-6518CAA8B984}"/>
              </a:ext>
            </a:extLst>
          </p:cNvPr>
          <p:cNvSpPr/>
          <p:nvPr/>
        </p:nvSpPr>
        <p:spPr>
          <a:xfrm>
            <a:off x="9523571" y="66674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defTabSz="91440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37E5D711-9CC3-9C8D-AB94-E2029D6DF1A9}"/>
              </a:ext>
            </a:extLst>
          </p:cNvPr>
          <p:cNvSpPr/>
          <p:nvPr/>
        </p:nvSpPr>
        <p:spPr>
          <a:xfrm>
            <a:off x="9296400" y="7338997"/>
            <a:ext cx="5881807" cy="2630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buSzPct val="100000"/>
              <a:buChar char="•"/>
            </a:pPr>
            <a:endParaRPr lang="en-US" sz="3600" dirty="0">
              <a:solidFill>
                <a:schemeClr val="bg1"/>
              </a:solidFill>
              <a:latin typeface="+mj-lt"/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6E0B79E-2B16-3723-0E81-5FA061BDAB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and business processes can be integrated across departments with the help of business intelligence systems, enabling faster information dissemination and improved teamwork.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1883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5084</TotalTime>
  <Words>928</Words>
  <Application>Microsoft Office PowerPoint</Application>
  <PresentationFormat>Custom</PresentationFormat>
  <Paragraphs>114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Poppins</vt:lpstr>
      <vt:lpstr>Plus Jakarta Sans</vt:lpstr>
      <vt:lpstr>Calibri</vt:lpstr>
      <vt:lpstr>Arial</vt:lpstr>
      <vt:lpstr>Open Sans</vt:lpstr>
      <vt:lpstr>Horizon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Hitam dan Biru Modern Pengembangan Bisnis Presentation</dc:title>
  <dc:creator>T U F</dc:creator>
  <cp:lastModifiedBy>Rosita Misiadi</cp:lastModifiedBy>
  <cp:revision>200</cp:revision>
  <dcterms:created xsi:type="dcterms:W3CDTF">2006-08-16T00:00:00Z</dcterms:created>
  <dcterms:modified xsi:type="dcterms:W3CDTF">2025-09-17T07:10:41Z</dcterms:modified>
  <dc:identifier>DAGQOzp5eD0</dc:identifier>
</cp:coreProperties>
</file>