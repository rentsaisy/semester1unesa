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Higuen Elegant Serif" charset="1" panose="00000000000000000000"/>
      <p:regular r:id="rId26"/>
    </p:embeddedFont>
    <p:embeddedFont>
      <p:font typeface="Ovo" charset="1" panose="02020502070400060406"/>
      <p:regular r:id="rId27"/>
    </p:embeddedFont>
    <p:embeddedFont>
      <p:font typeface="Harmattan" charset="1" panose="01000503000000020003"/>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2202511" y="1839005"/>
            <a:ext cx="7418029" cy="9554838"/>
          </a:xfrm>
          <a:custGeom>
            <a:avLst/>
            <a:gdLst/>
            <a:ahLst/>
            <a:cxnLst/>
            <a:rect r="r" b="b" t="t" l="l"/>
            <a:pathLst>
              <a:path h="9554838" w="7418029">
                <a:moveTo>
                  <a:pt x="0" y="0"/>
                </a:moveTo>
                <a:lnTo>
                  <a:pt x="7418029" y="0"/>
                </a:lnTo>
                <a:lnTo>
                  <a:pt x="7418029" y="9554838"/>
                </a:lnTo>
                <a:lnTo>
                  <a:pt x="0" y="95548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2818489"/>
            <a:ext cx="11850874" cy="3797935"/>
          </a:xfrm>
          <a:prstGeom prst="rect">
            <a:avLst/>
          </a:prstGeom>
        </p:spPr>
        <p:txBody>
          <a:bodyPr anchor="t" rtlCol="false" tIns="0" lIns="0" bIns="0" rIns="0">
            <a:spAutoFit/>
          </a:bodyPr>
          <a:lstStyle/>
          <a:p>
            <a:pPr algn="l">
              <a:lnSpc>
                <a:spcPts val="7400"/>
              </a:lnSpc>
            </a:pPr>
            <a:r>
              <a:rPr lang="en-US" sz="7400">
                <a:solidFill>
                  <a:srgbClr val="532323"/>
                </a:solidFill>
                <a:latin typeface="Higuen Elegant Serif"/>
                <a:ea typeface="Higuen Elegant Serif"/>
                <a:cs typeface="Higuen Elegant Serif"/>
                <a:sym typeface="Higuen Elegant Serif"/>
              </a:rPr>
              <a:t>EKSPLORASI METODOLOGI TAFSIR: TEKNIK DAN PRINSIP DALAM STUDI AL- QUR'AN</a:t>
            </a:r>
          </a:p>
        </p:txBody>
      </p:sp>
      <p:sp>
        <p:nvSpPr>
          <p:cNvPr name="TextBox 5" id="5"/>
          <p:cNvSpPr txBox="true"/>
          <p:nvPr/>
        </p:nvSpPr>
        <p:spPr>
          <a:xfrm rot="0">
            <a:off x="1028700" y="7741517"/>
            <a:ext cx="9893779" cy="2078736"/>
          </a:xfrm>
          <a:prstGeom prst="rect">
            <a:avLst/>
          </a:prstGeom>
        </p:spPr>
        <p:txBody>
          <a:bodyPr anchor="t" rtlCol="false" tIns="0" lIns="0" bIns="0" rIns="0">
            <a:spAutoFit/>
          </a:bodyPr>
          <a:lstStyle/>
          <a:p>
            <a:pPr algn="l">
              <a:lnSpc>
                <a:spcPts val="3267"/>
              </a:lnSpc>
            </a:pPr>
            <a:r>
              <a:rPr lang="en-US" sz="3300">
                <a:solidFill>
                  <a:srgbClr val="737373"/>
                </a:solidFill>
                <a:latin typeface="Ovo"/>
                <a:ea typeface="Ovo"/>
                <a:cs typeface="Ovo"/>
                <a:sym typeface="Ovo"/>
              </a:rPr>
              <a:t>Sayyidah Farah Amellia</a:t>
            </a:r>
          </a:p>
          <a:p>
            <a:pPr algn="l">
              <a:lnSpc>
                <a:spcPts val="3267"/>
              </a:lnSpc>
            </a:pPr>
            <a:r>
              <a:rPr lang="en-US" sz="3300">
                <a:solidFill>
                  <a:srgbClr val="737373"/>
                </a:solidFill>
                <a:latin typeface="Ovo"/>
                <a:ea typeface="Ovo"/>
                <a:cs typeface="Ovo"/>
                <a:sym typeface="Ovo"/>
              </a:rPr>
              <a:t>Muhammad Satriyo Fajar Pangestu</a:t>
            </a:r>
          </a:p>
          <a:p>
            <a:pPr algn="l">
              <a:lnSpc>
                <a:spcPts val="3267"/>
              </a:lnSpc>
            </a:pPr>
            <a:r>
              <a:rPr lang="en-US" sz="3300">
                <a:solidFill>
                  <a:srgbClr val="737373"/>
                </a:solidFill>
                <a:latin typeface="Ovo"/>
                <a:ea typeface="Ovo"/>
                <a:cs typeface="Ovo"/>
                <a:sym typeface="Ovo"/>
              </a:rPr>
              <a:t>Hibram Iqbal Hamidy</a:t>
            </a:r>
          </a:p>
          <a:p>
            <a:pPr algn="l">
              <a:lnSpc>
                <a:spcPts val="3267"/>
              </a:lnSpc>
            </a:pPr>
            <a:r>
              <a:rPr lang="en-US" sz="3300">
                <a:solidFill>
                  <a:srgbClr val="737373"/>
                </a:solidFill>
                <a:latin typeface="Ovo"/>
                <a:ea typeface="Ovo"/>
                <a:cs typeface="Ovo"/>
                <a:sym typeface="Ovo"/>
              </a:rPr>
              <a:t>Muhammad Maulana Adriansyah</a:t>
            </a:r>
          </a:p>
          <a:p>
            <a:pPr algn="l" marL="0" indent="0" lvl="1">
              <a:lnSpc>
                <a:spcPts val="3267"/>
              </a:lnSpc>
              <a:spcBef>
                <a:spcPct val="0"/>
              </a:spcBef>
            </a:pPr>
            <a:r>
              <a:rPr lang="en-US" sz="3300">
                <a:solidFill>
                  <a:srgbClr val="737373"/>
                </a:solidFill>
                <a:latin typeface="Ovo"/>
                <a:ea typeface="Ovo"/>
                <a:cs typeface="Ovo"/>
                <a:sym typeface="Ovo"/>
              </a:rPr>
              <a:t>Alya Nurin Fadilah</a:t>
            </a:r>
          </a:p>
        </p:txBody>
      </p:sp>
      <p:sp>
        <p:nvSpPr>
          <p:cNvPr name="Freeform 6" id="6"/>
          <p:cNvSpPr/>
          <p:nvPr/>
        </p:nvSpPr>
        <p:spPr>
          <a:xfrm flipH="false" flipV="false" rot="0">
            <a:off x="10134669" y="551395"/>
            <a:ext cx="2744905" cy="2575220"/>
          </a:xfrm>
          <a:custGeom>
            <a:avLst/>
            <a:gdLst/>
            <a:ahLst/>
            <a:cxnLst/>
            <a:rect r="r" b="b" t="t" l="l"/>
            <a:pathLst>
              <a:path h="2575220" w="2744905">
                <a:moveTo>
                  <a:pt x="0" y="0"/>
                </a:moveTo>
                <a:lnTo>
                  <a:pt x="2744905" y="0"/>
                </a:lnTo>
                <a:lnTo>
                  <a:pt x="2744905" y="2575220"/>
                </a:lnTo>
                <a:lnTo>
                  <a:pt x="0" y="25752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8086606" y="7741517"/>
            <a:ext cx="9893779" cy="2078736"/>
          </a:xfrm>
          <a:prstGeom prst="rect">
            <a:avLst/>
          </a:prstGeom>
        </p:spPr>
        <p:txBody>
          <a:bodyPr anchor="t" rtlCol="false" tIns="0" lIns="0" bIns="0" rIns="0">
            <a:spAutoFit/>
          </a:bodyPr>
          <a:lstStyle/>
          <a:p>
            <a:pPr algn="l">
              <a:lnSpc>
                <a:spcPts val="3267"/>
              </a:lnSpc>
            </a:pPr>
            <a:r>
              <a:rPr lang="en-US" sz="3300">
                <a:solidFill>
                  <a:srgbClr val="737373"/>
                </a:solidFill>
                <a:latin typeface="Ovo"/>
                <a:ea typeface="Ovo"/>
                <a:cs typeface="Ovo"/>
                <a:sym typeface="Ovo"/>
              </a:rPr>
              <a:t>25091397035</a:t>
            </a:r>
          </a:p>
          <a:p>
            <a:pPr algn="l">
              <a:lnSpc>
                <a:spcPts val="3267"/>
              </a:lnSpc>
            </a:pPr>
            <a:r>
              <a:rPr lang="en-US" sz="3300">
                <a:solidFill>
                  <a:srgbClr val="737373"/>
                </a:solidFill>
                <a:latin typeface="Ovo"/>
                <a:ea typeface="Ovo"/>
                <a:cs typeface="Ovo"/>
                <a:sym typeface="Ovo"/>
              </a:rPr>
              <a:t>25091397015</a:t>
            </a:r>
          </a:p>
          <a:p>
            <a:pPr algn="l">
              <a:lnSpc>
                <a:spcPts val="3267"/>
              </a:lnSpc>
            </a:pPr>
            <a:r>
              <a:rPr lang="en-US" sz="3300">
                <a:solidFill>
                  <a:srgbClr val="737373"/>
                </a:solidFill>
                <a:latin typeface="Ovo"/>
                <a:ea typeface="Ovo"/>
                <a:cs typeface="Ovo"/>
                <a:sym typeface="Ovo"/>
              </a:rPr>
              <a:t>25091397037</a:t>
            </a:r>
          </a:p>
          <a:p>
            <a:pPr algn="l">
              <a:lnSpc>
                <a:spcPts val="3267"/>
              </a:lnSpc>
            </a:pPr>
            <a:r>
              <a:rPr lang="en-US" sz="3300">
                <a:solidFill>
                  <a:srgbClr val="737373"/>
                </a:solidFill>
                <a:latin typeface="Ovo"/>
                <a:ea typeface="Ovo"/>
                <a:cs typeface="Ovo"/>
                <a:sym typeface="Ovo"/>
              </a:rPr>
              <a:t>25091397003</a:t>
            </a:r>
          </a:p>
          <a:p>
            <a:pPr algn="l" marL="0" indent="0" lvl="1">
              <a:lnSpc>
                <a:spcPts val="3267"/>
              </a:lnSpc>
              <a:spcBef>
                <a:spcPct val="0"/>
              </a:spcBef>
            </a:pPr>
            <a:r>
              <a:rPr lang="en-US" sz="3300">
                <a:solidFill>
                  <a:srgbClr val="737373"/>
                </a:solidFill>
                <a:latin typeface="Ovo"/>
                <a:ea typeface="Ovo"/>
                <a:cs typeface="Ovo"/>
                <a:sym typeface="Ovo"/>
              </a:rPr>
              <a:t>25091397097</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5012978" y="-754857"/>
            <a:ext cx="5060341" cy="5088094"/>
          </a:xfrm>
          <a:custGeom>
            <a:avLst/>
            <a:gdLst/>
            <a:ahLst/>
            <a:cxnLst/>
            <a:rect r="r" b="b" t="t" l="l"/>
            <a:pathLst>
              <a:path h="5088094" w="5060341">
                <a:moveTo>
                  <a:pt x="0" y="0"/>
                </a:moveTo>
                <a:lnTo>
                  <a:pt x="5060341" y="0"/>
                </a:lnTo>
                <a:lnTo>
                  <a:pt x="5060341" y="5088095"/>
                </a:lnTo>
                <a:lnTo>
                  <a:pt x="0" y="508809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4" id="4"/>
          <p:cNvGrpSpPr/>
          <p:nvPr/>
        </p:nvGrpSpPr>
        <p:grpSpPr>
          <a:xfrm rot="0">
            <a:off x="-1239070" y="411249"/>
            <a:ext cx="11711991" cy="2027503"/>
            <a:chOff x="0" y="0"/>
            <a:chExt cx="15615988" cy="2703338"/>
          </a:xfrm>
        </p:grpSpPr>
        <p:grpSp>
          <p:nvGrpSpPr>
            <p:cNvPr name="Group 5" id="5"/>
            <p:cNvGrpSpPr/>
            <p:nvPr/>
          </p:nvGrpSpPr>
          <p:grpSpPr>
            <a:xfrm rot="0">
              <a:off x="219599" y="203200"/>
              <a:ext cx="15396389" cy="2500138"/>
              <a:chOff x="0" y="0"/>
              <a:chExt cx="3041262" cy="493854"/>
            </a:xfrm>
          </p:grpSpPr>
          <p:sp>
            <p:nvSpPr>
              <p:cNvPr name="Freeform 6" id="6"/>
              <p:cNvSpPr/>
              <p:nvPr/>
            </p:nvSpPr>
            <p:spPr>
              <a:xfrm flipH="false" flipV="false" rot="0">
                <a:off x="0" y="0"/>
                <a:ext cx="3041262" cy="493854"/>
              </a:xfrm>
              <a:custGeom>
                <a:avLst/>
                <a:gdLst/>
                <a:ahLst/>
                <a:cxnLst/>
                <a:rect r="r" b="b" t="t" l="l"/>
                <a:pathLst>
                  <a:path h="493854" w="3041262">
                    <a:moveTo>
                      <a:pt x="67045" y="0"/>
                    </a:moveTo>
                    <a:lnTo>
                      <a:pt x="2974217" y="0"/>
                    </a:lnTo>
                    <a:cubicBezTo>
                      <a:pt x="3011245" y="0"/>
                      <a:pt x="3041262" y="30017"/>
                      <a:pt x="3041262" y="67045"/>
                    </a:cubicBezTo>
                    <a:lnTo>
                      <a:pt x="3041262" y="426809"/>
                    </a:lnTo>
                    <a:cubicBezTo>
                      <a:pt x="3041262" y="463837"/>
                      <a:pt x="3011245" y="493854"/>
                      <a:pt x="2974217" y="493854"/>
                    </a:cubicBezTo>
                    <a:lnTo>
                      <a:pt x="67045" y="493854"/>
                    </a:lnTo>
                    <a:cubicBezTo>
                      <a:pt x="30017" y="493854"/>
                      <a:pt x="0" y="463837"/>
                      <a:pt x="0" y="426809"/>
                    </a:cubicBezTo>
                    <a:lnTo>
                      <a:pt x="0" y="67045"/>
                    </a:lnTo>
                    <a:cubicBezTo>
                      <a:pt x="0" y="30017"/>
                      <a:pt x="30017" y="0"/>
                      <a:pt x="67045" y="0"/>
                    </a:cubicBezTo>
                    <a:close/>
                  </a:path>
                </a:pathLst>
              </a:custGeom>
              <a:solidFill>
                <a:srgbClr val="BCB8AE"/>
              </a:solidFill>
            </p:spPr>
          </p:sp>
          <p:sp>
            <p:nvSpPr>
              <p:cNvPr name="TextBox 7" id="7"/>
              <p:cNvSpPr txBox="true"/>
              <p:nvPr/>
            </p:nvSpPr>
            <p:spPr>
              <a:xfrm>
                <a:off x="0" y="-38100"/>
                <a:ext cx="3041262" cy="53195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0" y="0"/>
              <a:ext cx="15396389" cy="2500138"/>
              <a:chOff x="0" y="0"/>
              <a:chExt cx="3041262" cy="493854"/>
            </a:xfrm>
          </p:grpSpPr>
          <p:sp>
            <p:nvSpPr>
              <p:cNvPr name="Freeform 9" id="9"/>
              <p:cNvSpPr/>
              <p:nvPr/>
            </p:nvSpPr>
            <p:spPr>
              <a:xfrm flipH="false" flipV="false" rot="0">
                <a:off x="0" y="0"/>
                <a:ext cx="3041262" cy="493854"/>
              </a:xfrm>
              <a:custGeom>
                <a:avLst/>
                <a:gdLst/>
                <a:ahLst/>
                <a:cxnLst/>
                <a:rect r="r" b="b" t="t" l="l"/>
                <a:pathLst>
                  <a:path h="493854" w="3041262">
                    <a:moveTo>
                      <a:pt x="67045" y="0"/>
                    </a:moveTo>
                    <a:lnTo>
                      <a:pt x="2974217" y="0"/>
                    </a:lnTo>
                    <a:cubicBezTo>
                      <a:pt x="3011245" y="0"/>
                      <a:pt x="3041262" y="30017"/>
                      <a:pt x="3041262" y="67045"/>
                    </a:cubicBezTo>
                    <a:lnTo>
                      <a:pt x="3041262" y="426809"/>
                    </a:lnTo>
                    <a:cubicBezTo>
                      <a:pt x="3041262" y="463837"/>
                      <a:pt x="3011245" y="493854"/>
                      <a:pt x="2974217" y="493854"/>
                    </a:cubicBezTo>
                    <a:lnTo>
                      <a:pt x="67045" y="493854"/>
                    </a:lnTo>
                    <a:cubicBezTo>
                      <a:pt x="30017" y="493854"/>
                      <a:pt x="0" y="463837"/>
                      <a:pt x="0" y="426809"/>
                    </a:cubicBezTo>
                    <a:lnTo>
                      <a:pt x="0" y="67045"/>
                    </a:lnTo>
                    <a:cubicBezTo>
                      <a:pt x="0" y="30017"/>
                      <a:pt x="30017" y="0"/>
                      <a:pt x="67045" y="0"/>
                    </a:cubicBezTo>
                    <a:close/>
                  </a:path>
                </a:pathLst>
              </a:custGeom>
              <a:solidFill>
                <a:srgbClr val="ECE0D0"/>
              </a:solidFill>
            </p:spPr>
          </p:sp>
          <p:sp>
            <p:nvSpPr>
              <p:cNvPr name="TextBox 10" id="10"/>
              <p:cNvSpPr txBox="true"/>
              <p:nvPr/>
            </p:nvSpPr>
            <p:spPr>
              <a:xfrm>
                <a:off x="0" y="-38100"/>
                <a:ext cx="3041262" cy="531954"/>
              </a:xfrm>
              <a:prstGeom prst="rect">
                <a:avLst/>
              </a:prstGeom>
            </p:spPr>
            <p:txBody>
              <a:bodyPr anchor="ctr" rtlCol="false" tIns="50800" lIns="50800" bIns="50800" rIns="50800"/>
              <a:lstStyle/>
              <a:p>
                <a:pPr algn="ctr">
                  <a:lnSpc>
                    <a:spcPts val="2659"/>
                  </a:lnSpc>
                </a:pPr>
              </a:p>
            </p:txBody>
          </p:sp>
        </p:grpSp>
      </p:grpSp>
      <p:sp>
        <p:nvSpPr>
          <p:cNvPr name="Freeform 11" id="11"/>
          <p:cNvSpPr/>
          <p:nvPr/>
        </p:nvSpPr>
        <p:spPr>
          <a:xfrm flipH="false" flipV="false" rot="0">
            <a:off x="-69734" y="7695927"/>
            <a:ext cx="2761803" cy="2591073"/>
          </a:xfrm>
          <a:custGeom>
            <a:avLst/>
            <a:gdLst/>
            <a:ahLst/>
            <a:cxnLst/>
            <a:rect r="r" b="b" t="t" l="l"/>
            <a:pathLst>
              <a:path h="2591073" w="2761803">
                <a:moveTo>
                  <a:pt x="0" y="0"/>
                </a:moveTo>
                <a:lnTo>
                  <a:pt x="2761803" y="0"/>
                </a:lnTo>
                <a:lnTo>
                  <a:pt x="2761803" y="2591073"/>
                </a:lnTo>
                <a:lnTo>
                  <a:pt x="0" y="25910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345746" y="950424"/>
            <a:ext cx="11147056" cy="1092028"/>
          </a:xfrm>
          <a:prstGeom prst="rect">
            <a:avLst/>
          </a:prstGeom>
        </p:spPr>
        <p:txBody>
          <a:bodyPr anchor="t" rtlCol="false" tIns="0" lIns="0" bIns="0" rIns="0">
            <a:spAutoFit/>
          </a:bodyPr>
          <a:lstStyle/>
          <a:p>
            <a:pPr algn="ctr" marL="0" indent="0" lvl="1">
              <a:lnSpc>
                <a:spcPts val="8118"/>
              </a:lnSpc>
              <a:spcBef>
                <a:spcPct val="0"/>
              </a:spcBef>
            </a:pPr>
            <a:r>
              <a:rPr lang="en-US" sz="8118">
                <a:solidFill>
                  <a:srgbClr val="532323"/>
                </a:solidFill>
                <a:latin typeface="Higuen Elegant Serif"/>
                <a:ea typeface="Higuen Elegant Serif"/>
                <a:cs typeface="Higuen Elegant Serif"/>
                <a:sym typeface="Higuen Elegant Serif"/>
              </a:rPr>
              <a:t>PENGERTIAN</a:t>
            </a:r>
          </a:p>
        </p:txBody>
      </p:sp>
      <p:sp>
        <p:nvSpPr>
          <p:cNvPr name="TextBox 13" id="13"/>
          <p:cNvSpPr txBox="true"/>
          <p:nvPr/>
        </p:nvSpPr>
        <p:spPr>
          <a:xfrm rot="0">
            <a:off x="1028700" y="2704755"/>
            <a:ext cx="14361263" cy="2371140"/>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Metodologi tafsir adalah ilmu yang mempelajari cara atau langkah untuk menafsirkan Al-Qur’an secara sistematis, supaya hasil tafsir tidak sekadar pendapat pribadi, tapi sesuai kaidah.</a:t>
            </a:r>
          </a:p>
        </p:txBody>
      </p:sp>
      <p:sp>
        <p:nvSpPr>
          <p:cNvPr name="TextBox 14" id="14"/>
          <p:cNvSpPr txBox="true"/>
          <p:nvPr/>
        </p:nvSpPr>
        <p:spPr>
          <a:xfrm rot="0">
            <a:off x="2692069" y="8630738"/>
            <a:ext cx="12567387" cy="627562"/>
          </a:xfrm>
          <a:prstGeom prst="rect">
            <a:avLst/>
          </a:prstGeom>
        </p:spPr>
        <p:txBody>
          <a:bodyPr anchor="t" rtlCol="false" tIns="0" lIns="0" bIns="0" rIns="0">
            <a:spAutoFit/>
          </a:bodyPr>
          <a:lstStyle/>
          <a:p>
            <a:pPr algn="just">
              <a:lnSpc>
                <a:spcPts val="4578"/>
              </a:lnSpc>
            </a:pPr>
            <a:r>
              <a:rPr lang="en-US" sz="3270">
                <a:solidFill>
                  <a:srgbClr val="000000"/>
                </a:solidFill>
                <a:latin typeface="Harmattan"/>
                <a:ea typeface="Harmattan"/>
                <a:cs typeface="Harmattan"/>
                <a:sym typeface="Harmattan"/>
              </a:rPr>
              <a:t>✨ Intinya: metodologi tafsir = “jalan/kerangka kerja” untuk menafsirkan Al-Qur’an.</a:t>
            </a:r>
          </a:p>
          <a:p>
            <a:pPr algn="just" marL="0" indent="0" lvl="0">
              <a:lnSpc>
                <a:spcPts val="278"/>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25224" y="2912812"/>
            <a:ext cx="3285196" cy="4461377"/>
          </a:xfrm>
          <a:custGeom>
            <a:avLst/>
            <a:gdLst/>
            <a:ahLst/>
            <a:cxnLst/>
            <a:rect r="r" b="b" t="t" l="l"/>
            <a:pathLst>
              <a:path h="4461377" w="3285196">
                <a:moveTo>
                  <a:pt x="0" y="0"/>
                </a:moveTo>
                <a:lnTo>
                  <a:pt x="3285196" y="0"/>
                </a:lnTo>
                <a:lnTo>
                  <a:pt x="3285196" y="4461376"/>
                </a:lnTo>
                <a:lnTo>
                  <a:pt x="0" y="44613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495670" y="4514834"/>
            <a:ext cx="12717952" cy="3971340"/>
          </a:xfrm>
          <a:prstGeom prst="rect">
            <a:avLst/>
          </a:prstGeom>
        </p:spPr>
        <p:txBody>
          <a:bodyPr anchor="t" rtlCol="false" tIns="0" lIns="0" bIns="0" rIns="0">
            <a:spAutoFit/>
          </a:bodyPr>
          <a:lstStyle/>
          <a:p>
            <a:pPr algn="just" marL="0" indent="0" lvl="0">
              <a:lnSpc>
                <a:spcPts val="6332"/>
              </a:lnSpc>
              <a:spcBef>
                <a:spcPct val="0"/>
              </a:spcBef>
            </a:pPr>
            <a:r>
              <a:rPr lang="en-US" sz="4523" strike="noStrike" u="none">
                <a:solidFill>
                  <a:srgbClr val="000000"/>
                </a:solidFill>
                <a:latin typeface="Harmattan"/>
                <a:ea typeface="Harmattan"/>
                <a:cs typeface="Harmattan"/>
                <a:sym typeface="Harmattan"/>
              </a:rPr>
              <a:t>Hakikat tafsir merupakan ilmu yang diimplementasikan dalam rangka untuk memahami makna Al-Qur’an yang diturunkan kepada nabi Muhammad SAW. dengan menerangkan kandungan maknanya, mengeluarkan hukum hukumnya, serta hikmah yang ada di dalamnya agar menjadi petunjuk bagi manusia.</a:t>
            </a:r>
          </a:p>
        </p:txBody>
      </p:sp>
      <p:grpSp>
        <p:nvGrpSpPr>
          <p:cNvPr name="Group 5" id="5"/>
          <p:cNvGrpSpPr/>
          <p:nvPr/>
        </p:nvGrpSpPr>
        <p:grpSpPr>
          <a:xfrm rot="0">
            <a:off x="4495670" y="2081989"/>
            <a:ext cx="10837367" cy="2027503"/>
            <a:chOff x="0" y="0"/>
            <a:chExt cx="14449822" cy="2703338"/>
          </a:xfrm>
        </p:grpSpPr>
        <p:grpSp>
          <p:nvGrpSpPr>
            <p:cNvPr name="Group 6" id="6"/>
            <p:cNvGrpSpPr/>
            <p:nvPr/>
          </p:nvGrpSpPr>
          <p:grpSpPr>
            <a:xfrm rot="0">
              <a:off x="203200" y="203200"/>
              <a:ext cx="14246622" cy="2500138"/>
              <a:chOff x="0" y="0"/>
              <a:chExt cx="2814148" cy="493854"/>
            </a:xfrm>
          </p:grpSpPr>
          <p:sp>
            <p:nvSpPr>
              <p:cNvPr name="Freeform 7" id="7"/>
              <p:cNvSpPr/>
              <p:nvPr/>
            </p:nvSpPr>
            <p:spPr>
              <a:xfrm flipH="false" flipV="false" rot="0">
                <a:off x="0" y="0"/>
                <a:ext cx="2814148" cy="493854"/>
              </a:xfrm>
              <a:custGeom>
                <a:avLst/>
                <a:gdLst/>
                <a:ahLst/>
                <a:cxnLst/>
                <a:rect r="r" b="b" t="t" l="l"/>
                <a:pathLst>
                  <a:path h="493854" w="2814148">
                    <a:moveTo>
                      <a:pt x="72456" y="0"/>
                    </a:moveTo>
                    <a:lnTo>
                      <a:pt x="2741691" y="0"/>
                    </a:lnTo>
                    <a:cubicBezTo>
                      <a:pt x="2760908" y="0"/>
                      <a:pt x="2779338" y="7634"/>
                      <a:pt x="2792926" y="21222"/>
                    </a:cubicBezTo>
                    <a:cubicBezTo>
                      <a:pt x="2806514" y="34810"/>
                      <a:pt x="2814148" y="53240"/>
                      <a:pt x="2814148" y="72456"/>
                    </a:cubicBezTo>
                    <a:lnTo>
                      <a:pt x="2814148" y="421398"/>
                    </a:lnTo>
                    <a:cubicBezTo>
                      <a:pt x="2814148" y="440615"/>
                      <a:pt x="2806514" y="459044"/>
                      <a:pt x="2792926" y="472632"/>
                    </a:cubicBezTo>
                    <a:cubicBezTo>
                      <a:pt x="2779338" y="486221"/>
                      <a:pt x="2760908" y="493854"/>
                      <a:pt x="2741691" y="493854"/>
                    </a:cubicBezTo>
                    <a:lnTo>
                      <a:pt x="72456" y="493854"/>
                    </a:lnTo>
                    <a:cubicBezTo>
                      <a:pt x="53240" y="493854"/>
                      <a:pt x="34810" y="486221"/>
                      <a:pt x="21222" y="472632"/>
                    </a:cubicBezTo>
                    <a:cubicBezTo>
                      <a:pt x="7634" y="459044"/>
                      <a:pt x="0" y="440615"/>
                      <a:pt x="0" y="421398"/>
                    </a:cubicBezTo>
                    <a:lnTo>
                      <a:pt x="0" y="72456"/>
                    </a:lnTo>
                    <a:cubicBezTo>
                      <a:pt x="0" y="53240"/>
                      <a:pt x="7634" y="34810"/>
                      <a:pt x="21222" y="21222"/>
                    </a:cubicBezTo>
                    <a:cubicBezTo>
                      <a:pt x="34810" y="7634"/>
                      <a:pt x="53240" y="0"/>
                      <a:pt x="72456" y="0"/>
                    </a:cubicBezTo>
                    <a:close/>
                  </a:path>
                </a:pathLst>
              </a:custGeom>
              <a:solidFill>
                <a:srgbClr val="BCB8AE"/>
              </a:solidFill>
            </p:spPr>
          </p:sp>
          <p:sp>
            <p:nvSpPr>
              <p:cNvPr name="TextBox 8" id="8"/>
              <p:cNvSpPr txBox="true"/>
              <p:nvPr/>
            </p:nvSpPr>
            <p:spPr>
              <a:xfrm>
                <a:off x="0" y="-38100"/>
                <a:ext cx="2814148" cy="53195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0" y="0"/>
              <a:ext cx="14246622" cy="2500138"/>
              <a:chOff x="0" y="0"/>
              <a:chExt cx="2814148" cy="493854"/>
            </a:xfrm>
          </p:grpSpPr>
          <p:sp>
            <p:nvSpPr>
              <p:cNvPr name="Freeform 10" id="10"/>
              <p:cNvSpPr/>
              <p:nvPr/>
            </p:nvSpPr>
            <p:spPr>
              <a:xfrm flipH="false" flipV="false" rot="0">
                <a:off x="0" y="0"/>
                <a:ext cx="2814148" cy="493854"/>
              </a:xfrm>
              <a:custGeom>
                <a:avLst/>
                <a:gdLst/>
                <a:ahLst/>
                <a:cxnLst/>
                <a:rect r="r" b="b" t="t" l="l"/>
                <a:pathLst>
                  <a:path h="493854" w="2814148">
                    <a:moveTo>
                      <a:pt x="72456" y="0"/>
                    </a:moveTo>
                    <a:lnTo>
                      <a:pt x="2741691" y="0"/>
                    </a:lnTo>
                    <a:cubicBezTo>
                      <a:pt x="2760908" y="0"/>
                      <a:pt x="2779338" y="7634"/>
                      <a:pt x="2792926" y="21222"/>
                    </a:cubicBezTo>
                    <a:cubicBezTo>
                      <a:pt x="2806514" y="34810"/>
                      <a:pt x="2814148" y="53240"/>
                      <a:pt x="2814148" y="72456"/>
                    </a:cubicBezTo>
                    <a:lnTo>
                      <a:pt x="2814148" y="421398"/>
                    </a:lnTo>
                    <a:cubicBezTo>
                      <a:pt x="2814148" y="440615"/>
                      <a:pt x="2806514" y="459044"/>
                      <a:pt x="2792926" y="472632"/>
                    </a:cubicBezTo>
                    <a:cubicBezTo>
                      <a:pt x="2779338" y="486221"/>
                      <a:pt x="2760908" y="493854"/>
                      <a:pt x="2741691" y="493854"/>
                    </a:cubicBezTo>
                    <a:lnTo>
                      <a:pt x="72456" y="493854"/>
                    </a:lnTo>
                    <a:cubicBezTo>
                      <a:pt x="53240" y="493854"/>
                      <a:pt x="34810" y="486221"/>
                      <a:pt x="21222" y="472632"/>
                    </a:cubicBezTo>
                    <a:cubicBezTo>
                      <a:pt x="7634" y="459044"/>
                      <a:pt x="0" y="440615"/>
                      <a:pt x="0" y="421398"/>
                    </a:cubicBezTo>
                    <a:lnTo>
                      <a:pt x="0" y="72456"/>
                    </a:lnTo>
                    <a:cubicBezTo>
                      <a:pt x="0" y="53240"/>
                      <a:pt x="7634" y="34810"/>
                      <a:pt x="21222" y="21222"/>
                    </a:cubicBezTo>
                    <a:cubicBezTo>
                      <a:pt x="34810" y="7634"/>
                      <a:pt x="53240" y="0"/>
                      <a:pt x="72456" y="0"/>
                    </a:cubicBezTo>
                    <a:close/>
                  </a:path>
                </a:pathLst>
              </a:custGeom>
              <a:solidFill>
                <a:srgbClr val="ECE0D0"/>
              </a:solidFill>
            </p:spPr>
          </p:sp>
          <p:sp>
            <p:nvSpPr>
              <p:cNvPr name="TextBox 11" id="11"/>
              <p:cNvSpPr txBox="true"/>
              <p:nvPr/>
            </p:nvSpPr>
            <p:spPr>
              <a:xfrm>
                <a:off x="0" y="-38100"/>
                <a:ext cx="2814148" cy="531954"/>
              </a:xfrm>
              <a:prstGeom prst="rect">
                <a:avLst/>
              </a:prstGeom>
            </p:spPr>
            <p:txBody>
              <a:bodyPr anchor="ctr" rtlCol="false" tIns="50800" lIns="50800" bIns="50800" rIns="50800"/>
              <a:lstStyle/>
              <a:p>
                <a:pPr algn="ctr">
                  <a:lnSpc>
                    <a:spcPts val="2659"/>
                  </a:lnSpc>
                </a:pPr>
              </a:p>
            </p:txBody>
          </p:sp>
        </p:grpSp>
      </p:grpSp>
      <p:sp>
        <p:nvSpPr>
          <p:cNvPr name="TextBox 12" id="12"/>
          <p:cNvSpPr txBox="true"/>
          <p:nvPr/>
        </p:nvSpPr>
        <p:spPr>
          <a:xfrm rot="0">
            <a:off x="5104911" y="2697365"/>
            <a:ext cx="9466484" cy="1092028"/>
          </a:xfrm>
          <a:prstGeom prst="rect">
            <a:avLst/>
          </a:prstGeom>
        </p:spPr>
        <p:txBody>
          <a:bodyPr anchor="t" rtlCol="false" tIns="0" lIns="0" bIns="0" rIns="0">
            <a:spAutoFit/>
          </a:bodyPr>
          <a:lstStyle/>
          <a:p>
            <a:pPr algn="ctr" marL="0" indent="0" lvl="1">
              <a:lnSpc>
                <a:spcPts val="8118"/>
              </a:lnSpc>
              <a:spcBef>
                <a:spcPct val="0"/>
              </a:spcBef>
            </a:pPr>
            <a:r>
              <a:rPr lang="en-US" sz="8118">
                <a:solidFill>
                  <a:srgbClr val="532323"/>
                </a:solidFill>
                <a:latin typeface="Higuen Elegant Serif"/>
                <a:ea typeface="Higuen Elegant Serif"/>
                <a:cs typeface="Higuen Elegant Serif"/>
                <a:sym typeface="Higuen Elegant Serif"/>
              </a:rPr>
              <a:t>LATAR BELAKANG</a:t>
            </a:r>
          </a:p>
        </p:txBody>
      </p:sp>
      <p:sp>
        <p:nvSpPr>
          <p:cNvPr name="Freeform 13" id="13"/>
          <p:cNvSpPr/>
          <p:nvPr/>
        </p:nvSpPr>
        <p:spPr>
          <a:xfrm flipH="false" flipV="false" rot="0">
            <a:off x="14571395" y="580868"/>
            <a:ext cx="2761803" cy="2591073"/>
          </a:xfrm>
          <a:custGeom>
            <a:avLst/>
            <a:gdLst/>
            <a:ahLst/>
            <a:cxnLst/>
            <a:rect r="r" b="b" t="t" l="l"/>
            <a:pathLst>
              <a:path h="2591073" w="2761803">
                <a:moveTo>
                  <a:pt x="0" y="0"/>
                </a:moveTo>
                <a:lnTo>
                  <a:pt x="2761803" y="0"/>
                </a:lnTo>
                <a:lnTo>
                  <a:pt x="2761803" y="2591073"/>
                </a:lnTo>
                <a:lnTo>
                  <a:pt x="0" y="25910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25224" y="2912812"/>
            <a:ext cx="3285196" cy="4461377"/>
          </a:xfrm>
          <a:custGeom>
            <a:avLst/>
            <a:gdLst/>
            <a:ahLst/>
            <a:cxnLst/>
            <a:rect r="r" b="b" t="t" l="l"/>
            <a:pathLst>
              <a:path h="4461377" w="3285196">
                <a:moveTo>
                  <a:pt x="0" y="0"/>
                </a:moveTo>
                <a:lnTo>
                  <a:pt x="3285196" y="0"/>
                </a:lnTo>
                <a:lnTo>
                  <a:pt x="3285196" y="4461376"/>
                </a:lnTo>
                <a:lnTo>
                  <a:pt x="0" y="44613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495670" y="4514834"/>
            <a:ext cx="12717952" cy="3171240"/>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Kegiatan tafsir Al-Qu’ran telah dimulai sejak masa Nabi Muhammad Saw dan terus mengalami </a:t>
            </a:r>
            <a:r>
              <a:rPr lang="en-US" sz="4523">
                <a:solidFill>
                  <a:srgbClr val="000000"/>
                </a:solidFill>
                <a:latin typeface="Harmattan"/>
                <a:ea typeface="Harmattan"/>
                <a:cs typeface="Harmattan"/>
                <a:sym typeface="Harmattan"/>
              </a:rPr>
              <a:t>perkembangan dari masa ke masa, yang pada gilirannya telah melahirkan metode tafsir dan corak tafsir yang sangat beragam. </a:t>
            </a:r>
          </a:p>
        </p:txBody>
      </p:sp>
      <p:grpSp>
        <p:nvGrpSpPr>
          <p:cNvPr name="Group 5" id="5"/>
          <p:cNvGrpSpPr/>
          <p:nvPr/>
        </p:nvGrpSpPr>
        <p:grpSpPr>
          <a:xfrm rot="0">
            <a:off x="4495670" y="2081989"/>
            <a:ext cx="10837367" cy="2027503"/>
            <a:chOff x="0" y="0"/>
            <a:chExt cx="14449822" cy="2703338"/>
          </a:xfrm>
        </p:grpSpPr>
        <p:grpSp>
          <p:nvGrpSpPr>
            <p:cNvPr name="Group 6" id="6"/>
            <p:cNvGrpSpPr/>
            <p:nvPr/>
          </p:nvGrpSpPr>
          <p:grpSpPr>
            <a:xfrm rot="0">
              <a:off x="203200" y="203200"/>
              <a:ext cx="14246622" cy="2500138"/>
              <a:chOff x="0" y="0"/>
              <a:chExt cx="2814148" cy="493854"/>
            </a:xfrm>
          </p:grpSpPr>
          <p:sp>
            <p:nvSpPr>
              <p:cNvPr name="Freeform 7" id="7"/>
              <p:cNvSpPr/>
              <p:nvPr/>
            </p:nvSpPr>
            <p:spPr>
              <a:xfrm flipH="false" flipV="false" rot="0">
                <a:off x="0" y="0"/>
                <a:ext cx="2814148" cy="493854"/>
              </a:xfrm>
              <a:custGeom>
                <a:avLst/>
                <a:gdLst/>
                <a:ahLst/>
                <a:cxnLst/>
                <a:rect r="r" b="b" t="t" l="l"/>
                <a:pathLst>
                  <a:path h="493854" w="2814148">
                    <a:moveTo>
                      <a:pt x="72456" y="0"/>
                    </a:moveTo>
                    <a:lnTo>
                      <a:pt x="2741691" y="0"/>
                    </a:lnTo>
                    <a:cubicBezTo>
                      <a:pt x="2760908" y="0"/>
                      <a:pt x="2779338" y="7634"/>
                      <a:pt x="2792926" y="21222"/>
                    </a:cubicBezTo>
                    <a:cubicBezTo>
                      <a:pt x="2806514" y="34810"/>
                      <a:pt x="2814148" y="53240"/>
                      <a:pt x="2814148" y="72456"/>
                    </a:cubicBezTo>
                    <a:lnTo>
                      <a:pt x="2814148" y="421398"/>
                    </a:lnTo>
                    <a:cubicBezTo>
                      <a:pt x="2814148" y="440615"/>
                      <a:pt x="2806514" y="459044"/>
                      <a:pt x="2792926" y="472632"/>
                    </a:cubicBezTo>
                    <a:cubicBezTo>
                      <a:pt x="2779338" y="486221"/>
                      <a:pt x="2760908" y="493854"/>
                      <a:pt x="2741691" y="493854"/>
                    </a:cubicBezTo>
                    <a:lnTo>
                      <a:pt x="72456" y="493854"/>
                    </a:lnTo>
                    <a:cubicBezTo>
                      <a:pt x="53240" y="493854"/>
                      <a:pt x="34810" y="486221"/>
                      <a:pt x="21222" y="472632"/>
                    </a:cubicBezTo>
                    <a:cubicBezTo>
                      <a:pt x="7634" y="459044"/>
                      <a:pt x="0" y="440615"/>
                      <a:pt x="0" y="421398"/>
                    </a:cubicBezTo>
                    <a:lnTo>
                      <a:pt x="0" y="72456"/>
                    </a:lnTo>
                    <a:cubicBezTo>
                      <a:pt x="0" y="53240"/>
                      <a:pt x="7634" y="34810"/>
                      <a:pt x="21222" y="21222"/>
                    </a:cubicBezTo>
                    <a:cubicBezTo>
                      <a:pt x="34810" y="7634"/>
                      <a:pt x="53240" y="0"/>
                      <a:pt x="72456" y="0"/>
                    </a:cubicBezTo>
                    <a:close/>
                  </a:path>
                </a:pathLst>
              </a:custGeom>
              <a:solidFill>
                <a:srgbClr val="BCB8AE"/>
              </a:solidFill>
            </p:spPr>
          </p:sp>
          <p:sp>
            <p:nvSpPr>
              <p:cNvPr name="TextBox 8" id="8"/>
              <p:cNvSpPr txBox="true"/>
              <p:nvPr/>
            </p:nvSpPr>
            <p:spPr>
              <a:xfrm>
                <a:off x="0" y="-38100"/>
                <a:ext cx="2814148" cy="53195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0" y="0"/>
              <a:ext cx="14246622" cy="2500138"/>
              <a:chOff x="0" y="0"/>
              <a:chExt cx="2814148" cy="493854"/>
            </a:xfrm>
          </p:grpSpPr>
          <p:sp>
            <p:nvSpPr>
              <p:cNvPr name="Freeform 10" id="10"/>
              <p:cNvSpPr/>
              <p:nvPr/>
            </p:nvSpPr>
            <p:spPr>
              <a:xfrm flipH="false" flipV="false" rot="0">
                <a:off x="0" y="0"/>
                <a:ext cx="2814148" cy="493854"/>
              </a:xfrm>
              <a:custGeom>
                <a:avLst/>
                <a:gdLst/>
                <a:ahLst/>
                <a:cxnLst/>
                <a:rect r="r" b="b" t="t" l="l"/>
                <a:pathLst>
                  <a:path h="493854" w="2814148">
                    <a:moveTo>
                      <a:pt x="72456" y="0"/>
                    </a:moveTo>
                    <a:lnTo>
                      <a:pt x="2741691" y="0"/>
                    </a:lnTo>
                    <a:cubicBezTo>
                      <a:pt x="2760908" y="0"/>
                      <a:pt x="2779338" y="7634"/>
                      <a:pt x="2792926" y="21222"/>
                    </a:cubicBezTo>
                    <a:cubicBezTo>
                      <a:pt x="2806514" y="34810"/>
                      <a:pt x="2814148" y="53240"/>
                      <a:pt x="2814148" y="72456"/>
                    </a:cubicBezTo>
                    <a:lnTo>
                      <a:pt x="2814148" y="421398"/>
                    </a:lnTo>
                    <a:cubicBezTo>
                      <a:pt x="2814148" y="440615"/>
                      <a:pt x="2806514" y="459044"/>
                      <a:pt x="2792926" y="472632"/>
                    </a:cubicBezTo>
                    <a:cubicBezTo>
                      <a:pt x="2779338" y="486221"/>
                      <a:pt x="2760908" y="493854"/>
                      <a:pt x="2741691" y="493854"/>
                    </a:cubicBezTo>
                    <a:lnTo>
                      <a:pt x="72456" y="493854"/>
                    </a:lnTo>
                    <a:cubicBezTo>
                      <a:pt x="53240" y="493854"/>
                      <a:pt x="34810" y="486221"/>
                      <a:pt x="21222" y="472632"/>
                    </a:cubicBezTo>
                    <a:cubicBezTo>
                      <a:pt x="7634" y="459044"/>
                      <a:pt x="0" y="440615"/>
                      <a:pt x="0" y="421398"/>
                    </a:cubicBezTo>
                    <a:lnTo>
                      <a:pt x="0" y="72456"/>
                    </a:lnTo>
                    <a:cubicBezTo>
                      <a:pt x="0" y="53240"/>
                      <a:pt x="7634" y="34810"/>
                      <a:pt x="21222" y="21222"/>
                    </a:cubicBezTo>
                    <a:cubicBezTo>
                      <a:pt x="34810" y="7634"/>
                      <a:pt x="53240" y="0"/>
                      <a:pt x="72456" y="0"/>
                    </a:cubicBezTo>
                    <a:close/>
                  </a:path>
                </a:pathLst>
              </a:custGeom>
              <a:solidFill>
                <a:srgbClr val="ECE0D0"/>
              </a:solidFill>
            </p:spPr>
          </p:sp>
          <p:sp>
            <p:nvSpPr>
              <p:cNvPr name="TextBox 11" id="11"/>
              <p:cNvSpPr txBox="true"/>
              <p:nvPr/>
            </p:nvSpPr>
            <p:spPr>
              <a:xfrm>
                <a:off x="0" y="-38100"/>
                <a:ext cx="2814148" cy="531954"/>
              </a:xfrm>
              <a:prstGeom prst="rect">
                <a:avLst/>
              </a:prstGeom>
            </p:spPr>
            <p:txBody>
              <a:bodyPr anchor="ctr" rtlCol="false" tIns="50800" lIns="50800" bIns="50800" rIns="50800"/>
              <a:lstStyle/>
              <a:p>
                <a:pPr algn="ctr">
                  <a:lnSpc>
                    <a:spcPts val="2659"/>
                  </a:lnSpc>
                </a:pPr>
              </a:p>
            </p:txBody>
          </p:sp>
        </p:grpSp>
      </p:grpSp>
      <p:sp>
        <p:nvSpPr>
          <p:cNvPr name="TextBox 12" id="12"/>
          <p:cNvSpPr txBox="true"/>
          <p:nvPr/>
        </p:nvSpPr>
        <p:spPr>
          <a:xfrm rot="0">
            <a:off x="5104911" y="2697365"/>
            <a:ext cx="9466484" cy="1092028"/>
          </a:xfrm>
          <a:prstGeom prst="rect">
            <a:avLst/>
          </a:prstGeom>
        </p:spPr>
        <p:txBody>
          <a:bodyPr anchor="t" rtlCol="false" tIns="0" lIns="0" bIns="0" rIns="0">
            <a:spAutoFit/>
          </a:bodyPr>
          <a:lstStyle/>
          <a:p>
            <a:pPr algn="ctr" marL="0" indent="0" lvl="1">
              <a:lnSpc>
                <a:spcPts val="8118"/>
              </a:lnSpc>
              <a:spcBef>
                <a:spcPct val="0"/>
              </a:spcBef>
            </a:pPr>
            <a:r>
              <a:rPr lang="en-US" sz="8118">
                <a:solidFill>
                  <a:srgbClr val="532323"/>
                </a:solidFill>
                <a:latin typeface="Higuen Elegant Serif"/>
                <a:ea typeface="Higuen Elegant Serif"/>
                <a:cs typeface="Higuen Elegant Serif"/>
                <a:sym typeface="Higuen Elegant Serif"/>
              </a:rPr>
              <a:t>LATAR BELAKANG</a:t>
            </a:r>
          </a:p>
        </p:txBody>
      </p:sp>
      <p:sp>
        <p:nvSpPr>
          <p:cNvPr name="Freeform 13" id="13"/>
          <p:cNvSpPr/>
          <p:nvPr/>
        </p:nvSpPr>
        <p:spPr>
          <a:xfrm flipH="false" flipV="false" rot="0">
            <a:off x="14571395" y="580868"/>
            <a:ext cx="2761803" cy="2591073"/>
          </a:xfrm>
          <a:custGeom>
            <a:avLst/>
            <a:gdLst/>
            <a:ahLst/>
            <a:cxnLst/>
            <a:rect r="r" b="b" t="t" l="l"/>
            <a:pathLst>
              <a:path h="2591073" w="2761803">
                <a:moveTo>
                  <a:pt x="0" y="0"/>
                </a:moveTo>
                <a:lnTo>
                  <a:pt x="2761803" y="0"/>
                </a:lnTo>
                <a:lnTo>
                  <a:pt x="2761803" y="2591073"/>
                </a:lnTo>
                <a:lnTo>
                  <a:pt x="0" y="25910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425224" y="2912812"/>
            <a:ext cx="3285196" cy="4461377"/>
          </a:xfrm>
          <a:custGeom>
            <a:avLst/>
            <a:gdLst/>
            <a:ahLst/>
            <a:cxnLst/>
            <a:rect r="r" b="b" t="t" l="l"/>
            <a:pathLst>
              <a:path h="4461377" w="3285196">
                <a:moveTo>
                  <a:pt x="0" y="0"/>
                </a:moveTo>
                <a:lnTo>
                  <a:pt x="3285196" y="0"/>
                </a:lnTo>
                <a:lnTo>
                  <a:pt x="3285196" y="4461376"/>
                </a:lnTo>
                <a:lnTo>
                  <a:pt x="0" y="44613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495670" y="4514834"/>
            <a:ext cx="12717952" cy="4771440"/>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Dengan kembali mencermati serta menilik sejarah perkembangan tafsir yang telah ada, maka t</a:t>
            </a:r>
            <a:r>
              <a:rPr lang="en-US" sz="4523">
                <a:solidFill>
                  <a:srgbClr val="000000"/>
                </a:solidFill>
                <a:latin typeface="Harmattan"/>
                <a:ea typeface="Harmattan"/>
                <a:cs typeface="Harmattan"/>
                <a:sym typeface="Harmattan"/>
              </a:rPr>
              <a:t>entu saja di setiap periode dan masa perkembangan tafsir pasti memiliki keunikan tersendiri baik karena berbeda orang/berbeda mufasir, berbeda keadaan, berbeda cara menafsirkan, hingga perkembangan tafsir sampai kini telah memasuki periode modern.</a:t>
            </a:r>
          </a:p>
        </p:txBody>
      </p:sp>
      <p:grpSp>
        <p:nvGrpSpPr>
          <p:cNvPr name="Group 5" id="5"/>
          <p:cNvGrpSpPr/>
          <p:nvPr/>
        </p:nvGrpSpPr>
        <p:grpSpPr>
          <a:xfrm rot="0">
            <a:off x="4495670" y="2081989"/>
            <a:ext cx="10837367" cy="2027503"/>
            <a:chOff x="0" y="0"/>
            <a:chExt cx="14449822" cy="2703338"/>
          </a:xfrm>
        </p:grpSpPr>
        <p:grpSp>
          <p:nvGrpSpPr>
            <p:cNvPr name="Group 6" id="6"/>
            <p:cNvGrpSpPr/>
            <p:nvPr/>
          </p:nvGrpSpPr>
          <p:grpSpPr>
            <a:xfrm rot="0">
              <a:off x="203200" y="203200"/>
              <a:ext cx="14246622" cy="2500138"/>
              <a:chOff x="0" y="0"/>
              <a:chExt cx="2814148" cy="493854"/>
            </a:xfrm>
          </p:grpSpPr>
          <p:sp>
            <p:nvSpPr>
              <p:cNvPr name="Freeform 7" id="7"/>
              <p:cNvSpPr/>
              <p:nvPr/>
            </p:nvSpPr>
            <p:spPr>
              <a:xfrm flipH="false" flipV="false" rot="0">
                <a:off x="0" y="0"/>
                <a:ext cx="2814148" cy="493854"/>
              </a:xfrm>
              <a:custGeom>
                <a:avLst/>
                <a:gdLst/>
                <a:ahLst/>
                <a:cxnLst/>
                <a:rect r="r" b="b" t="t" l="l"/>
                <a:pathLst>
                  <a:path h="493854" w="2814148">
                    <a:moveTo>
                      <a:pt x="72456" y="0"/>
                    </a:moveTo>
                    <a:lnTo>
                      <a:pt x="2741691" y="0"/>
                    </a:lnTo>
                    <a:cubicBezTo>
                      <a:pt x="2760908" y="0"/>
                      <a:pt x="2779338" y="7634"/>
                      <a:pt x="2792926" y="21222"/>
                    </a:cubicBezTo>
                    <a:cubicBezTo>
                      <a:pt x="2806514" y="34810"/>
                      <a:pt x="2814148" y="53240"/>
                      <a:pt x="2814148" y="72456"/>
                    </a:cubicBezTo>
                    <a:lnTo>
                      <a:pt x="2814148" y="421398"/>
                    </a:lnTo>
                    <a:cubicBezTo>
                      <a:pt x="2814148" y="440615"/>
                      <a:pt x="2806514" y="459044"/>
                      <a:pt x="2792926" y="472632"/>
                    </a:cubicBezTo>
                    <a:cubicBezTo>
                      <a:pt x="2779338" y="486221"/>
                      <a:pt x="2760908" y="493854"/>
                      <a:pt x="2741691" y="493854"/>
                    </a:cubicBezTo>
                    <a:lnTo>
                      <a:pt x="72456" y="493854"/>
                    </a:lnTo>
                    <a:cubicBezTo>
                      <a:pt x="53240" y="493854"/>
                      <a:pt x="34810" y="486221"/>
                      <a:pt x="21222" y="472632"/>
                    </a:cubicBezTo>
                    <a:cubicBezTo>
                      <a:pt x="7634" y="459044"/>
                      <a:pt x="0" y="440615"/>
                      <a:pt x="0" y="421398"/>
                    </a:cubicBezTo>
                    <a:lnTo>
                      <a:pt x="0" y="72456"/>
                    </a:lnTo>
                    <a:cubicBezTo>
                      <a:pt x="0" y="53240"/>
                      <a:pt x="7634" y="34810"/>
                      <a:pt x="21222" y="21222"/>
                    </a:cubicBezTo>
                    <a:cubicBezTo>
                      <a:pt x="34810" y="7634"/>
                      <a:pt x="53240" y="0"/>
                      <a:pt x="72456" y="0"/>
                    </a:cubicBezTo>
                    <a:close/>
                  </a:path>
                </a:pathLst>
              </a:custGeom>
              <a:solidFill>
                <a:srgbClr val="BCB8AE"/>
              </a:solidFill>
            </p:spPr>
          </p:sp>
          <p:sp>
            <p:nvSpPr>
              <p:cNvPr name="TextBox 8" id="8"/>
              <p:cNvSpPr txBox="true"/>
              <p:nvPr/>
            </p:nvSpPr>
            <p:spPr>
              <a:xfrm>
                <a:off x="0" y="-38100"/>
                <a:ext cx="2814148" cy="531954"/>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0" y="0"/>
              <a:ext cx="14246622" cy="2500138"/>
              <a:chOff x="0" y="0"/>
              <a:chExt cx="2814148" cy="493854"/>
            </a:xfrm>
          </p:grpSpPr>
          <p:sp>
            <p:nvSpPr>
              <p:cNvPr name="Freeform 10" id="10"/>
              <p:cNvSpPr/>
              <p:nvPr/>
            </p:nvSpPr>
            <p:spPr>
              <a:xfrm flipH="false" flipV="false" rot="0">
                <a:off x="0" y="0"/>
                <a:ext cx="2814148" cy="493854"/>
              </a:xfrm>
              <a:custGeom>
                <a:avLst/>
                <a:gdLst/>
                <a:ahLst/>
                <a:cxnLst/>
                <a:rect r="r" b="b" t="t" l="l"/>
                <a:pathLst>
                  <a:path h="493854" w="2814148">
                    <a:moveTo>
                      <a:pt x="72456" y="0"/>
                    </a:moveTo>
                    <a:lnTo>
                      <a:pt x="2741691" y="0"/>
                    </a:lnTo>
                    <a:cubicBezTo>
                      <a:pt x="2760908" y="0"/>
                      <a:pt x="2779338" y="7634"/>
                      <a:pt x="2792926" y="21222"/>
                    </a:cubicBezTo>
                    <a:cubicBezTo>
                      <a:pt x="2806514" y="34810"/>
                      <a:pt x="2814148" y="53240"/>
                      <a:pt x="2814148" y="72456"/>
                    </a:cubicBezTo>
                    <a:lnTo>
                      <a:pt x="2814148" y="421398"/>
                    </a:lnTo>
                    <a:cubicBezTo>
                      <a:pt x="2814148" y="440615"/>
                      <a:pt x="2806514" y="459044"/>
                      <a:pt x="2792926" y="472632"/>
                    </a:cubicBezTo>
                    <a:cubicBezTo>
                      <a:pt x="2779338" y="486221"/>
                      <a:pt x="2760908" y="493854"/>
                      <a:pt x="2741691" y="493854"/>
                    </a:cubicBezTo>
                    <a:lnTo>
                      <a:pt x="72456" y="493854"/>
                    </a:lnTo>
                    <a:cubicBezTo>
                      <a:pt x="53240" y="493854"/>
                      <a:pt x="34810" y="486221"/>
                      <a:pt x="21222" y="472632"/>
                    </a:cubicBezTo>
                    <a:cubicBezTo>
                      <a:pt x="7634" y="459044"/>
                      <a:pt x="0" y="440615"/>
                      <a:pt x="0" y="421398"/>
                    </a:cubicBezTo>
                    <a:lnTo>
                      <a:pt x="0" y="72456"/>
                    </a:lnTo>
                    <a:cubicBezTo>
                      <a:pt x="0" y="53240"/>
                      <a:pt x="7634" y="34810"/>
                      <a:pt x="21222" y="21222"/>
                    </a:cubicBezTo>
                    <a:cubicBezTo>
                      <a:pt x="34810" y="7634"/>
                      <a:pt x="53240" y="0"/>
                      <a:pt x="72456" y="0"/>
                    </a:cubicBezTo>
                    <a:close/>
                  </a:path>
                </a:pathLst>
              </a:custGeom>
              <a:solidFill>
                <a:srgbClr val="ECE0D0"/>
              </a:solidFill>
            </p:spPr>
          </p:sp>
          <p:sp>
            <p:nvSpPr>
              <p:cNvPr name="TextBox 11" id="11"/>
              <p:cNvSpPr txBox="true"/>
              <p:nvPr/>
            </p:nvSpPr>
            <p:spPr>
              <a:xfrm>
                <a:off x="0" y="-38100"/>
                <a:ext cx="2814148" cy="531954"/>
              </a:xfrm>
              <a:prstGeom prst="rect">
                <a:avLst/>
              </a:prstGeom>
            </p:spPr>
            <p:txBody>
              <a:bodyPr anchor="ctr" rtlCol="false" tIns="50800" lIns="50800" bIns="50800" rIns="50800"/>
              <a:lstStyle/>
              <a:p>
                <a:pPr algn="ctr">
                  <a:lnSpc>
                    <a:spcPts val="2659"/>
                  </a:lnSpc>
                </a:pPr>
              </a:p>
            </p:txBody>
          </p:sp>
        </p:grpSp>
      </p:grpSp>
      <p:sp>
        <p:nvSpPr>
          <p:cNvPr name="TextBox 12" id="12"/>
          <p:cNvSpPr txBox="true"/>
          <p:nvPr/>
        </p:nvSpPr>
        <p:spPr>
          <a:xfrm rot="0">
            <a:off x="5104911" y="2697365"/>
            <a:ext cx="9466484" cy="1092028"/>
          </a:xfrm>
          <a:prstGeom prst="rect">
            <a:avLst/>
          </a:prstGeom>
        </p:spPr>
        <p:txBody>
          <a:bodyPr anchor="t" rtlCol="false" tIns="0" lIns="0" bIns="0" rIns="0">
            <a:spAutoFit/>
          </a:bodyPr>
          <a:lstStyle/>
          <a:p>
            <a:pPr algn="ctr" marL="0" indent="0" lvl="1">
              <a:lnSpc>
                <a:spcPts val="8118"/>
              </a:lnSpc>
              <a:spcBef>
                <a:spcPct val="0"/>
              </a:spcBef>
            </a:pPr>
            <a:r>
              <a:rPr lang="en-US" sz="8118">
                <a:solidFill>
                  <a:srgbClr val="532323"/>
                </a:solidFill>
                <a:latin typeface="Higuen Elegant Serif"/>
                <a:ea typeface="Higuen Elegant Serif"/>
                <a:cs typeface="Higuen Elegant Serif"/>
                <a:sym typeface="Higuen Elegant Serif"/>
              </a:rPr>
              <a:t>LATAR BELAKANG</a:t>
            </a:r>
          </a:p>
        </p:txBody>
      </p:sp>
      <p:sp>
        <p:nvSpPr>
          <p:cNvPr name="Freeform 13" id="13"/>
          <p:cNvSpPr/>
          <p:nvPr/>
        </p:nvSpPr>
        <p:spPr>
          <a:xfrm flipH="false" flipV="false" rot="0">
            <a:off x="14571395" y="580868"/>
            <a:ext cx="2761803" cy="2591073"/>
          </a:xfrm>
          <a:custGeom>
            <a:avLst/>
            <a:gdLst/>
            <a:ahLst/>
            <a:cxnLst/>
            <a:rect r="r" b="b" t="t" l="l"/>
            <a:pathLst>
              <a:path h="2591073" w="2761803">
                <a:moveTo>
                  <a:pt x="0" y="0"/>
                </a:moveTo>
                <a:lnTo>
                  <a:pt x="2761803" y="0"/>
                </a:lnTo>
                <a:lnTo>
                  <a:pt x="2761803" y="2591073"/>
                </a:lnTo>
                <a:lnTo>
                  <a:pt x="0" y="25910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311773" y="4360178"/>
            <a:ext cx="566146" cy="56614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9AF7F"/>
            </a:solidFill>
          </p:spPr>
        </p:sp>
        <p:sp>
          <p:nvSpPr>
            <p:cNvPr name="TextBox 5" id="5"/>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true" rot="0">
            <a:off x="14725591" y="-466526"/>
            <a:ext cx="4494091" cy="4494091"/>
          </a:xfrm>
          <a:custGeom>
            <a:avLst/>
            <a:gdLst/>
            <a:ahLst/>
            <a:cxnLst/>
            <a:rect r="r" b="b" t="t" l="l"/>
            <a:pathLst>
              <a:path h="4494091" w="4494091">
                <a:moveTo>
                  <a:pt x="0" y="4494090"/>
                </a:moveTo>
                <a:lnTo>
                  <a:pt x="4494091" y="4494090"/>
                </a:lnTo>
                <a:lnTo>
                  <a:pt x="4494091" y="0"/>
                </a:lnTo>
                <a:lnTo>
                  <a:pt x="0" y="0"/>
                </a:lnTo>
                <a:lnTo>
                  <a:pt x="0" y="449409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7" id="7"/>
          <p:cNvSpPr txBox="true"/>
          <p:nvPr/>
        </p:nvSpPr>
        <p:spPr>
          <a:xfrm rot="0">
            <a:off x="2235303" y="3941839"/>
            <a:ext cx="14552381" cy="2370941"/>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Tafsi</a:t>
            </a:r>
            <a:r>
              <a:rPr lang="en-US" sz="4523" strike="noStrike" u="none">
                <a:solidFill>
                  <a:srgbClr val="000000"/>
                </a:solidFill>
                <a:latin typeface="Harmattan"/>
                <a:ea typeface="Harmattan"/>
                <a:cs typeface="Harmattan"/>
                <a:sym typeface="Harmattan"/>
              </a:rPr>
              <a:t>r bi al-Ma’tsur: tafsir yang berdasarkan pada Al-Qur’an atau riwayat yang sahih sesuai urutan yang telah disebutkan di muka dalam syarat-syarat mufassir. </a:t>
            </a:r>
          </a:p>
        </p:txBody>
      </p:sp>
      <p:grpSp>
        <p:nvGrpSpPr>
          <p:cNvPr name="Group 8" id="8"/>
          <p:cNvGrpSpPr/>
          <p:nvPr/>
        </p:nvGrpSpPr>
        <p:grpSpPr>
          <a:xfrm rot="0">
            <a:off x="-3376203" y="1028700"/>
            <a:ext cx="10837367" cy="2027503"/>
            <a:chOff x="0" y="0"/>
            <a:chExt cx="14449822" cy="2703338"/>
          </a:xfrm>
        </p:grpSpPr>
        <p:grpSp>
          <p:nvGrpSpPr>
            <p:cNvPr name="Group 9" id="9"/>
            <p:cNvGrpSpPr/>
            <p:nvPr/>
          </p:nvGrpSpPr>
          <p:grpSpPr>
            <a:xfrm rot="0">
              <a:off x="203200" y="203200"/>
              <a:ext cx="14246622" cy="2500138"/>
              <a:chOff x="0" y="0"/>
              <a:chExt cx="2814148" cy="493854"/>
            </a:xfrm>
          </p:grpSpPr>
          <p:sp>
            <p:nvSpPr>
              <p:cNvPr name="Freeform 10" id="10"/>
              <p:cNvSpPr/>
              <p:nvPr/>
            </p:nvSpPr>
            <p:spPr>
              <a:xfrm flipH="false" flipV="false" rot="0">
                <a:off x="0" y="0"/>
                <a:ext cx="2814148" cy="493854"/>
              </a:xfrm>
              <a:custGeom>
                <a:avLst/>
                <a:gdLst/>
                <a:ahLst/>
                <a:cxnLst/>
                <a:rect r="r" b="b" t="t" l="l"/>
                <a:pathLst>
                  <a:path h="493854" w="2814148">
                    <a:moveTo>
                      <a:pt x="72456" y="0"/>
                    </a:moveTo>
                    <a:lnTo>
                      <a:pt x="2741691" y="0"/>
                    </a:lnTo>
                    <a:cubicBezTo>
                      <a:pt x="2760908" y="0"/>
                      <a:pt x="2779338" y="7634"/>
                      <a:pt x="2792926" y="21222"/>
                    </a:cubicBezTo>
                    <a:cubicBezTo>
                      <a:pt x="2806514" y="34810"/>
                      <a:pt x="2814148" y="53240"/>
                      <a:pt x="2814148" y="72456"/>
                    </a:cubicBezTo>
                    <a:lnTo>
                      <a:pt x="2814148" y="421398"/>
                    </a:lnTo>
                    <a:cubicBezTo>
                      <a:pt x="2814148" y="440615"/>
                      <a:pt x="2806514" y="459044"/>
                      <a:pt x="2792926" y="472632"/>
                    </a:cubicBezTo>
                    <a:cubicBezTo>
                      <a:pt x="2779338" y="486221"/>
                      <a:pt x="2760908" y="493854"/>
                      <a:pt x="2741691" y="493854"/>
                    </a:cubicBezTo>
                    <a:lnTo>
                      <a:pt x="72456" y="493854"/>
                    </a:lnTo>
                    <a:cubicBezTo>
                      <a:pt x="53240" y="493854"/>
                      <a:pt x="34810" y="486221"/>
                      <a:pt x="21222" y="472632"/>
                    </a:cubicBezTo>
                    <a:cubicBezTo>
                      <a:pt x="7634" y="459044"/>
                      <a:pt x="0" y="440615"/>
                      <a:pt x="0" y="421398"/>
                    </a:cubicBezTo>
                    <a:lnTo>
                      <a:pt x="0" y="72456"/>
                    </a:lnTo>
                    <a:cubicBezTo>
                      <a:pt x="0" y="53240"/>
                      <a:pt x="7634" y="34810"/>
                      <a:pt x="21222" y="21222"/>
                    </a:cubicBezTo>
                    <a:cubicBezTo>
                      <a:pt x="34810" y="7634"/>
                      <a:pt x="53240" y="0"/>
                      <a:pt x="72456" y="0"/>
                    </a:cubicBezTo>
                    <a:close/>
                  </a:path>
                </a:pathLst>
              </a:custGeom>
              <a:solidFill>
                <a:srgbClr val="BCB8AE"/>
              </a:solidFill>
            </p:spPr>
          </p:sp>
          <p:sp>
            <p:nvSpPr>
              <p:cNvPr name="TextBox 11" id="11"/>
              <p:cNvSpPr txBox="true"/>
              <p:nvPr/>
            </p:nvSpPr>
            <p:spPr>
              <a:xfrm>
                <a:off x="0" y="-38100"/>
                <a:ext cx="2814148" cy="53195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0" y="0"/>
              <a:ext cx="14246622" cy="2500138"/>
              <a:chOff x="0" y="0"/>
              <a:chExt cx="2814148" cy="493854"/>
            </a:xfrm>
          </p:grpSpPr>
          <p:sp>
            <p:nvSpPr>
              <p:cNvPr name="Freeform 13" id="13"/>
              <p:cNvSpPr/>
              <p:nvPr/>
            </p:nvSpPr>
            <p:spPr>
              <a:xfrm flipH="false" flipV="false" rot="0">
                <a:off x="0" y="0"/>
                <a:ext cx="2814148" cy="493854"/>
              </a:xfrm>
              <a:custGeom>
                <a:avLst/>
                <a:gdLst/>
                <a:ahLst/>
                <a:cxnLst/>
                <a:rect r="r" b="b" t="t" l="l"/>
                <a:pathLst>
                  <a:path h="493854" w="2814148">
                    <a:moveTo>
                      <a:pt x="72456" y="0"/>
                    </a:moveTo>
                    <a:lnTo>
                      <a:pt x="2741691" y="0"/>
                    </a:lnTo>
                    <a:cubicBezTo>
                      <a:pt x="2760908" y="0"/>
                      <a:pt x="2779338" y="7634"/>
                      <a:pt x="2792926" y="21222"/>
                    </a:cubicBezTo>
                    <a:cubicBezTo>
                      <a:pt x="2806514" y="34810"/>
                      <a:pt x="2814148" y="53240"/>
                      <a:pt x="2814148" y="72456"/>
                    </a:cubicBezTo>
                    <a:lnTo>
                      <a:pt x="2814148" y="421398"/>
                    </a:lnTo>
                    <a:cubicBezTo>
                      <a:pt x="2814148" y="440615"/>
                      <a:pt x="2806514" y="459044"/>
                      <a:pt x="2792926" y="472632"/>
                    </a:cubicBezTo>
                    <a:cubicBezTo>
                      <a:pt x="2779338" y="486221"/>
                      <a:pt x="2760908" y="493854"/>
                      <a:pt x="2741691" y="493854"/>
                    </a:cubicBezTo>
                    <a:lnTo>
                      <a:pt x="72456" y="493854"/>
                    </a:lnTo>
                    <a:cubicBezTo>
                      <a:pt x="53240" y="493854"/>
                      <a:pt x="34810" y="486221"/>
                      <a:pt x="21222" y="472632"/>
                    </a:cubicBezTo>
                    <a:cubicBezTo>
                      <a:pt x="7634" y="459044"/>
                      <a:pt x="0" y="440615"/>
                      <a:pt x="0" y="421398"/>
                    </a:cubicBezTo>
                    <a:lnTo>
                      <a:pt x="0" y="72456"/>
                    </a:lnTo>
                    <a:cubicBezTo>
                      <a:pt x="0" y="53240"/>
                      <a:pt x="7634" y="34810"/>
                      <a:pt x="21222" y="21222"/>
                    </a:cubicBezTo>
                    <a:cubicBezTo>
                      <a:pt x="34810" y="7634"/>
                      <a:pt x="53240" y="0"/>
                      <a:pt x="72456" y="0"/>
                    </a:cubicBezTo>
                    <a:close/>
                  </a:path>
                </a:pathLst>
              </a:custGeom>
              <a:solidFill>
                <a:srgbClr val="ECE0D0"/>
              </a:solidFill>
            </p:spPr>
          </p:sp>
          <p:sp>
            <p:nvSpPr>
              <p:cNvPr name="TextBox 14" id="14"/>
              <p:cNvSpPr txBox="true"/>
              <p:nvPr/>
            </p:nvSpPr>
            <p:spPr>
              <a:xfrm>
                <a:off x="0" y="-38100"/>
                <a:ext cx="2814148" cy="531954"/>
              </a:xfrm>
              <a:prstGeom prst="rect">
                <a:avLst/>
              </a:prstGeom>
            </p:spPr>
            <p:txBody>
              <a:bodyPr anchor="ctr" rtlCol="false" tIns="50800" lIns="50800" bIns="50800" rIns="50800"/>
              <a:lstStyle/>
              <a:p>
                <a:pPr algn="ctr">
                  <a:lnSpc>
                    <a:spcPts val="2659"/>
                  </a:lnSpc>
                </a:pPr>
              </a:p>
            </p:txBody>
          </p:sp>
        </p:grpSp>
      </p:grpSp>
      <p:sp>
        <p:nvSpPr>
          <p:cNvPr name="TextBox 15" id="15"/>
          <p:cNvSpPr txBox="true"/>
          <p:nvPr/>
        </p:nvSpPr>
        <p:spPr>
          <a:xfrm rot="0">
            <a:off x="0" y="1305926"/>
            <a:ext cx="7171616" cy="1092061"/>
          </a:xfrm>
          <a:prstGeom prst="rect">
            <a:avLst/>
          </a:prstGeom>
        </p:spPr>
        <p:txBody>
          <a:bodyPr anchor="t" rtlCol="false" tIns="0" lIns="0" bIns="0" rIns="0">
            <a:spAutoFit/>
          </a:bodyPr>
          <a:lstStyle/>
          <a:p>
            <a:pPr algn="ctr" marL="0" indent="0" lvl="1">
              <a:lnSpc>
                <a:spcPts val="8118"/>
              </a:lnSpc>
              <a:spcBef>
                <a:spcPct val="0"/>
              </a:spcBef>
            </a:pPr>
            <a:r>
              <a:rPr lang="en-US" sz="8118">
                <a:solidFill>
                  <a:srgbClr val="532323"/>
                </a:solidFill>
                <a:latin typeface="Higuen Elegant Serif"/>
                <a:ea typeface="Higuen Elegant Serif"/>
                <a:cs typeface="Higuen Elegant Serif"/>
                <a:sym typeface="Higuen Elegant Serif"/>
              </a:rPr>
              <a:t>SUMBER</a:t>
            </a:r>
          </a:p>
        </p:txBody>
      </p:sp>
      <p:sp>
        <p:nvSpPr>
          <p:cNvPr name="TextBox 16" id="16"/>
          <p:cNvSpPr txBox="true"/>
          <p:nvPr/>
        </p:nvSpPr>
        <p:spPr>
          <a:xfrm rot="0">
            <a:off x="2235303" y="6997237"/>
            <a:ext cx="14581277" cy="1570908"/>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T</a:t>
            </a:r>
            <a:r>
              <a:rPr lang="en-US" sz="4523" strike="noStrike" u="none">
                <a:solidFill>
                  <a:srgbClr val="000000"/>
                </a:solidFill>
                <a:latin typeface="Harmattan"/>
                <a:ea typeface="Harmattan"/>
                <a:cs typeface="Harmattan"/>
                <a:sym typeface="Harmattan"/>
              </a:rPr>
              <a:t>afsir bi al-Ra’yi: penafsiran Al-Qur'an dengan ijtihad dengan catatan seorang mufassir harus memahami bahasa arab dan seluk beluknya. </a:t>
            </a:r>
          </a:p>
        </p:txBody>
      </p:sp>
      <p:grpSp>
        <p:nvGrpSpPr>
          <p:cNvPr name="Group 17" id="17"/>
          <p:cNvGrpSpPr/>
          <p:nvPr/>
        </p:nvGrpSpPr>
        <p:grpSpPr>
          <a:xfrm rot="0">
            <a:off x="1311773" y="7366035"/>
            <a:ext cx="566146" cy="56614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9AF7F"/>
            </a:solidFill>
          </p:spPr>
        </p:sp>
        <p:sp>
          <p:nvSpPr>
            <p:cNvPr name="TextBox 19" id="19"/>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14946366" y="7649108"/>
            <a:ext cx="2761803" cy="2591073"/>
          </a:xfrm>
          <a:custGeom>
            <a:avLst/>
            <a:gdLst/>
            <a:ahLst/>
            <a:cxnLst/>
            <a:rect r="r" b="b" t="t" l="l"/>
            <a:pathLst>
              <a:path h="2591073" w="2761803">
                <a:moveTo>
                  <a:pt x="0" y="0"/>
                </a:moveTo>
                <a:lnTo>
                  <a:pt x="2761803" y="0"/>
                </a:lnTo>
                <a:lnTo>
                  <a:pt x="2761803" y="2591073"/>
                </a:lnTo>
                <a:lnTo>
                  <a:pt x="0" y="25910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311773" y="4360178"/>
            <a:ext cx="566146" cy="56614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9AF7F"/>
            </a:solidFill>
          </p:spPr>
        </p:sp>
        <p:sp>
          <p:nvSpPr>
            <p:cNvPr name="TextBox 5" id="5"/>
            <p:cNvSpPr txBox="true"/>
            <p:nvPr/>
          </p:nvSpPr>
          <p:spPr>
            <a:xfrm>
              <a:off x="190500" y="152400"/>
              <a:ext cx="431800" cy="46990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true" rot="0">
            <a:off x="14725591" y="-466526"/>
            <a:ext cx="4494091" cy="4494091"/>
          </a:xfrm>
          <a:custGeom>
            <a:avLst/>
            <a:gdLst/>
            <a:ahLst/>
            <a:cxnLst/>
            <a:rect r="r" b="b" t="t" l="l"/>
            <a:pathLst>
              <a:path h="4494091" w="4494091">
                <a:moveTo>
                  <a:pt x="0" y="4494090"/>
                </a:moveTo>
                <a:lnTo>
                  <a:pt x="4494091" y="4494090"/>
                </a:lnTo>
                <a:lnTo>
                  <a:pt x="4494091" y="0"/>
                </a:lnTo>
                <a:lnTo>
                  <a:pt x="0" y="0"/>
                </a:lnTo>
                <a:lnTo>
                  <a:pt x="0" y="449409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TextBox 7" id="7"/>
          <p:cNvSpPr txBox="true"/>
          <p:nvPr/>
        </p:nvSpPr>
        <p:spPr>
          <a:xfrm rot="0">
            <a:off x="2235303" y="3941839"/>
            <a:ext cx="14552381" cy="3971009"/>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Tafsi</a:t>
            </a:r>
            <a:r>
              <a:rPr lang="en-US" sz="4523" strike="noStrike" u="none">
                <a:solidFill>
                  <a:srgbClr val="000000"/>
                </a:solidFill>
                <a:latin typeface="Harmattan"/>
                <a:ea typeface="Harmattan"/>
                <a:cs typeface="Harmattan"/>
                <a:sym typeface="Harmattan"/>
              </a:rPr>
              <a:t>r bi al-Isyarah: menafsirkan ayat Al-Qur’an Al-Karim tidak seperti zahirnya, tapi berdasarkan isyarat yang samar yang bisa diketahui oleh orang yang berilmu dan bertakwa, yang pentakwilan itu selaras dengan makna zahir ayat–ayat AlQur’an dari beberapa sisi syarhis.</a:t>
            </a:r>
          </a:p>
          <a:p>
            <a:pPr algn="just" marL="0" indent="0" lvl="0">
              <a:lnSpc>
                <a:spcPts val="6332"/>
              </a:lnSpc>
              <a:spcBef>
                <a:spcPct val="0"/>
              </a:spcBef>
            </a:pPr>
          </a:p>
        </p:txBody>
      </p:sp>
      <p:grpSp>
        <p:nvGrpSpPr>
          <p:cNvPr name="Group 8" id="8"/>
          <p:cNvGrpSpPr/>
          <p:nvPr/>
        </p:nvGrpSpPr>
        <p:grpSpPr>
          <a:xfrm rot="0">
            <a:off x="-3376203" y="1028700"/>
            <a:ext cx="10837367" cy="2027503"/>
            <a:chOff x="0" y="0"/>
            <a:chExt cx="14449822" cy="2703338"/>
          </a:xfrm>
        </p:grpSpPr>
        <p:grpSp>
          <p:nvGrpSpPr>
            <p:cNvPr name="Group 9" id="9"/>
            <p:cNvGrpSpPr/>
            <p:nvPr/>
          </p:nvGrpSpPr>
          <p:grpSpPr>
            <a:xfrm rot="0">
              <a:off x="203200" y="203200"/>
              <a:ext cx="14246622" cy="2500138"/>
              <a:chOff x="0" y="0"/>
              <a:chExt cx="2814148" cy="493854"/>
            </a:xfrm>
          </p:grpSpPr>
          <p:sp>
            <p:nvSpPr>
              <p:cNvPr name="Freeform 10" id="10"/>
              <p:cNvSpPr/>
              <p:nvPr/>
            </p:nvSpPr>
            <p:spPr>
              <a:xfrm flipH="false" flipV="false" rot="0">
                <a:off x="0" y="0"/>
                <a:ext cx="2814148" cy="493854"/>
              </a:xfrm>
              <a:custGeom>
                <a:avLst/>
                <a:gdLst/>
                <a:ahLst/>
                <a:cxnLst/>
                <a:rect r="r" b="b" t="t" l="l"/>
                <a:pathLst>
                  <a:path h="493854" w="2814148">
                    <a:moveTo>
                      <a:pt x="72456" y="0"/>
                    </a:moveTo>
                    <a:lnTo>
                      <a:pt x="2741691" y="0"/>
                    </a:lnTo>
                    <a:cubicBezTo>
                      <a:pt x="2760908" y="0"/>
                      <a:pt x="2779338" y="7634"/>
                      <a:pt x="2792926" y="21222"/>
                    </a:cubicBezTo>
                    <a:cubicBezTo>
                      <a:pt x="2806514" y="34810"/>
                      <a:pt x="2814148" y="53240"/>
                      <a:pt x="2814148" y="72456"/>
                    </a:cubicBezTo>
                    <a:lnTo>
                      <a:pt x="2814148" y="421398"/>
                    </a:lnTo>
                    <a:cubicBezTo>
                      <a:pt x="2814148" y="440615"/>
                      <a:pt x="2806514" y="459044"/>
                      <a:pt x="2792926" y="472632"/>
                    </a:cubicBezTo>
                    <a:cubicBezTo>
                      <a:pt x="2779338" y="486221"/>
                      <a:pt x="2760908" y="493854"/>
                      <a:pt x="2741691" y="493854"/>
                    </a:cubicBezTo>
                    <a:lnTo>
                      <a:pt x="72456" y="493854"/>
                    </a:lnTo>
                    <a:cubicBezTo>
                      <a:pt x="53240" y="493854"/>
                      <a:pt x="34810" y="486221"/>
                      <a:pt x="21222" y="472632"/>
                    </a:cubicBezTo>
                    <a:cubicBezTo>
                      <a:pt x="7634" y="459044"/>
                      <a:pt x="0" y="440615"/>
                      <a:pt x="0" y="421398"/>
                    </a:cubicBezTo>
                    <a:lnTo>
                      <a:pt x="0" y="72456"/>
                    </a:lnTo>
                    <a:cubicBezTo>
                      <a:pt x="0" y="53240"/>
                      <a:pt x="7634" y="34810"/>
                      <a:pt x="21222" y="21222"/>
                    </a:cubicBezTo>
                    <a:cubicBezTo>
                      <a:pt x="34810" y="7634"/>
                      <a:pt x="53240" y="0"/>
                      <a:pt x="72456" y="0"/>
                    </a:cubicBezTo>
                    <a:close/>
                  </a:path>
                </a:pathLst>
              </a:custGeom>
              <a:solidFill>
                <a:srgbClr val="BCB8AE"/>
              </a:solidFill>
            </p:spPr>
          </p:sp>
          <p:sp>
            <p:nvSpPr>
              <p:cNvPr name="TextBox 11" id="11"/>
              <p:cNvSpPr txBox="true"/>
              <p:nvPr/>
            </p:nvSpPr>
            <p:spPr>
              <a:xfrm>
                <a:off x="0" y="-38100"/>
                <a:ext cx="2814148" cy="531954"/>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0" y="0"/>
              <a:ext cx="14246622" cy="2500138"/>
              <a:chOff x="0" y="0"/>
              <a:chExt cx="2814148" cy="493854"/>
            </a:xfrm>
          </p:grpSpPr>
          <p:sp>
            <p:nvSpPr>
              <p:cNvPr name="Freeform 13" id="13"/>
              <p:cNvSpPr/>
              <p:nvPr/>
            </p:nvSpPr>
            <p:spPr>
              <a:xfrm flipH="false" flipV="false" rot="0">
                <a:off x="0" y="0"/>
                <a:ext cx="2814148" cy="493854"/>
              </a:xfrm>
              <a:custGeom>
                <a:avLst/>
                <a:gdLst/>
                <a:ahLst/>
                <a:cxnLst/>
                <a:rect r="r" b="b" t="t" l="l"/>
                <a:pathLst>
                  <a:path h="493854" w="2814148">
                    <a:moveTo>
                      <a:pt x="72456" y="0"/>
                    </a:moveTo>
                    <a:lnTo>
                      <a:pt x="2741691" y="0"/>
                    </a:lnTo>
                    <a:cubicBezTo>
                      <a:pt x="2760908" y="0"/>
                      <a:pt x="2779338" y="7634"/>
                      <a:pt x="2792926" y="21222"/>
                    </a:cubicBezTo>
                    <a:cubicBezTo>
                      <a:pt x="2806514" y="34810"/>
                      <a:pt x="2814148" y="53240"/>
                      <a:pt x="2814148" y="72456"/>
                    </a:cubicBezTo>
                    <a:lnTo>
                      <a:pt x="2814148" y="421398"/>
                    </a:lnTo>
                    <a:cubicBezTo>
                      <a:pt x="2814148" y="440615"/>
                      <a:pt x="2806514" y="459044"/>
                      <a:pt x="2792926" y="472632"/>
                    </a:cubicBezTo>
                    <a:cubicBezTo>
                      <a:pt x="2779338" y="486221"/>
                      <a:pt x="2760908" y="493854"/>
                      <a:pt x="2741691" y="493854"/>
                    </a:cubicBezTo>
                    <a:lnTo>
                      <a:pt x="72456" y="493854"/>
                    </a:lnTo>
                    <a:cubicBezTo>
                      <a:pt x="53240" y="493854"/>
                      <a:pt x="34810" y="486221"/>
                      <a:pt x="21222" y="472632"/>
                    </a:cubicBezTo>
                    <a:cubicBezTo>
                      <a:pt x="7634" y="459044"/>
                      <a:pt x="0" y="440615"/>
                      <a:pt x="0" y="421398"/>
                    </a:cubicBezTo>
                    <a:lnTo>
                      <a:pt x="0" y="72456"/>
                    </a:lnTo>
                    <a:cubicBezTo>
                      <a:pt x="0" y="53240"/>
                      <a:pt x="7634" y="34810"/>
                      <a:pt x="21222" y="21222"/>
                    </a:cubicBezTo>
                    <a:cubicBezTo>
                      <a:pt x="34810" y="7634"/>
                      <a:pt x="53240" y="0"/>
                      <a:pt x="72456" y="0"/>
                    </a:cubicBezTo>
                    <a:close/>
                  </a:path>
                </a:pathLst>
              </a:custGeom>
              <a:solidFill>
                <a:srgbClr val="ECE0D0"/>
              </a:solidFill>
            </p:spPr>
          </p:sp>
          <p:sp>
            <p:nvSpPr>
              <p:cNvPr name="TextBox 14" id="14"/>
              <p:cNvSpPr txBox="true"/>
              <p:nvPr/>
            </p:nvSpPr>
            <p:spPr>
              <a:xfrm>
                <a:off x="0" y="-38100"/>
                <a:ext cx="2814148" cy="531954"/>
              </a:xfrm>
              <a:prstGeom prst="rect">
                <a:avLst/>
              </a:prstGeom>
            </p:spPr>
            <p:txBody>
              <a:bodyPr anchor="ctr" rtlCol="false" tIns="50800" lIns="50800" bIns="50800" rIns="50800"/>
              <a:lstStyle/>
              <a:p>
                <a:pPr algn="ctr">
                  <a:lnSpc>
                    <a:spcPts val="2659"/>
                  </a:lnSpc>
                </a:pPr>
              </a:p>
            </p:txBody>
          </p:sp>
        </p:grpSp>
      </p:grpSp>
      <p:sp>
        <p:nvSpPr>
          <p:cNvPr name="TextBox 15" id="15"/>
          <p:cNvSpPr txBox="true"/>
          <p:nvPr/>
        </p:nvSpPr>
        <p:spPr>
          <a:xfrm rot="0">
            <a:off x="0" y="1305926"/>
            <a:ext cx="7171616" cy="1092061"/>
          </a:xfrm>
          <a:prstGeom prst="rect">
            <a:avLst/>
          </a:prstGeom>
        </p:spPr>
        <p:txBody>
          <a:bodyPr anchor="t" rtlCol="false" tIns="0" lIns="0" bIns="0" rIns="0">
            <a:spAutoFit/>
          </a:bodyPr>
          <a:lstStyle/>
          <a:p>
            <a:pPr algn="ctr" marL="0" indent="0" lvl="1">
              <a:lnSpc>
                <a:spcPts val="8118"/>
              </a:lnSpc>
              <a:spcBef>
                <a:spcPct val="0"/>
              </a:spcBef>
            </a:pPr>
            <a:r>
              <a:rPr lang="en-US" sz="8118">
                <a:solidFill>
                  <a:srgbClr val="532323"/>
                </a:solidFill>
                <a:latin typeface="Higuen Elegant Serif"/>
                <a:ea typeface="Higuen Elegant Serif"/>
                <a:cs typeface="Higuen Elegant Serif"/>
                <a:sym typeface="Higuen Elegant Serif"/>
              </a:rPr>
              <a:t>SUMBER</a:t>
            </a:r>
          </a:p>
        </p:txBody>
      </p:sp>
      <p:sp>
        <p:nvSpPr>
          <p:cNvPr name="Freeform 16" id="16"/>
          <p:cNvSpPr/>
          <p:nvPr/>
        </p:nvSpPr>
        <p:spPr>
          <a:xfrm flipH="false" flipV="false" rot="0">
            <a:off x="14946366" y="7649108"/>
            <a:ext cx="2761803" cy="2591073"/>
          </a:xfrm>
          <a:custGeom>
            <a:avLst/>
            <a:gdLst/>
            <a:ahLst/>
            <a:cxnLst/>
            <a:rect r="r" b="b" t="t" l="l"/>
            <a:pathLst>
              <a:path h="2591073" w="2761803">
                <a:moveTo>
                  <a:pt x="0" y="0"/>
                </a:moveTo>
                <a:lnTo>
                  <a:pt x="2761803" y="0"/>
                </a:lnTo>
                <a:lnTo>
                  <a:pt x="2761803" y="2591073"/>
                </a:lnTo>
                <a:lnTo>
                  <a:pt x="0" y="25910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330844" y="974065"/>
            <a:ext cx="11626312" cy="2027503"/>
            <a:chOff x="0" y="0"/>
            <a:chExt cx="15501749" cy="2703338"/>
          </a:xfrm>
        </p:grpSpPr>
        <p:grpSp>
          <p:nvGrpSpPr>
            <p:cNvPr name="Group 4" id="4"/>
            <p:cNvGrpSpPr/>
            <p:nvPr/>
          </p:nvGrpSpPr>
          <p:grpSpPr>
            <a:xfrm rot="0">
              <a:off x="217993" y="203200"/>
              <a:ext cx="15283756" cy="2500138"/>
              <a:chOff x="0" y="0"/>
              <a:chExt cx="3019014" cy="493854"/>
            </a:xfrm>
          </p:grpSpPr>
          <p:sp>
            <p:nvSpPr>
              <p:cNvPr name="Freeform 5" id="5"/>
              <p:cNvSpPr/>
              <p:nvPr/>
            </p:nvSpPr>
            <p:spPr>
              <a:xfrm flipH="false" flipV="false" rot="0">
                <a:off x="0" y="0"/>
                <a:ext cx="3019014" cy="493854"/>
              </a:xfrm>
              <a:custGeom>
                <a:avLst/>
                <a:gdLst/>
                <a:ahLst/>
                <a:cxnLst/>
                <a:rect r="r" b="b" t="t" l="l"/>
                <a:pathLst>
                  <a:path h="493854" w="3019014">
                    <a:moveTo>
                      <a:pt x="67539" y="0"/>
                    </a:moveTo>
                    <a:lnTo>
                      <a:pt x="2951474" y="0"/>
                    </a:lnTo>
                    <a:cubicBezTo>
                      <a:pt x="2969387" y="0"/>
                      <a:pt x="2986566" y="7116"/>
                      <a:pt x="2999232" y="19782"/>
                    </a:cubicBezTo>
                    <a:cubicBezTo>
                      <a:pt x="3011898" y="32448"/>
                      <a:pt x="3019014" y="49627"/>
                      <a:pt x="3019014" y="67539"/>
                    </a:cubicBezTo>
                    <a:lnTo>
                      <a:pt x="3019014" y="426315"/>
                    </a:lnTo>
                    <a:cubicBezTo>
                      <a:pt x="3019014" y="444228"/>
                      <a:pt x="3011898" y="461406"/>
                      <a:pt x="2999232" y="474073"/>
                    </a:cubicBezTo>
                    <a:cubicBezTo>
                      <a:pt x="2986566" y="486739"/>
                      <a:pt x="2969387" y="493854"/>
                      <a:pt x="2951474" y="493854"/>
                    </a:cubicBezTo>
                    <a:lnTo>
                      <a:pt x="67539" y="493854"/>
                    </a:lnTo>
                    <a:cubicBezTo>
                      <a:pt x="49627" y="493854"/>
                      <a:pt x="32448" y="486739"/>
                      <a:pt x="19782" y="474073"/>
                    </a:cubicBezTo>
                    <a:cubicBezTo>
                      <a:pt x="7116" y="461406"/>
                      <a:pt x="0" y="444228"/>
                      <a:pt x="0" y="426315"/>
                    </a:cubicBezTo>
                    <a:lnTo>
                      <a:pt x="0" y="67539"/>
                    </a:lnTo>
                    <a:cubicBezTo>
                      <a:pt x="0" y="49627"/>
                      <a:pt x="7116" y="32448"/>
                      <a:pt x="19782" y="19782"/>
                    </a:cubicBezTo>
                    <a:cubicBezTo>
                      <a:pt x="32448" y="7116"/>
                      <a:pt x="49627" y="0"/>
                      <a:pt x="67539" y="0"/>
                    </a:cubicBezTo>
                    <a:close/>
                  </a:path>
                </a:pathLst>
              </a:custGeom>
              <a:solidFill>
                <a:srgbClr val="BCB8AE"/>
              </a:solidFill>
            </p:spPr>
          </p:sp>
          <p:sp>
            <p:nvSpPr>
              <p:cNvPr name="TextBox 6" id="6"/>
              <p:cNvSpPr txBox="true"/>
              <p:nvPr/>
            </p:nvSpPr>
            <p:spPr>
              <a:xfrm>
                <a:off x="0" y="-38100"/>
                <a:ext cx="3019014" cy="531954"/>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0" y="0"/>
              <a:ext cx="15283756" cy="2500138"/>
              <a:chOff x="0" y="0"/>
              <a:chExt cx="3019014" cy="493854"/>
            </a:xfrm>
          </p:grpSpPr>
          <p:sp>
            <p:nvSpPr>
              <p:cNvPr name="Freeform 8" id="8"/>
              <p:cNvSpPr/>
              <p:nvPr/>
            </p:nvSpPr>
            <p:spPr>
              <a:xfrm flipH="false" flipV="false" rot="0">
                <a:off x="0" y="0"/>
                <a:ext cx="3019014" cy="493854"/>
              </a:xfrm>
              <a:custGeom>
                <a:avLst/>
                <a:gdLst/>
                <a:ahLst/>
                <a:cxnLst/>
                <a:rect r="r" b="b" t="t" l="l"/>
                <a:pathLst>
                  <a:path h="493854" w="3019014">
                    <a:moveTo>
                      <a:pt x="67539" y="0"/>
                    </a:moveTo>
                    <a:lnTo>
                      <a:pt x="2951474" y="0"/>
                    </a:lnTo>
                    <a:cubicBezTo>
                      <a:pt x="2969387" y="0"/>
                      <a:pt x="2986566" y="7116"/>
                      <a:pt x="2999232" y="19782"/>
                    </a:cubicBezTo>
                    <a:cubicBezTo>
                      <a:pt x="3011898" y="32448"/>
                      <a:pt x="3019014" y="49627"/>
                      <a:pt x="3019014" y="67539"/>
                    </a:cubicBezTo>
                    <a:lnTo>
                      <a:pt x="3019014" y="426315"/>
                    </a:lnTo>
                    <a:cubicBezTo>
                      <a:pt x="3019014" y="444228"/>
                      <a:pt x="3011898" y="461406"/>
                      <a:pt x="2999232" y="474073"/>
                    </a:cubicBezTo>
                    <a:cubicBezTo>
                      <a:pt x="2986566" y="486739"/>
                      <a:pt x="2969387" y="493854"/>
                      <a:pt x="2951474" y="493854"/>
                    </a:cubicBezTo>
                    <a:lnTo>
                      <a:pt x="67539" y="493854"/>
                    </a:lnTo>
                    <a:cubicBezTo>
                      <a:pt x="49627" y="493854"/>
                      <a:pt x="32448" y="486739"/>
                      <a:pt x="19782" y="474073"/>
                    </a:cubicBezTo>
                    <a:cubicBezTo>
                      <a:pt x="7116" y="461406"/>
                      <a:pt x="0" y="444228"/>
                      <a:pt x="0" y="426315"/>
                    </a:cubicBezTo>
                    <a:lnTo>
                      <a:pt x="0" y="67539"/>
                    </a:lnTo>
                    <a:cubicBezTo>
                      <a:pt x="0" y="49627"/>
                      <a:pt x="7116" y="32448"/>
                      <a:pt x="19782" y="19782"/>
                    </a:cubicBezTo>
                    <a:cubicBezTo>
                      <a:pt x="32448" y="7116"/>
                      <a:pt x="49627" y="0"/>
                      <a:pt x="67539" y="0"/>
                    </a:cubicBezTo>
                    <a:close/>
                  </a:path>
                </a:pathLst>
              </a:custGeom>
              <a:solidFill>
                <a:srgbClr val="ECE0D0"/>
              </a:solidFill>
            </p:spPr>
          </p:sp>
          <p:sp>
            <p:nvSpPr>
              <p:cNvPr name="TextBox 9" id="9"/>
              <p:cNvSpPr txBox="true"/>
              <p:nvPr/>
            </p:nvSpPr>
            <p:spPr>
              <a:xfrm>
                <a:off x="0" y="-38100"/>
                <a:ext cx="3019014" cy="531954"/>
              </a:xfrm>
              <a:prstGeom prst="rect">
                <a:avLst/>
              </a:prstGeom>
            </p:spPr>
            <p:txBody>
              <a:bodyPr anchor="ctr" rtlCol="false" tIns="50800" lIns="50800" bIns="50800" rIns="50800"/>
              <a:lstStyle/>
              <a:p>
                <a:pPr algn="ctr">
                  <a:lnSpc>
                    <a:spcPts val="2659"/>
                  </a:lnSpc>
                </a:pPr>
              </a:p>
            </p:txBody>
          </p:sp>
        </p:grpSp>
      </p:grpSp>
      <p:sp>
        <p:nvSpPr>
          <p:cNvPr name="TextBox 10" id="10"/>
          <p:cNvSpPr txBox="true"/>
          <p:nvPr/>
        </p:nvSpPr>
        <p:spPr>
          <a:xfrm rot="0">
            <a:off x="3417238" y="1513224"/>
            <a:ext cx="11635899" cy="1092061"/>
          </a:xfrm>
          <a:prstGeom prst="rect">
            <a:avLst/>
          </a:prstGeom>
        </p:spPr>
        <p:txBody>
          <a:bodyPr anchor="t" rtlCol="false" tIns="0" lIns="0" bIns="0" rIns="0">
            <a:spAutoFit/>
          </a:bodyPr>
          <a:lstStyle/>
          <a:p>
            <a:pPr algn="ctr" marL="0" indent="0" lvl="1">
              <a:lnSpc>
                <a:spcPts val="8118"/>
              </a:lnSpc>
              <a:spcBef>
                <a:spcPct val="0"/>
              </a:spcBef>
            </a:pPr>
            <a:r>
              <a:rPr lang="en-US" sz="8118">
                <a:solidFill>
                  <a:srgbClr val="532323"/>
                </a:solidFill>
                <a:latin typeface="Higuen Elegant Serif"/>
                <a:ea typeface="Higuen Elegant Serif"/>
                <a:cs typeface="Higuen Elegant Serif"/>
                <a:sym typeface="Higuen Elegant Serif"/>
              </a:rPr>
              <a:t>TAFSI</a:t>
            </a:r>
            <a:r>
              <a:rPr lang="en-US" sz="8118" strike="noStrike" u="none">
                <a:solidFill>
                  <a:srgbClr val="532323"/>
                </a:solidFill>
                <a:latin typeface="Higuen Elegant Serif"/>
                <a:ea typeface="Higuen Elegant Serif"/>
                <a:cs typeface="Higuen Elegant Serif"/>
                <a:sym typeface="Higuen Elegant Serif"/>
              </a:rPr>
              <a:t>R BI AL-MA’TSUR</a:t>
            </a:r>
          </a:p>
        </p:txBody>
      </p:sp>
      <p:sp>
        <p:nvSpPr>
          <p:cNvPr name="Freeform 11" id="11"/>
          <p:cNvSpPr/>
          <p:nvPr/>
        </p:nvSpPr>
        <p:spPr>
          <a:xfrm flipH="false" flipV="false" rot="-5400000">
            <a:off x="14581075" y="7121896"/>
            <a:ext cx="3667509" cy="5336323"/>
          </a:xfrm>
          <a:custGeom>
            <a:avLst/>
            <a:gdLst/>
            <a:ahLst/>
            <a:cxnLst/>
            <a:rect r="r" b="b" t="t" l="l"/>
            <a:pathLst>
              <a:path h="5336323" w="3667509">
                <a:moveTo>
                  <a:pt x="0" y="0"/>
                </a:moveTo>
                <a:lnTo>
                  <a:pt x="3667509" y="0"/>
                </a:lnTo>
                <a:lnTo>
                  <a:pt x="3667509" y="5336323"/>
                </a:lnTo>
                <a:lnTo>
                  <a:pt x="0" y="53363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12" id="12"/>
          <p:cNvGrpSpPr/>
          <p:nvPr/>
        </p:nvGrpSpPr>
        <p:grpSpPr>
          <a:xfrm rot="0">
            <a:off x="2434362" y="3516058"/>
            <a:ext cx="566146" cy="56614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9AF7F"/>
            </a:solidFill>
            <a:ln cap="sq">
              <a:noFill/>
              <a:prstDash val="solid"/>
              <a:miter/>
            </a:ln>
          </p:spPr>
        </p:sp>
        <p:sp>
          <p:nvSpPr>
            <p:cNvPr name="TextBox 14" id="14"/>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5" id="15"/>
          <p:cNvGrpSpPr/>
          <p:nvPr/>
        </p:nvGrpSpPr>
        <p:grpSpPr>
          <a:xfrm rot="0">
            <a:off x="2434362" y="4860427"/>
            <a:ext cx="566146" cy="566146"/>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9AF7F"/>
            </a:solidFill>
            <a:ln cap="sq">
              <a:noFill/>
              <a:prstDash val="solid"/>
              <a:miter/>
            </a:ln>
          </p:spPr>
        </p:sp>
        <p:sp>
          <p:nvSpPr>
            <p:cNvPr name="TextBox 17" id="17"/>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8" id="18"/>
          <p:cNvSpPr txBox="true"/>
          <p:nvPr/>
        </p:nvSpPr>
        <p:spPr>
          <a:xfrm rot="0">
            <a:off x="3417238" y="3430333"/>
            <a:ext cx="12436400" cy="770874"/>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M</a:t>
            </a:r>
            <a:r>
              <a:rPr lang="en-US" sz="4523" strike="noStrike" u="none">
                <a:solidFill>
                  <a:srgbClr val="000000"/>
                </a:solidFill>
                <a:latin typeface="Harmattan"/>
                <a:ea typeface="Harmattan"/>
                <a:cs typeface="Harmattan"/>
                <a:sym typeface="Harmattan"/>
              </a:rPr>
              <a:t>enafsirkan Al-Qur’an dengan Al-Quran (ayat dengan ayat), </a:t>
            </a:r>
          </a:p>
        </p:txBody>
      </p:sp>
      <p:sp>
        <p:nvSpPr>
          <p:cNvPr name="TextBox 19" id="19"/>
          <p:cNvSpPr txBox="true"/>
          <p:nvPr/>
        </p:nvSpPr>
        <p:spPr>
          <a:xfrm rot="0">
            <a:off x="3330844" y="4774702"/>
            <a:ext cx="12436400" cy="1572681"/>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Menafsirkan </a:t>
            </a:r>
            <a:r>
              <a:rPr lang="en-US" sz="4523" strike="noStrike" u="none">
                <a:solidFill>
                  <a:srgbClr val="000000"/>
                </a:solidFill>
                <a:latin typeface="Harmattan"/>
                <a:ea typeface="Harmattan"/>
                <a:cs typeface="Harmattan"/>
                <a:sym typeface="Harmattan"/>
              </a:rPr>
              <a:t>Al-Qur’an dengan Sunnah (al-Hadist). .</a:t>
            </a:r>
          </a:p>
          <a:p>
            <a:pPr algn="just" marL="0" indent="0" lvl="0">
              <a:lnSpc>
                <a:spcPts val="6332"/>
              </a:lnSpc>
              <a:spcBef>
                <a:spcPct val="0"/>
              </a:spcBef>
            </a:pPr>
          </a:p>
        </p:txBody>
      </p:sp>
      <p:sp>
        <p:nvSpPr>
          <p:cNvPr name="Freeform 20" id="20"/>
          <p:cNvSpPr/>
          <p:nvPr/>
        </p:nvSpPr>
        <p:spPr>
          <a:xfrm flipH="false" flipV="false" rot="0">
            <a:off x="238705" y="410495"/>
            <a:ext cx="2761803" cy="2591073"/>
          </a:xfrm>
          <a:custGeom>
            <a:avLst/>
            <a:gdLst/>
            <a:ahLst/>
            <a:cxnLst/>
            <a:rect r="r" b="b" t="t" l="l"/>
            <a:pathLst>
              <a:path h="2591073" w="2761803">
                <a:moveTo>
                  <a:pt x="0" y="0"/>
                </a:moveTo>
                <a:lnTo>
                  <a:pt x="2761802" y="0"/>
                </a:lnTo>
                <a:lnTo>
                  <a:pt x="2761802" y="2591073"/>
                </a:lnTo>
                <a:lnTo>
                  <a:pt x="0" y="25910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1" id="21"/>
          <p:cNvSpPr txBox="true"/>
          <p:nvPr/>
        </p:nvSpPr>
        <p:spPr>
          <a:xfrm rot="0">
            <a:off x="3330844" y="6083777"/>
            <a:ext cx="12436400" cy="3174523"/>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Menafsirkan </a:t>
            </a:r>
            <a:r>
              <a:rPr lang="en-US" sz="4523" strike="noStrike" u="none">
                <a:solidFill>
                  <a:srgbClr val="000000"/>
                </a:solidFill>
                <a:latin typeface="Harmattan"/>
                <a:ea typeface="Harmattan"/>
                <a:cs typeface="Harmattan"/>
                <a:sym typeface="Harmattan"/>
              </a:rPr>
              <a:t>Al-Qur’an dengan perkataan sahabat karena merekalah yang paling mengetahui Kitabullah, atau dengan pendapat tokoh-tokoh besar tabi’in.</a:t>
            </a:r>
          </a:p>
          <a:p>
            <a:pPr algn="just" marL="0" indent="0" lvl="0">
              <a:lnSpc>
                <a:spcPts val="6332"/>
              </a:lnSpc>
              <a:spcBef>
                <a:spcPct val="0"/>
              </a:spcBef>
            </a:pPr>
          </a:p>
        </p:txBody>
      </p:sp>
      <p:grpSp>
        <p:nvGrpSpPr>
          <p:cNvPr name="Group 22" id="22"/>
          <p:cNvGrpSpPr/>
          <p:nvPr/>
        </p:nvGrpSpPr>
        <p:grpSpPr>
          <a:xfrm rot="0">
            <a:off x="2434362" y="6347383"/>
            <a:ext cx="566146" cy="566146"/>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9AF7F"/>
            </a:solidFill>
            <a:ln cap="sq">
              <a:noFill/>
              <a:prstDash val="solid"/>
              <a:miter/>
            </a:ln>
          </p:spPr>
        </p:sp>
        <p:sp>
          <p:nvSpPr>
            <p:cNvPr name="TextBox 24" id="24"/>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330844" y="974065"/>
            <a:ext cx="11626312" cy="2027503"/>
            <a:chOff x="0" y="0"/>
            <a:chExt cx="15501749" cy="2703338"/>
          </a:xfrm>
        </p:grpSpPr>
        <p:grpSp>
          <p:nvGrpSpPr>
            <p:cNvPr name="Group 4" id="4"/>
            <p:cNvGrpSpPr/>
            <p:nvPr/>
          </p:nvGrpSpPr>
          <p:grpSpPr>
            <a:xfrm rot="0">
              <a:off x="217993" y="203200"/>
              <a:ext cx="15283756" cy="2500138"/>
              <a:chOff x="0" y="0"/>
              <a:chExt cx="3019014" cy="493854"/>
            </a:xfrm>
          </p:grpSpPr>
          <p:sp>
            <p:nvSpPr>
              <p:cNvPr name="Freeform 5" id="5"/>
              <p:cNvSpPr/>
              <p:nvPr/>
            </p:nvSpPr>
            <p:spPr>
              <a:xfrm flipH="false" flipV="false" rot="0">
                <a:off x="0" y="0"/>
                <a:ext cx="3019014" cy="493854"/>
              </a:xfrm>
              <a:custGeom>
                <a:avLst/>
                <a:gdLst/>
                <a:ahLst/>
                <a:cxnLst/>
                <a:rect r="r" b="b" t="t" l="l"/>
                <a:pathLst>
                  <a:path h="493854" w="3019014">
                    <a:moveTo>
                      <a:pt x="67539" y="0"/>
                    </a:moveTo>
                    <a:lnTo>
                      <a:pt x="2951474" y="0"/>
                    </a:lnTo>
                    <a:cubicBezTo>
                      <a:pt x="2969387" y="0"/>
                      <a:pt x="2986566" y="7116"/>
                      <a:pt x="2999232" y="19782"/>
                    </a:cubicBezTo>
                    <a:cubicBezTo>
                      <a:pt x="3011898" y="32448"/>
                      <a:pt x="3019014" y="49627"/>
                      <a:pt x="3019014" y="67539"/>
                    </a:cubicBezTo>
                    <a:lnTo>
                      <a:pt x="3019014" y="426315"/>
                    </a:lnTo>
                    <a:cubicBezTo>
                      <a:pt x="3019014" y="444228"/>
                      <a:pt x="3011898" y="461406"/>
                      <a:pt x="2999232" y="474073"/>
                    </a:cubicBezTo>
                    <a:cubicBezTo>
                      <a:pt x="2986566" y="486739"/>
                      <a:pt x="2969387" y="493854"/>
                      <a:pt x="2951474" y="493854"/>
                    </a:cubicBezTo>
                    <a:lnTo>
                      <a:pt x="67539" y="493854"/>
                    </a:lnTo>
                    <a:cubicBezTo>
                      <a:pt x="49627" y="493854"/>
                      <a:pt x="32448" y="486739"/>
                      <a:pt x="19782" y="474073"/>
                    </a:cubicBezTo>
                    <a:cubicBezTo>
                      <a:pt x="7116" y="461406"/>
                      <a:pt x="0" y="444228"/>
                      <a:pt x="0" y="426315"/>
                    </a:cubicBezTo>
                    <a:lnTo>
                      <a:pt x="0" y="67539"/>
                    </a:lnTo>
                    <a:cubicBezTo>
                      <a:pt x="0" y="49627"/>
                      <a:pt x="7116" y="32448"/>
                      <a:pt x="19782" y="19782"/>
                    </a:cubicBezTo>
                    <a:cubicBezTo>
                      <a:pt x="32448" y="7116"/>
                      <a:pt x="49627" y="0"/>
                      <a:pt x="67539" y="0"/>
                    </a:cubicBezTo>
                    <a:close/>
                  </a:path>
                </a:pathLst>
              </a:custGeom>
              <a:solidFill>
                <a:srgbClr val="BCB8AE"/>
              </a:solidFill>
            </p:spPr>
          </p:sp>
          <p:sp>
            <p:nvSpPr>
              <p:cNvPr name="TextBox 6" id="6"/>
              <p:cNvSpPr txBox="true"/>
              <p:nvPr/>
            </p:nvSpPr>
            <p:spPr>
              <a:xfrm>
                <a:off x="0" y="-38100"/>
                <a:ext cx="3019014" cy="531954"/>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0" y="0"/>
              <a:ext cx="15283756" cy="2500138"/>
              <a:chOff x="0" y="0"/>
              <a:chExt cx="3019014" cy="493854"/>
            </a:xfrm>
          </p:grpSpPr>
          <p:sp>
            <p:nvSpPr>
              <p:cNvPr name="Freeform 8" id="8"/>
              <p:cNvSpPr/>
              <p:nvPr/>
            </p:nvSpPr>
            <p:spPr>
              <a:xfrm flipH="false" flipV="false" rot="0">
                <a:off x="0" y="0"/>
                <a:ext cx="3019014" cy="493854"/>
              </a:xfrm>
              <a:custGeom>
                <a:avLst/>
                <a:gdLst/>
                <a:ahLst/>
                <a:cxnLst/>
                <a:rect r="r" b="b" t="t" l="l"/>
                <a:pathLst>
                  <a:path h="493854" w="3019014">
                    <a:moveTo>
                      <a:pt x="67539" y="0"/>
                    </a:moveTo>
                    <a:lnTo>
                      <a:pt x="2951474" y="0"/>
                    </a:lnTo>
                    <a:cubicBezTo>
                      <a:pt x="2969387" y="0"/>
                      <a:pt x="2986566" y="7116"/>
                      <a:pt x="2999232" y="19782"/>
                    </a:cubicBezTo>
                    <a:cubicBezTo>
                      <a:pt x="3011898" y="32448"/>
                      <a:pt x="3019014" y="49627"/>
                      <a:pt x="3019014" y="67539"/>
                    </a:cubicBezTo>
                    <a:lnTo>
                      <a:pt x="3019014" y="426315"/>
                    </a:lnTo>
                    <a:cubicBezTo>
                      <a:pt x="3019014" y="444228"/>
                      <a:pt x="3011898" y="461406"/>
                      <a:pt x="2999232" y="474073"/>
                    </a:cubicBezTo>
                    <a:cubicBezTo>
                      <a:pt x="2986566" y="486739"/>
                      <a:pt x="2969387" y="493854"/>
                      <a:pt x="2951474" y="493854"/>
                    </a:cubicBezTo>
                    <a:lnTo>
                      <a:pt x="67539" y="493854"/>
                    </a:lnTo>
                    <a:cubicBezTo>
                      <a:pt x="49627" y="493854"/>
                      <a:pt x="32448" y="486739"/>
                      <a:pt x="19782" y="474073"/>
                    </a:cubicBezTo>
                    <a:cubicBezTo>
                      <a:pt x="7116" y="461406"/>
                      <a:pt x="0" y="444228"/>
                      <a:pt x="0" y="426315"/>
                    </a:cubicBezTo>
                    <a:lnTo>
                      <a:pt x="0" y="67539"/>
                    </a:lnTo>
                    <a:cubicBezTo>
                      <a:pt x="0" y="49627"/>
                      <a:pt x="7116" y="32448"/>
                      <a:pt x="19782" y="19782"/>
                    </a:cubicBezTo>
                    <a:cubicBezTo>
                      <a:pt x="32448" y="7116"/>
                      <a:pt x="49627" y="0"/>
                      <a:pt x="67539" y="0"/>
                    </a:cubicBezTo>
                    <a:close/>
                  </a:path>
                </a:pathLst>
              </a:custGeom>
              <a:solidFill>
                <a:srgbClr val="ECE0D0"/>
              </a:solidFill>
            </p:spPr>
          </p:sp>
          <p:sp>
            <p:nvSpPr>
              <p:cNvPr name="TextBox 9" id="9"/>
              <p:cNvSpPr txBox="true"/>
              <p:nvPr/>
            </p:nvSpPr>
            <p:spPr>
              <a:xfrm>
                <a:off x="0" y="-38100"/>
                <a:ext cx="3019014" cy="531954"/>
              </a:xfrm>
              <a:prstGeom prst="rect">
                <a:avLst/>
              </a:prstGeom>
            </p:spPr>
            <p:txBody>
              <a:bodyPr anchor="ctr" rtlCol="false" tIns="50800" lIns="50800" bIns="50800" rIns="50800"/>
              <a:lstStyle/>
              <a:p>
                <a:pPr algn="ctr">
                  <a:lnSpc>
                    <a:spcPts val="2659"/>
                  </a:lnSpc>
                </a:pPr>
              </a:p>
            </p:txBody>
          </p:sp>
        </p:grpSp>
      </p:grpSp>
      <p:sp>
        <p:nvSpPr>
          <p:cNvPr name="TextBox 10" id="10"/>
          <p:cNvSpPr txBox="true"/>
          <p:nvPr/>
        </p:nvSpPr>
        <p:spPr>
          <a:xfrm rot="0">
            <a:off x="3417238" y="1513224"/>
            <a:ext cx="11635899" cy="1092061"/>
          </a:xfrm>
          <a:prstGeom prst="rect">
            <a:avLst/>
          </a:prstGeom>
        </p:spPr>
        <p:txBody>
          <a:bodyPr anchor="t" rtlCol="false" tIns="0" lIns="0" bIns="0" rIns="0">
            <a:spAutoFit/>
          </a:bodyPr>
          <a:lstStyle/>
          <a:p>
            <a:pPr algn="ctr" marL="0" indent="0" lvl="1">
              <a:lnSpc>
                <a:spcPts val="8118"/>
              </a:lnSpc>
              <a:spcBef>
                <a:spcPct val="0"/>
              </a:spcBef>
            </a:pPr>
            <a:r>
              <a:rPr lang="en-US" sz="8118">
                <a:solidFill>
                  <a:srgbClr val="532323"/>
                </a:solidFill>
                <a:latin typeface="Higuen Elegant Serif"/>
                <a:ea typeface="Higuen Elegant Serif"/>
                <a:cs typeface="Higuen Elegant Serif"/>
                <a:sym typeface="Higuen Elegant Serif"/>
              </a:rPr>
              <a:t>TAFSI</a:t>
            </a:r>
            <a:r>
              <a:rPr lang="en-US" sz="8118" strike="noStrike" u="none">
                <a:solidFill>
                  <a:srgbClr val="532323"/>
                </a:solidFill>
                <a:latin typeface="Higuen Elegant Serif"/>
                <a:ea typeface="Higuen Elegant Serif"/>
                <a:cs typeface="Higuen Elegant Serif"/>
                <a:sym typeface="Higuen Elegant Serif"/>
              </a:rPr>
              <a:t>R BI AL-RA’YI</a:t>
            </a:r>
          </a:p>
        </p:txBody>
      </p:sp>
      <p:sp>
        <p:nvSpPr>
          <p:cNvPr name="Freeform 11" id="11"/>
          <p:cNvSpPr/>
          <p:nvPr/>
        </p:nvSpPr>
        <p:spPr>
          <a:xfrm flipH="false" flipV="false" rot="-5400000">
            <a:off x="14581075" y="7121896"/>
            <a:ext cx="3667509" cy="5336323"/>
          </a:xfrm>
          <a:custGeom>
            <a:avLst/>
            <a:gdLst/>
            <a:ahLst/>
            <a:cxnLst/>
            <a:rect r="r" b="b" t="t" l="l"/>
            <a:pathLst>
              <a:path h="5336323" w="3667509">
                <a:moveTo>
                  <a:pt x="0" y="0"/>
                </a:moveTo>
                <a:lnTo>
                  <a:pt x="3667509" y="0"/>
                </a:lnTo>
                <a:lnTo>
                  <a:pt x="3667509" y="5336323"/>
                </a:lnTo>
                <a:lnTo>
                  <a:pt x="0" y="53363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12" id="12"/>
          <p:cNvGrpSpPr/>
          <p:nvPr/>
        </p:nvGrpSpPr>
        <p:grpSpPr>
          <a:xfrm rot="0">
            <a:off x="1053460" y="3823902"/>
            <a:ext cx="566146" cy="56614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9AF7F"/>
            </a:solidFill>
            <a:ln cap="sq">
              <a:noFill/>
              <a:prstDash val="solid"/>
              <a:miter/>
            </a:ln>
          </p:spPr>
        </p:sp>
        <p:sp>
          <p:nvSpPr>
            <p:cNvPr name="TextBox 14" id="14"/>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5" id="15"/>
          <p:cNvSpPr txBox="true"/>
          <p:nvPr/>
        </p:nvSpPr>
        <p:spPr>
          <a:xfrm rot="0">
            <a:off x="2108904" y="3652633"/>
            <a:ext cx="15335259" cy="7971179"/>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T</a:t>
            </a:r>
            <a:r>
              <a:rPr lang="en-US" sz="4523" strike="noStrike" u="none">
                <a:solidFill>
                  <a:srgbClr val="000000"/>
                </a:solidFill>
                <a:latin typeface="Harmattan"/>
                <a:ea typeface="Harmattan"/>
                <a:cs typeface="Harmattan"/>
                <a:sym typeface="Harmattan"/>
              </a:rPr>
              <a:t>afsir bi al-ra’yi yang terpuji (al-tafsir al-mahmud)</a:t>
            </a:r>
          </a:p>
          <a:p>
            <a:pPr algn="just" marL="0" indent="0" lvl="0">
              <a:lnSpc>
                <a:spcPts val="6332"/>
              </a:lnSpc>
              <a:spcBef>
                <a:spcPct val="0"/>
              </a:spcBef>
            </a:pPr>
            <a:r>
              <a:rPr lang="en-US" sz="4523" strike="noStrike" u="none">
                <a:solidFill>
                  <a:srgbClr val="000000"/>
                </a:solidFill>
                <a:latin typeface="Harmattan"/>
                <a:ea typeface="Harmattan"/>
                <a:cs typeface="Harmattan"/>
                <a:sym typeface="Harmattan"/>
              </a:rPr>
              <a:t>Contohnya: menafsirkan kata dzarrah dalam surah Al-Zalzalah: [99] : 7 dan 8, dengan benda terkecil misalnya atom, newton, dan energi yang oleh ulama-ulama klasik ditafsirkan dengan biji sawi, biji gandum, semut gatal, dan lain-lain. Tafsir bi al-ra’yi seperti inilah yang tergolong tafsir yang baik lagi terpuji dan layak digunakan, juga sering dijuluki dengan al-Tafsir al-Masyru’ tafsir yang disyari’atkan.</a:t>
            </a:r>
          </a:p>
          <a:p>
            <a:pPr algn="just" marL="0" indent="0" lvl="0">
              <a:lnSpc>
                <a:spcPts val="6332"/>
              </a:lnSpc>
              <a:spcBef>
                <a:spcPct val="0"/>
              </a:spcBef>
            </a:pPr>
          </a:p>
          <a:p>
            <a:pPr algn="l" marL="0" indent="0" lvl="0">
              <a:lnSpc>
                <a:spcPts val="6332"/>
              </a:lnSpc>
              <a:spcBef>
                <a:spcPct val="0"/>
              </a:spcBef>
            </a:pPr>
          </a:p>
          <a:p>
            <a:pPr algn="just" marL="0" indent="0" lvl="0">
              <a:lnSpc>
                <a:spcPts val="6332"/>
              </a:lnSpc>
              <a:spcBef>
                <a:spcPct val="0"/>
              </a:spcBef>
            </a:pPr>
          </a:p>
        </p:txBody>
      </p:sp>
      <p:sp>
        <p:nvSpPr>
          <p:cNvPr name="Freeform 16" id="16"/>
          <p:cNvSpPr/>
          <p:nvPr/>
        </p:nvSpPr>
        <p:spPr>
          <a:xfrm flipH="false" flipV="false" rot="0">
            <a:off x="238705" y="410495"/>
            <a:ext cx="2761803" cy="2591073"/>
          </a:xfrm>
          <a:custGeom>
            <a:avLst/>
            <a:gdLst/>
            <a:ahLst/>
            <a:cxnLst/>
            <a:rect r="r" b="b" t="t" l="l"/>
            <a:pathLst>
              <a:path h="2591073" w="2761803">
                <a:moveTo>
                  <a:pt x="0" y="0"/>
                </a:moveTo>
                <a:lnTo>
                  <a:pt x="2761802" y="0"/>
                </a:lnTo>
                <a:lnTo>
                  <a:pt x="2761802" y="2591073"/>
                </a:lnTo>
                <a:lnTo>
                  <a:pt x="0" y="25910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330844" y="974065"/>
            <a:ext cx="11626312" cy="2027503"/>
            <a:chOff x="0" y="0"/>
            <a:chExt cx="15501749" cy="2703338"/>
          </a:xfrm>
        </p:grpSpPr>
        <p:grpSp>
          <p:nvGrpSpPr>
            <p:cNvPr name="Group 4" id="4"/>
            <p:cNvGrpSpPr/>
            <p:nvPr/>
          </p:nvGrpSpPr>
          <p:grpSpPr>
            <a:xfrm rot="0">
              <a:off x="217993" y="203200"/>
              <a:ext cx="15283756" cy="2500138"/>
              <a:chOff x="0" y="0"/>
              <a:chExt cx="3019014" cy="493854"/>
            </a:xfrm>
          </p:grpSpPr>
          <p:sp>
            <p:nvSpPr>
              <p:cNvPr name="Freeform 5" id="5"/>
              <p:cNvSpPr/>
              <p:nvPr/>
            </p:nvSpPr>
            <p:spPr>
              <a:xfrm flipH="false" flipV="false" rot="0">
                <a:off x="0" y="0"/>
                <a:ext cx="3019014" cy="493854"/>
              </a:xfrm>
              <a:custGeom>
                <a:avLst/>
                <a:gdLst/>
                <a:ahLst/>
                <a:cxnLst/>
                <a:rect r="r" b="b" t="t" l="l"/>
                <a:pathLst>
                  <a:path h="493854" w="3019014">
                    <a:moveTo>
                      <a:pt x="67539" y="0"/>
                    </a:moveTo>
                    <a:lnTo>
                      <a:pt x="2951474" y="0"/>
                    </a:lnTo>
                    <a:cubicBezTo>
                      <a:pt x="2969387" y="0"/>
                      <a:pt x="2986566" y="7116"/>
                      <a:pt x="2999232" y="19782"/>
                    </a:cubicBezTo>
                    <a:cubicBezTo>
                      <a:pt x="3011898" y="32448"/>
                      <a:pt x="3019014" y="49627"/>
                      <a:pt x="3019014" y="67539"/>
                    </a:cubicBezTo>
                    <a:lnTo>
                      <a:pt x="3019014" y="426315"/>
                    </a:lnTo>
                    <a:cubicBezTo>
                      <a:pt x="3019014" y="444228"/>
                      <a:pt x="3011898" y="461406"/>
                      <a:pt x="2999232" y="474073"/>
                    </a:cubicBezTo>
                    <a:cubicBezTo>
                      <a:pt x="2986566" y="486739"/>
                      <a:pt x="2969387" y="493854"/>
                      <a:pt x="2951474" y="493854"/>
                    </a:cubicBezTo>
                    <a:lnTo>
                      <a:pt x="67539" y="493854"/>
                    </a:lnTo>
                    <a:cubicBezTo>
                      <a:pt x="49627" y="493854"/>
                      <a:pt x="32448" y="486739"/>
                      <a:pt x="19782" y="474073"/>
                    </a:cubicBezTo>
                    <a:cubicBezTo>
                      <a:pt x="7116" y="461406"/>
                      <a:pt x="0" y="444228"/>
                      <a:pt x="0" y="426315"/>
                    </a:cubicBezTo>
                    <a:lnTo>
                      <a:pt x="0" y="67539"/>
                    </a:lnTo>
                    <a:cubicBezTo>
                      <a:pt x="0" y="49627"/>
                      <a:pt x="7116" y="32448"/>
                      <a:pt x="19782" y="19782"/>
                    </a:cubicBezTo>
                    <a:cubicBezTo>
                      <a:pt x="32448" y="7116"/>
                      <a:pt x="49627" y="0"/>
                      <a:pt x="67539" y="0"/>
                    </a:cubicBezTo>
                    <a:close/>
                  </a:path>
                </a:pathLst>
              </a:custGeom>
              <a:solidFill>
                <a:srgbClr val="BCB8AE"/>
              </a:solidFill>
            </p:spPr>
          </p:sp>
          <p:sp>
            <p:nvSpPr>
              <p:cNvPr name="TextBox 6" id="6"/>
              <p:cNvSpPr txBox="true"/>
              <p:nvPr/>
            </p:nvSpPr>
            <p:spPr>
              <a:xfrm>
                <a:off x="0" y="-38100"/>
                <a:ext cx="3019014" cy="531954"/>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0" y="0"/>
              <a:ext cx="15283756" cy="2500138"/>
              <a:chOff x="0" y="0"/>
              <a:chExt cx="3019014" cy="493854"/>
            </a:xfrm>
          </p:grpSpPr>
          <p:sp>
            <p:nvSpPr>
              <p:cNvPr name="Freeform 8" id="8"/>
              <p:cNvSpPr/>
              <p:nvPr/>
            </p:nvSpPr>
            <p:spPr>
              <a:xfrm flipH="false" flipV="false" rot="0">
                <a:off x="0" y="0"/>
                <a:ext cx="3019014" cy="493854"/>
              </a:xfrm>
              <a:custGeom>
                <a:avLst/>
                <a:gdLst/>
                <a:ahLst/>
                <a:cxnLst/>
                <a:rect r="r" b="b" t="t" l="l"/>
                <a:pathLst>
                  <a:path h="493854" w="3019014">
                    <a:moveTo>
                      <a:pt x="67539" y="0"/>
                    </a:moveTo>
                    <a:lnTo>
                      <a:pt x="2951474" y="0"/>
                    </a:lnTo>
                    <a:cubicBezTo>
                      <a:pt x="2969387" y="0"/>
                      <a:pt x="2986566" y="7116"/>
                      <a:pt x="2999232" y="19782"/>
                    </a:cubicBezTo>
                    <a:cubicBezTo>
                      <a:pt x="3011898" y="32448"/>
                      <a:pt x="3019014" y="49627"/>
                      <a:pt x="3019014" y="67539"/>
                    </a:cubicBezTo>
                    <a:lnTo>
                      <a:pt x="3019014" y="426315"/>
                    </a:lnTo>
                    <a:cubicBezTo>
                      <a:pt x="3019014" y="444228"/>
                      <a:pt x="3011898" y="461406"/>
                      <a:pt x="2999232" y="474073"/>
                    </a:cubicBezTo>
                    <a:cubicBezTo>
                      <a:pt x="2986566" y="486739"/>
                      <a:pt x="2969387" y="493854"/>
                      <a:pt x="2951474" y="493854"/>
                    </a:cubicBezTo>
                    <a:lnTo>
                      <a:pt x="67539" y="493854"/>
                    </a:lnTo>
                    <a:cubicBezTo>
                      <a:pt x="49627" y="493854"/>
                      <a:pt x="32448" y="486739"/>
                      <a:pt x="19782" y="474073"/>
                    </a:cubicBezTo>
                    <a:cubicBezTo>
                      <a:pt x="7116" y="461406"/>
                      <a:pt x="0" y="444228"/>
                      <a:pt x="0" y="426315"/>
                    </a:cubicBezTo>
                    <a:lnTo>
                      <a:pt x="0" y="67539"/>
                    </a:lnTo>
                    <a:cubicBezTo>
                      <a:pt x="0" y="49627"/>
                      <a:pt x="7116" y="32448"/>
                      <a:pt x="19782" y="19782"/>
                    </a:cubicBezTo>
                    <a:cubicBezTo>
                      <a:pt x="32448" y="7116"/>
                      <a:pt x="49627" y="0"/>
                      <a:pt x="67539" y="0"/>
                    </a:cubicBezTo>
                    <a:close/>
                  </a:path>
                </a:pathLst>
              </a:custGeom>
              <a:solidFill>
                <a:srgbClr val="ECE0D0"/>
              </a:solidFill>
            </p:spPr>
          </p:sp>
          <p:sp>
            <p:nvSpPr>
              <p:cNvPr name="TextBox 9" id="9"/>
              <p:cNvSpPr txBox="true"/>
              <p:nvPr/>
            </p:nvSpPr>
            <p:spPr>
              <a:xfrm>
                <a:off x="0" y="-38100"/>
                <a:ext cx="3019014" cy="531954"/>
              </a:xfrm>
              <a:prstGeom prst="rect">
                <a:avLst/>
              </a:prstGeom>
            </p:spPr>
            <p:txBody>
              <a:bodyPr anchor="ctr" rtlCol="false" tIns="50800" lIns="50800" bIns="50800" rIns="50800"/>
              <a:lstStyle/>
              <a:p>
                <a:pPr algn="ctr">
                  <a:lnSpc>
                    <a:spcPts val="2659"/>
                  </a:lnSpc>
                </a:pPr>
              </a:p>
            </p:txBody>
          </p:sp>
        </p:grpSp>
      </p:grpSp>
      <p:sp>
        <p:nvSpPr>
          <p:cNvPr name="TextBox 10" id="10"/>
          <p:cNvSpPr txBox="true"/>
          <p:nvPr/>
        </p:nvSpPr>
        <p:spPr>
          <a:xfrm rot="0">
            <a:off x="3417238" y="1513224"/>
            <a:ext cx="11635899" cy="1092061"/>
          </a:xfrm>
          <a:prstGeom prst="rect">
            <a:avLst/>
          </a:prstGeom>
        </p:spPr>
        <p:txBody>
          <a:bodyPr anchor="t" rtlCol="false" tIns="0" lIns="0" bIns="0" rIns="0">
            <a:spAutoFit/>
          </a:bodyPr>
          <a:lstStyle/>
          <a:p>
            <a:pPr algn="ctr" marL="0" indent="0" lvl="1">
              <a:lnSpc>
                <a:spcPts val="8118"/>
              </a:lnSpc>
              <a:spcBef>
                <a:spcPct val="0"/>
              </a:spcBef>
            </a:pPr>
            <a:r>
              <a:rPr lang="en-US" sz="8118">
                <a:solidFill>
                  <a:srgbClr val="532323"/>
                </a:solidFill>
                <a:latin typeface="Higuen Elegant Serif"/>
                <a:ea typeface="Higuen Elegant Serif"/>
                <a:cs typeface="Higuen Elegant Serif"/>
                <a:sym typeface="Higuen Elegant Serif"/>
              </a:rPr>
              <a:t>TAFSI</a:t>
            </a:r>
            <a:r>
              <a:rPr lang="en-US" sz="8118" strike="noStrike" u="none">
                <a:solidFill>
                  <a:srgbClr val="532323"/>
                </a:solidFill>
                <a:latin typeface="Higuen Elegant Serif"/>
                <a:ea typeface="Higuen Elegant Serif"/>
                <a:cs typeface="Higuen Elegant Serif"/>
                <a:sym typeface="Higuen Elegant Serif"/>
              </a:rPr>
              <a:t>R BI AL-RA’YI</a:t>
            </a:r>
          </a:p>
        </p:txBody>
      </p:sp>
      <p:sp>
        <p:nvSpPr>
          <p:cNvPr name="Freeform 11" id="11"/>
          <p:cNvSpPr/>
          <p:nvPr/>
        </p:nvSpPr>
        <p:spPr>
          <a:xfrm flipH="false" flipV="false" rot="-5400000">
            <a:off x="14581075" y="7121896"/>
            <a:ext cx="3667509" cy="5336323"/>
          </a:xfrm>
          <a:custGeom>
            <a:avLst/>
            <a:gdLst/>
            <a:ahLst/>
            <a:cxnLst/>
            <a:rect r="r" b="b" t="t" l="l"/>
            <a:pathLst>
              <a:path h="5336323" w="3667509">
                <a:moveTo>
                  <a:pt x="0" y="0"/>
                </a:moveTo>
                <a:lnTo>
                  <a:pt x="3667509" y="0"/>
                </a:lnTo>
                <a:lnTo>
                  <a:pt x="3667509" y="5336323"/>
                </a:lnTo>
                <a:lnTo>
                  <a:pt x="0" y="53363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12" id="12"/>
          <p:cNvGrpSpPr/>
          <p:nvPr/>
        </p:nvGrpSpPr>
        <p:grpSpPr>
          <a:xfrm rot="0">
            <a:off x="1053460" y="3823902"/>
            <a:ext cx="566146" cy="56614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9AF7F"/>
            </a:solidFill>
            <a:ln cap="sq">
              <a:noFill/>
              <a:prstDash val="solid"/>
              <a:miter/>
            </a:ln>
          </p:spPr>
        </p:sp>
        <p:sp>
          <p:nvSpPr>
            <p:cNvPr name="TextBox 14" id="14"/>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5" id="15"/>
          <p:cNvSpPr txBox="true"/>
          <p:nvPr/>
        </p:nvSpPr>
        <p:spPr>
          <a:xfrm rot="0">
            <a:off x="2108904" y="3652633"/>
            <a:ext cx="15335259" cy="4771043"/>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T</a:t>
            </a:r>
            <a:r>
              <a:rPr lang="en-US" sz="4523" strike="noStrike" u="none">
                <a:solidFill>
                  <a:srgbClr val="000000"/>
                </a:solidFill>
                <a:latin typeface="Harmattan"/>
                <a:ea typeface="Harmattan"/>
                <a:cs typeface="Harmattan"/>
                <a:sym typeface="Harmattan"/>
              </a:rPr>
              <a:t>afsir bi al-ra’yi yang tercela (al-tafsir al-madzmum)</a:t>
            </a:r>
          </a:p>
          <a:p>
            <a:pPr algn="just" marL="0" indent="0" lvl="0">
              <a:lnSpc>
                <a:spcPts val="6332"/>
              </a:lnSpc>
              <a:spcBef>
                <a:spcPct val="0"/>
              </a:spcBef>
            </a:pPr>
            <a:r>
              <a:rPr lang="en-US" sz="4523" strike="noStrike" u="none">
                <a:solidFill>
                  <a:srgbClr val="000000"/>
                </a:solidFill>
                <a:latin typeface="Harmattan"/>
                <a:ea typeface="Harmattan"/>
                <a:cs typeface="Harmattan"/>
                <a:sym typeface="Harmattan"/>
              </a:rPr>
              <a:t>Contohnya: ada oknum juru kampanye (jurkam) yang menterjemahkan syajarah dengan pohon beringin, dengan maksud mendeskriditkan partai Golonga Karya supaya tidak dipilih. Demikian pula dengan oknum jurkam lain yang mengharamkan mencoba tanda gambar Ka’bah (gambar Partai Persatuan Pembangunan) dengan dalih </a:t>
            </a:r>
          </a:p>
        </p:txBody>
      </p:sp>
      <p:sp>
        <p:nvSpPr>
          <p:cNvPr name="Freeform 16" id="16"/>
          <p:cNvSpPr/>
          <p:nvPr/>
        </p:nvSpPr>
        <p:spPr>
          <a:xfrm flipH="false" flipV="false" rot="0">
            <a:off x="238705" y="410495"/>
            <a:ext cx="2761803" cy="2591073"/>
          </a:xfrm>
          <a:custGeom>
            <a:avLst/>
            <a:gdLst/>
            <a:ahLst/>
            <a:cxnLst/>
            <a:rect r="r" b="b" t="t" l="l"/>
            <a:pathLst>
              <a:path h="2591073" w="2761803">
                <a:moveTo>
                  <a:pt x="0" y="0"/>
                </a:moveTo>
                <a:lnTo>
                  <a:pt x="2761802" y="0"/>
                </a:lnTo>
                <a:lnTo>
                  <a:pt x="2761802" y="2591073"/>
                </a:lnTo>
                <a:lnTo>
                  <a:pt x="0" y="25910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330844" y="974065"/>
            <a:ext cx="11626312" cy="2027503"/>
            <a:chOff x="0" y="0"/>
            <a:chExt cx="15501749" cy="2703338"/>
          </a:xfrm>
        </p:grpSpPr>
        <p:grpSp>
          <p:nvGrpSpPr>
            <p:cNvPr name="Group 4" id="4"/>
            <p:cNvGrpSpPr/>
            <p:nvPr/>
          </p:nvGrpSpPr>
          <p:grpSpPr>
            <a:xfrm rot="0">
              <a:off x="217993" y="203200"/>
              <a:ext cx="15283756" cy="2500138"/>
              <a:chOff x="0" y="0"/>
              <a:chExt cx="3019014" cy="493854"/>
            </a:xfrm>
          </p:grpSpPr>
          <p:sp>
            <p:nvSpPr>
              <p:cNvPr name="Freeform 5" id="5"/>
              <p:cNvSpPr/>
              <p:nvPr/>
            </p:nvSpPr>
            <p:spPr>
              <a:xfrm flipH="false" flipV="false" rot="0">
                <a:off x="0" y="0"/>
                <a:ext cx="3019014" cy="493854"/>
              </a:xfrm>
              <a:custGeom>
                <a:avLst/>
                <a:gdLst/>
                <a:ahLst/>
                <a:cxnLst/>
                <a:rect r="r" b="b" t="t" l="l"/>
                <a:pathLst>
                  <a:path h="493854" w="3019014">
                    <a:moveTo>
                      <a:pt x="67539" y="0"/>
                    </a:moveTo>
                    <a:lnTo>
                      <a:pt x="2951474" y="0"/>
                    </a:lnTo>
                    <a:cubicBezTo>
                      <a:pt x="2969387" y="0"/>
                      <a:pt x="2986566" y="7116"/>
                      <a:pt x="2999232" y="19782"/>
                    </a:cubicBezTo>
                    <a:cubicBezTo>
                      <a:pt x="3011898" y="32448"/>
                      <a:pt x="3019014" y="49627"/>
                      <a:pt x="3019014" y="67539"/>
                    </a:cubicBezTo>
                    <a:lnTo>
                      <a:pt x="3019014" y="426315"/>
                    </a:lnTo>
                    <a:cubicBezTo>
                      <a:pt x="3019014" y="444228"/>
                      <a:pt x="3011898" y="461406"/>
                      <a:pt x="2999232" y="474073"/>
                    </a:cubicBezTo>
                    <a:cubicBezTo>
                      <a:pt x="2986566" y="486739"/>
                      <a:pt x="2969387" y="493854"/>
                      <a:pt x="2951474" y="493854"/>
                    </a:cubicBezTo>
                    <a:lnTo>
                      <a:pt x="67539" y="493854"/>
                    </a:lnTo>
                    <a:cubicBezTo>
                      <a:pt x="49627" y="493854"/>
                      <a:pt x="32448" y="486739"/>
                      <a:pt x="19782" y="474073"/>
                    </a:cubicBezTo>
                    <a:cubicBezTo>
                      <a:pt x="7116" y="461406"/>
                      <a:pt x="0" y="444228"/>
                      <a:pt x="0" y="426315"/>
                    </a:cubicBezTo>
                    <a:lnTo>
                      <a:pt x="0" y="67539"/>
                    </a:lnTo>
                    <a:cubicBezTo>
                      <a:pt x="0" y="49627"/>
                      <a:pt x="7116" y="32448"/>
                      <a:pt x="19782" y="19782"/>
                    </a:cubicBezTo>
                    <a:cubicBezTo>
                      <a:pt x="32448" y="7116"/>
                      <a:pt x="49627" y="0"/>
                      <a:pt x="67539" y="0"/>
                    </a:cubicBezTo>
                    <a:close/>
                  </a:path>
                </a:pathLst>
              </a:custGeom>
              <a:solidFill>
                <a:srgbClr val="BCB8AE"/>
              </a:solidFill>
            </p:spPr>
          </p:sp>
          <p:sp>
            <p:nvSpPr>
              <p:cNvPr name="TextBox 6" id="6"/>
              <p:cNvSpPr txBox="true"/>
              <p:nvPr/>
            </p:nvSpPr>
            <p:spPr>
              <a:xfrm>
                <a:off x="0" y="-38100"/>
                <a:ext cx="3019014" cy="531954"/>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0" y="0"/>
              <a:ext cx="15283756" cy="2500138"/>
              <a:chOff x="0" y="0"/>
              <a:chExt cx="3019014" cy="493854"/>
            </a:xfrm>
          </p:grpSpPr>
          <p:sp>
            <p:nvSpPr>
              <p:cNvPr name="Freeform 8" id="8"/>
              <p:cNvSpPr/>
              <p:nvPr/>
            </p:nvSpPr>
            <p:spPr>
              <a:xfrm flipH="false" flipV="false" rot="0">
                <a:off x="0" y="0"/>
                <a:ext cx="3019014" cy="493854"/>
              </a:xfrm>
              <a:custGeom>
                <a:avLst/>
                <a:gdLst/>
                <a:ahLst/>
                <a:cxnLst/>
                <a:rect r="r" b="b" t="t" l="l"/>
                <a:pathLst>
                  <a:path h="493854" w="3019014">
                    <a:moveTo>
                      <a:pt x="67539" y="0"/>
                    </a:moveTo>
                    <a:lnTo>
                      <a:pt x="2951474" y="0"/>
                    </a:lnTo>
                    <a:cubicBezTo>
                      <a:pt x="2969387" y="0"/>
                      <a:pt x="2986566" y="7116"/>
                      <a:pt x="2999232" y="19782"/>
                    </a:cubicBezTo>
                    <a:cubicBezTo>
                      <a:pt x="3011898" y="32448"/>
                      <a:pt x="3019014" y="49627"/>
                      <a:pt x="3019014" y="67539"/>
                    </a:cubicBezTo>
                    <a:lnTo>
                      <a:pt x="3019014" y="426315"/>
                    </a:lnTo>
                    <a:cubicBezTo>
                      <a:pt x="3019014" y="444228"/>
                      <a:pt x="3011898" y="461406"/>
                      <a:pt x="2999232" y="474073"/>
                    </a:cubicBezTo>
                    <a:cubicBezTo>
                      <a:pt x="2986566" y="486739"/>
                      <a:pt x="2969387" y="493854"/>
                      <a:pt x="2951474" y="493854"/>
                    </a:cubicBezTo>
                    <a:lnTo>
                      <a:pt x="67539" y="493854"/>
                    </a:lnTo>
                    <a:cubicBezTo>
                      <a:pt x="49627" y="493854"/>
                      <a:pt x="32448" y="486739"/>
                      <a:pt x="19782" y="474073"/>
                    </a:cubicBezTo>
                    <a:cubicBezTo>
                      <a:pt x="7116" y="461406"/>
                      <a:pt x="0" y="444228"/>
                      <a:pt x="0" y="426315"/>
                    </a:cubicBezTo>
                    <a:lnTo>
                      <a:pt x="0" y="67539"/>
                    </a:lnTo>
                    <a:cubicBezTo>
                      <a:pt x="0" y="49627"/>
                      <a:pt x="7116" y="32448"/>
                      <a:pt x="19782" y="19782"/>
                    </a:cubicBezTo>
                    <a:cubicBezTo>
                      <a:pt x="32448" y="7116"/>
                      <a:pt x="49627" y="0"/>
                      <a:pt x="67539" y="0"/>
                    </a:cubicBezTo>
                    <a:close/>
                  </a:path>
                </a:pathLst>
              </a:custGeom>
              <a:solidFill>
                <a:srgbClr val="ECE0D0"/>
              </a:solidFill>
            </p:spPr>
          </p:sp>
          <p:sp>
            <p:nvSpPr>
              <p:cNvPr name="TextBox 9" id="9"/>
              <p:cNvSpPr txBox="true"/>
              <p:nvPr/>
            </p:nvSpPr>
            <p:spPr>
              <a:xfrm>
                <a:off x="0" y="-38100"/>
                <a:ext cx="3019014" cy="531954"/>
              </a:xfrm>
              <a:prstGeom prst="rect">
                <a:avLst/>
              </a:prstGeom>
            </p:spPr>
            <p:txBody>
              <a:bodyPr anchor="ctr" rtlCol="false" tIns="50800" lIns="50800" bIns="50800" rIns="50800"/>
              <a:lstStyle/>
              <a:p>
                <a:pPr algn="ctr">
                  <a:lnSpc>
                    <a:spcPts val="2659"/>
                  </a:lnSpc>
                </a:pPr>
              </a:p>
            </p:txBody>
          </p:sp>
        </p:grpSp>
      </p:grpSp>
      <p:sp>
        <p:nvSpPr>
          <p:cNvPr name="TextBox 10" id="10"/>
          <p:cNvSpPr txBox="true"/>
          <p:nvPr/>
        </p:nvSpPr>
        <p:spPr>
          <a:xfrm rot="0">
            <a:off x="3417238" y="1513224"/>
            <a:ext cx="11635899" cy="1092061"/>
          </a:xfrm>
          <a:prstGeom prst="rect">
            <a:avLst/>
          </a:prstGeom>
        </p:spPr>
        <p:txBody>
          <a:bodyPr anchor="t" rtlCol="false" tIns="0" lIns="0" bIns="0" rIns="0">
            <a:spAutoFit/>
          </a:bodyPr>
          <a:lstStyle/>
          <a:p>
            <a:pPr algn="ctr" marL="0" indent="0" lvl="1">
              <a:lnSpc>
                <a:spcPts val="8118"/>
              </a:lnSpc>
              <a:spcBef>
                <a:spcPct val="0"/>
              </a:spcBef>
            </a:pPr>
            <a:r>
              <a:rPr lang="en-US" sz="8118">
                <a:solidFill>
                  <a:srgbClr val="532323"/>
                </a:solidFill>
                <a:latin typeface="Higuen Elegant Serif"/>
                <a:ea typeface="Higuen Elegant Serif"/>
                <a:cs typeface="Higuen Elegant Serif"/>
                <a:sym typeface="Higuen Elegant Serif"/>
              </a:rPr>
              <a:t>TAFSI</a:t>
            </a:r>
            <a:r>
              <a:rPr lang="en-US" sz="8118" strike="noStrike" u="none">
                <a:solidFill>
                  <a:srgbClr val="532323"/>
                </a:solidFill>
                <a:latin typeface="Higuen Elegant Serif"/>
                <a:ea typeface="Higuen Elegant Serif"/>
                <a:cs typeface="Higuen Elegant Serif"/>
                <a:sym typeface="Higuen Elegant Serif"/>
              </a:rPr>
              <a:t>R BI AL-ISYARAH</a:t>
            </a:r>
          </a:p>
        </p:txBody>
      </p:sp>
      <p:sp>
        <p:nvSpPr>
          <p:cNvPr name="Freeform 11" id="11"/>
          <p:cNvSpPr/>
          <p:nvPr/>
        </p:nvSpPr>
        <p:spPr>
          <a:xfrm flipH="false" flipV="false" rot="-5400000">
            <a:off x="14581075" y="7121896"/>
            <a:ext cx="3667509" cy="5336323"/>
          </a:xfrm>
          <a:custGeom>
            <a:avLst/>
            <a:gdLst/>
            <a:ahLst/>
            <a:cxnLst/>
            <a:rect r="r" b="b" t="t" l="l"/>
            <a:pathLst>
              <a:path h="5336323" w="3667509">
                <a:moveTo>
                  <a:pt x="0" y="0"/>
                </a:moveTo>
                <a:lnTo>
                  <a:pt x="3667509" y="0"/>
                </a:lnTo>
                <a:lnTo>
                  <a:pt x="3667509" y="5336323"/>
                </a:lnTo>
                <a:lnTo>
                  <a:pt x="0" y="53363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12" id="12"/>
          <p:cNvGrpSpPr/>
          <p:nvPr/>
        </p:nvGrpSpPr>
        <p:grpSpPr>
          <a:xfrm rot="0">
            <a:off x="2434362" y="3516058"/>
            <a:ext cx="566146" cy="56614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9AF7F"/>
            </a:solidFill>
            <a:ln cap="sq">
              <a:noFill/>
              <a:prstDash val="solid"/>
              <a:miter/>
            </a:ln>
          </p:spPr>
        </p:sp>
        <p:sp>
          <p:nvSpPr>
            <p:cNvPr name="TextBox 14" id="14"/>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5" id="15"/>
          <p:cNvSpPr txBox="true"/>
          <p:nvPr/>
        </p:nvSpPr>
        <p:spPr>
          <a:xfrm rot="0">
            <a:off x="3417238" y="3430333"/>
            <a:ext cx="13180355" cy="5571077"/>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T</a:t>
            </a:r>
            <a:r>
              <a:rPr lang="en-US" sz="4523" strike="noStrike" u="none">
                <a:solidFill>
                  <a:srgbClr val="000000"/>
                </a:solidFill>
                <a:latin typeface="Harmattan"/>
                <a:ea typeface="Harmattan"/>
                <a:cs typeface="Harmattan"/>
                <a:sym typeface="Harmattan"/>
              </a:rPr>
              <a:t>afsir bi al-Isyarah yang maqbul (bisa diterima)</a:t>
            </a:r>
          </a:p>
          <a:p>
            <a:pPr algn="just" marL="0" indent="0" lvl="0">
              <a:lnSpc>
                <a:spcPts val="6332"/>
              </a:lnSpc>
              <a:spcBef>
                <a:spcPct val="0"/>
              </a:spcBef>
            </a:pPr>
            <a:r>
              <a:rPr lang="en-US" sz="4523" strike="noStrike" u="none">
                <a:solidFill>
                  <a:srgbClr val="000000"/>
                </a:solidFill>
                <a:latin typeface="Harmattan"/>
                <a:ea typeface="Harmattan"/>
                <a:cs typeface="Harmattan"/>
                <a:sym typeface="Harmattan"/>
              </a:rPr>
              <a:t>penafsiran harus didukung atau diperkuat oleh dalil syar'i lain, tidak boleh bertentangan dengan makna lahir ayat, tidak boleh menganggap makna isyari sebagai satu-satunya makna yang dikehendaki Allah, tidak boleh terlalu jauh dari lafaz ayat, dan tidak boleh bertentangan dengan syariat atau akal sehat</a:t>
            </a:r>
          </a:p>
          <a:p>
            <a:pPr algn="l" marL="0" indent="0" lvl="0">
              <a:lnSpc>
                <a:spcPts val="6332"/>
              </a:lnSpc>
              <a:spcBef>
                <a:spcPct val="0"/>
              </a:spcBef>
            </a:pPr>
          </a:p>
        </p:txBody>
      </p:sp>
      <p:sp>
        <p:nvSpPr>
          <p:cNvPr name="Freeform 16" id="16"/>
          <p:cNvSpPr/>
          <p:nvPr/>
        </p:nvSpPr>
        <p:spPr>
          <a:xfrm flipH="false" flipV="false" rot="0">
            <a:off x="238705" y="410495"/>
            <a:ext cx="2761803" cy="2591073"/>
          </a:xfrm>
          <a:custGeom>
            <a:avLst/>
            <a:gdLst/>
            <a:ahLst/>
            <a:cxnLst/>
            <a:rect r="r" b="b" t="t" l="l"/>
            <a:pathLst>
              <a:path h="2591073" w="2761803">
                <a:moveTo>
                  <a:pt x="0" y="0"/>
                </a:moveTo>
                <a:lnTo>
                  <a:pt x="2761802" y="0"/>
                </a:lnTo>
                <a:lnTo>
                  <a:pt x="2761802" y="2591073"/>
                </a:lnTo>
                <a:lnTo>
                  <a:pt x="0" y="25910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330844" y="974065"/>
            <a:ext cx="11626312" cy="2027503"/>
            <a:chOff x="0" y="0"/>
            <a:chExt cx="15501749" cy="2703338"/>
          </a:xfrm>
        </p:grpSpPr>
        <p:grpSp>
          <p:nvGrpSpPr>
            <p:cNvPr name="Group 4" id="4"/>
            <p:cNvGrpSpPr/>
            <p:nvPr/>
          </p:nvGrpSpPr>
          <p:grpSpPr>
            <a:xfrm rot="0">
              <a:off x="217993" y="203200"/>
              <a:ext cx="15283756" cy="2500138"/>
              <a:chOff x="0" y="0"/>
              <a:chExt cx="3019014" cy="493854"/>
            </a:xfrm>
          </p:grpSpPr>
          <p:sp>
            <p:nvSpPr>
              <p:cNvPr name="Freeform 5" id="5"/>
              <p:cNvSpPr/>
              <p:nvPr/>
            </p:nvSpPr>
            <p:spPr>
              <a:xfrm flipH="false" flipV="false" rot="0">
                <a:off x="0" y="0"/>
                <a:ext cx="3019014" cy="493854"/>
              </a:xfrm>
              <a:custGeom>
                <a:avLst/>
                <a:gdLst/>
                <a:ahLst/>
                <a:cxnLst/>
                <a:rect r="r" b="b" t="t" l="l"/>
                <a:pathLst>
                  <a:path h="493854" w="3019014">
                    <a:moveTo>
                      <a:pt x="67539" y="0"/>
                    </a:moveTo>
                    <a:lnTo>
                      <a:pt x="2951474" y="0"/>
                    </a:lnTo>
                    <a:cubicBezTo>
                      <a:pt x="2969387" y="0"/>
                      <a:pt x="2986566" y="7116"/>
                      <a:pt x="2999232" y="19782"/>
                    </a:cubicBezTo>
                    <a:cubicBezTo>
                      <a:pt x="3011898" y="32448"/>
                      <a:pt x="3019014" y="49627"/>
                      <a:pt x="3019014" y="67539"/>
                    </a:cubicBezTo>
                    <a:lnTo>
                      <a:pt x="3019014" y="426315"/>
                    </a:lnTo>
                    <a:cubicBezTo>
                      <a:pt x="3019014" y="444228"/>
                      <a:pt x="3011898" y="461406"/>
                      <a:pt x="2999232" y="474073"/>
                    </a:cubicBezTo>
                    <a:cubicBezTo>
                      <a:pt x="2986566" y="486739"/>
                      <a:pt x="2969387" y="493854"/>
                      <a:pt x="2951474" y="493854"/>
                    </a:cubicBezTo>
                    <a:lnTo>
                      <a:pt x="67539" y="493854"/>
                    </a:lnTo>
                    <a:cubicBezTo>
                      <a:pt x="49627" y="493854"/>
                      <a:pt x="32448" y="486739"/>
                      <a:pt x="19782" y="474073"/>
                    </a:cubicBezTo>
                    <a:cubicBezTo>
                      <a:pt x="7116" y="461406"/>
                      <a:pt x="0" y="444228"/>
                      <a:pt x="0" y="426315"/>
                    </a:cubicBezTo>
                    <a:lnTo>
                      <a:pt x="0" y="67539"/>
                    </a:lnTo>
                    <a:cubicBezTo>
                      <a:pt x="0" y="49627"/>
                      <a:pt x="7116" y="32448"/>
                      <a:pt x="19782" y="19782"/>
                    </a:cubicBezTo>
                    <a:cubicBezTo>
                      <a:pt x="32448" y="7116"/>
                      <a:pt x="49627" y="0"/>
                      <a:pt x="67539" y="0"/>
                    </a:cubicBezTo>
                    <a:close/>
                  </a:path>
                </a:pathLst>
              </a:custGeom>
              <a:solidFill>
                <a:srgbClr val="BCB8AE"/>
              </a:solidFill>
            </p:spPr>
          </p:sp>
          <p:sp>
            <p:nvSpPr>
              <p:cNvPr name="TextBox 6" id="6"/>
              <p:cNvSpPr txBox="true"/>
              <p:nvPr/>
            </p:nvSpPr>
            <p:spPr>
              <a:xfrm>
                <a:off x="0" y="-38100"/>
                <a:ext cx="3019014" cy="531954"/>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0" y="0"/>
              <a:ext cx="15283756" cy="2500138"/>
              <a:chOff x="0" y="0"/>
              <a:chExt cx="3019014" cy="493854"/>
            </a:xfrm>
          </p:grpSpPr>
          <p:sp>
            <p:nvSpPr>
              <p:cNvPr name="Freeform 8" id="8"/>
              <p:cNvSpPr/>
              <p:nvPr/>
            </p:nvSpPr>
            <p:spPr>
              <a:xfrm flipH="false" flipV="false" rot="0">
                <a:off x="0" y="0"/>
                <a:ext cx="3019014" cy="493854"/>
              </a:xfrm>
              <a:custGeom>
                <a:avLst/>
                <a:gdLst/>
                <a:ahLst/>
                <a:cxnLst/>
                <a:rect r="r" b="b" t="t" l="l"/>
                <a:pathLst>
                  <a:path h="493854" w="3019014">
                    <a:moveTo>
                      <a:pt x="67539" y="0"/>
                    </a:moveTo>
                    <a:lnTo>
                      <a:pt x="2951474" y="0"/>
                    </a:lnTo>
                    <a:cubicBezTo>
                      <a:pt x="2969387" y="0"/>
                      <a:pt x="2986566" y="7116"/>
                      <a:pt x="2999232" y="19782"/>
                    </a:cubicBezTo>
                    <a:cubicBezTo>
                      <a:pt x="3011898" y="32448"/>
                      <a:pt x="3019014" y="49627"/>
                      <a:pt x="3019014" y="67539"/>
                    </a:cubicBezTo>
                    <a:lnTo>
                      <a:pt x="3019014" y="426315"/>
                    </a:lnTo>
                    <a:cubicBezTo>
                      <a:pt x="3019014" y="444228"/>
                      <a:pt x="3011898" y="461406"/>
                      <a:pt x="2999232" y="474073"/>
                    </a:cubicBezTo>
                    <a:cubicBezTo>
                      <a:pt x="2986566" y="486739"/>
                      <a:pt x="2969387" y="493854"/>
                      <a:pt x="2951474" y="493854"/>
                    </a:cubicBezTo>
                    <a:lnTo>
                      <a:pt x="67539" y="493854"/>
                    </a:lnTo>
                    <a:cubicBezTo>
                      <a:pt x="49627" y="493854"/>
                      <a:pt x="32448" y="486739"/>
                      <a:pt x="19782" y="474073"/>
                    </a:cubicBezTo>
                    <a:cubicBezTo>
                      <a:pt x="7116" y="461406"/>
                      <a:pt x="0" y="444228"/>
                      <a:pt x="0" y="426315"/>
                    </a:cubicBezTo>
                    <a:lnTo>
                      <a:pt x="0" y="67539"/>
                    </a:lnTo>
                    <a:cubicBezTo>
                      <a:pt x="0" y="49627"/>
                      <a:pt x="7116" y="32448"/>
                      <a:pt x="19782" y="19782"/>
                    </a:cubicBezTo>
                    <a:cubicBezTo>
                      <a:pt x="32448" y="7116"/>
                      <a:pt x="49627" y="0"/>
                      <a:pt x="67539" y="0"/>
                    </a:cubicBezTo>
                    <a:close/>
                  </a:path>
                </a:pathLst>
              </a:custGeom>
              <a:solidFill>
                <a:srgbClr val="ECE0D0"/>
              </a:solidFill>
            </p:spPr>
          </p:sp>
          <p:sp>
            <p:nvSpPr>
              <p:cNvPr name="TextBox 9" id="9"/>
              <p:cNvSpPr txBox="true"/>
              <p:nvPr/>
            </p:nvSpPr>
            <p:spPr>
              <a:xfrm>
                <a:off x="0" y="-38100"/>
                <a:ext cx="3019014" cy="531954"/>
              </a:xfrm>
              <a:prstGeom prst="rect">
                <a:avLst/>
              </a:prstGeom>
            </p:spPr>
            <p:txBody>
              <a:bodyPr anchor="ctr" rtlCol="false" tIns="50800" lIns="50800" bIns="50800" rIns="50800"/>
              <a:lstStyle/>
              <a:p>
                <a:pPr algn="ctr">
                  <a:lnSpc>
                    <a:spcPts val="2659"/>
                  </a:lnSpc>
                </a:pPr>
              </a:p>
            </p:txBody>
          </p:sp>
        </p:grpSp>
      </p:grpSp>
      <p:sp>
        <p:nvSpPr>
          <p:cNvPr name="TextBox 10" id="10"/>
          <p:cNvSpPr txBox="true"/>
          <p:nvPr/>
        </p:nvSpPr>
        <p:spPr>
          <a:xfrm rot="0">
            <a:off x="3417238" y="1513224"/>
            <a:ext cx="11635899" cy="1092061"/>
          </a:xfrm>
          <a:prstGeom prst="rect">
            <a:avLst/>
          </a:prstGeom>
        </p:spPr>
        <p:txBody>
          <a:bodyPr anchor="t" rtlCol="false" tIns="0" lIns="0" bIns="0" rIns="0">
            <a:spAutoFit/>
          </a:bodyPr>
          <a:lstStyle/>
          <a:p>
            <a:pPr algn="ctr" marL="0" indent="0" lvl="1">
              <a:lnSpc>
                <a:spcPts val="8118"/>
              </a:lnSpc>
              <a:spcBef>
                <a:spcPct val="0"/>
              </a:spcBef>
            </a:pPr>
            <a:r>
              <a:rPr lang="en-US" sz="8118">
                <a:solidFill>
                  <a:srgbClr val="532323"/>
                </a:solidFill>
                <a:latin typeface="Higuen Elegant Serif"/>
                <a:ea typeface="Higuen Elegant Serif"/>
                <a:cs typeface="Higuen Elegant Serif"/>
                <a:sym typeface="Higuen Elegant Serif"/>
              </a:rPr>
              <a:t>TAFSI</a:t>
            </a:r>
            <a:r>
              <a:rPr lang="en-US" sz="8118" strike="noStrike" u="none">
                <a:solidFill>
                  <a:srgbClr val="532323"/>
                </a:solidFill>
                <a:latin typeface="Higuen Elegant Serif"/>
                <a:ea typeface="Higuen Elegant Serif"/>
                <a:cs typeface="Higuen Elegant Serif"/>
                <a:sym typeface="Higuen Elegant Serif"/>
              </a:rPr>
              <a:t>R BI AL-ISYARAH</a:t>
            </a:r>
          </a:p>
        </p:txBody>
      </p:sp>
      <p:sp>
        <p:nvSpPr>
          <p:cNvPr name="Freeform 11" id="11"/>
          <p:cNvSpPr/>
          <p:nvPr/>
        </p:nvSpPr>
        <p:spPr>
          <a:xfrm flipH="false" flipV="false" rot="-5400000">
            <a:off x="14581075" y="7121896"/>
            <a:ext cx="3667509" cy="5336323"/>
          </a:xfrm>
          <a:custGeom>
            <a:avLst/>
            <a:gdLst/>
            <a:ahLst/>
            <a:cxnLst/>
            <a:rect r="r" b="b" t="t" l="l"/>
            <a:pathLst>
              <a:path h="5336323" w="3667509">
                <a:moveTo>
                  <a:pt x="0" y="0"/>
                </a:moveTo>
                <a:lnTo>
                  <a:pt x="3667509" y="0"/>
                </a:lnTo>
                <a:lnTo>
                  <a:pt x="3667509" y="5336323"/>
                </a:lnTo>
                <a:lnTo>
                  <a:pt x="0" y="53363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12" id="12"/>
          <p:cNvGrpSpPr/>
          <p:nvPr/>
        </p:nvGrpSpPr>
        <p:grpSpPr>
          <a:xfrm rot="0">
            <a:off x="2434362" y="3516058"/>
            <a:ext cx="566146" cy="56614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9AF7F"/>
            </a:solidFill>
            <a:ln cap="sq">
              <a:noFill/>
              <a:prstDash val="solid"/>
              <a:miter/>
            </a:ln>
          </p:spPr>
        </p:sp>
        <p:sp>
          <p:nvSpPr>
            <p:cNvPr name="TextBox 14" id="14"/>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5" id="15"/>
          <p:cNvSpPr txBox="true"/>
          <p:nvPr/>
        </p:nvSpPr>
        <p:spPr>
          <a:xfrm rot="0">
            <a:off x="3673774" y="3430333"/>
            <a:ext cx="13180355" cy="3971009"/>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T</a:t>
            </a:r>
            <a:r>
              <a:rPr lang="en-US" sz="4523" strike="noStrike" u="none">
                <a:solidFill>
                  <a:srgbClr val="000000"/>
                </a:solidFill>
                <a:latin typeface="Harmattan"/>
                <a:ea typeface="Harmattan"/>
                <a:cs typeface="Harmattan"/>
                <a:sym typeface="Harmattan"/>
              </a:rPr>
              <a:t>afsir bi al-Isyarah yang mardud (harus ditolak)</a:t>
            </a:r>
          </a:p>
          <a:p>
            <a:pPr algn="just" marL="0" indent="0" lvl="0">
              <a:lnSpc>
                <a:spcPts val="6332"/>
              </a:lnSpc>
              <a:spcBef>
                <a:spcPct val="0"/>
              </a:spcBef>
            </a:pPr>
            <a:r>
              <a:rPr lang="en-US" sz="4523" strike="noStrike" u="none">
                <a:solidFill>
                  <a:srgbClr val="000000"/>
                </a:solidFill>
                <a:latin typeface="Harmattan"/>
                <a:ea typeface="Harmattan"/>
                <a:cs typeface="Harmattan"/>
                <a:sym typeface="Harmattan"/>
              </a:rPr>
              <a:t>tafsir yang tidak memenuhi syarat-syarat penerimaan tafsir bi al-Isyarah, seperti menyalahi ketentuan-ketentuan yang telah ditetapkan.</a:t>
            </a:r>
          </a:p>
          <a:p>
            <a:pPr algn="l" marL="0" indent="0" lvl="0">
              <a:lnSpc>
                <a:spcPts val="6332"/>
              </a:lnSpc>
              <a:spcBef>
                <a:spcPct val="0"/>
              </a:spcBef>
            </a:pPr>
          </a:p>
        </p:txBody>
      </p:sp>
      <p:sp>
        <p:nvSpPr>
          <p:cNvPr name="Freeform 16" id="16"/>
          <p:cNvSpPr/>
          <p:nvPr/>
        </p:nvSpPr>
        <p:spPr>
          <a:xfrm flipH="false" flipV="false" rot="0">
            <a:off x="238705" y="410495"/>
            <a:ext cx="2761803" cy="2591073"/>
          </a:xfrm>
          <a:custGeom>
            <a:avLst/>
            <a:gdLst/>
            <a:ahLst/>
            <a:cxnLst/>
            <a:rect r="r" b="b" t="t" l="l"/>
            <a:pathLst>
              <a:path h="2591073" w="2761803">
                <a:moveTo>
                  <a:pt x="0" y="0"/>
                </a:moveTo>
                <a:lnTo>
                  <a:pt x="2761802" y="0"/>
                </a:lnTo>
                <a:lnTo>
                  <a:pt x="2761802" y="2591073"/>
                </a:lnTo>
                <a:lnTo>
                  <a:pt x="0" y="25910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188888" y="3683282"/>
            <a:ext cx="566146" cy="56614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9AF7F"/>
            </a:solidFill>
            <a:ln cap="sq">
              <a:noFill/>
              <a:prstDash val="solid"/>
              <a:miter/>
            </a:ln>
          </p:spPr>
        </p:sp>
        <p:sp>
          <p:nvSpPr>
            <p:cNvPr name="TextBox 5" id="5"/>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2363857" y="1028700"/>
            <a:ext cx="9123916" cy="2027503"/>
            <a:chOff x="0" y="0"/>
            <a:chExt cx="12165222" cy="2703338"/>
          </a:xfrm>
        </p:grpSpPr>
        <p:grpSp>
          <p:nvGrpSpPr>
            <p:cNvPr name="Group 7" id="7"/>
            <p:cNvGrpSpPr/>
            <p:nvPr/>
          </p:nvGrpSpPr>
          <p:grpSpPr>
            <a:xfrm rot="0">
              <a:off x="171073" y="203200"/>
              <a:ext cx="11994149" cy="2500138"/>
              <a:chOff x="0" y="0"/>
              <a:chExt cx="2369215" cy="493854"/>
            </a:xfrm>
          </p:grpSpPr>
          <p:sp>
            <p:nvSpPr>
              <p:cNvPr name="Freeform 8" id="8"/>
              <p:cNvSpPr/>
              <p:nvPr/>
            </p:nvSpPr>
            <p:spPr>
              <a:xfrm flipH="false" flipV="false" rot="0">
                <a:off x="0" y="0"/>
                <a:ext cx="2369214" cy="493854"/>
              </a:xfrm>
              <a:custGeom>
                <a:avLst/>
                <a:gdLst/>
                <a:ahLst/>
                <a:cxnLst/>
                <a:rect r="r" b="b" t="t" l="l"/>
                <a:pathLst>
                  <a:path h="493854" w="2369214">
                    <a:moveTo>
                      <a:pt x="86063" y="0"/>
                    </a:moveTo>
                    <a:lnTo>
                      <a:pt x="2283151" y="0"/>
                    </a:lnTo>
                    <a:cubicBezTo>
                      <a:pt x="2305977" y="0"/>
                      <a:pt x="2327867" y="9067"/>
                      <a:pt x="2344007" y="25207"/>
                    </a:cubicBezTo>
                    <a:cubicBezTo>
                      <a:pt x="2360147" y="41347"/>
                      <a:pt x="2369214" y="63238"/>
                      <a:pt x="2369214" y="86063"/>
                    </a:cubicBezTo>
                    <a:lnTo>
                      <a:pt x="2369214" y="407791"/>
                    </a:lnTo>
                    <a:cubicBezTo>
                      <a:pt x="2369214" y="430616"/>
                      <a:pt x="2360147" y="452507"/>
                      <a:pt x="2344007" y="468647"/>
                    </a:cubicBezTo>
                    <a:cubicBezTo>
                      <a:pt x="2327867" y="484787"/>
                      <a:pt x="2305977" y="493854"/>
                      <a:pt x="2283151" y="493854"/>
                    </a:cubicBezTo>
                    <a:lnTo>
                      <a:pt x="86063" y="493854"/>
                    </a:lnTo>
                    <a:cubicBezTo>
                      <a:pt x="63238" y="493854"/>
                      <a:pt x="41347" y="484787"/>
                      <a:pt x="25207" y="468647"/>
                    </a:cubicBezTo>
                    <a:cubicBezTo>
                      <a:pt x="9067" y="452507"/>
                      <a:pt x="0" y="430616"/>
                      <a:pt x="0" y="407791"/>
                    </a:cubicBezTo>
                    <a:lnTo>
                      <a:pt x="0" y="86063"/>
                    </a:lnTo>
                    <a:cubicBezTo>
                      <a:pt x="0" y="63238"/>
                      <a:pt x="9067" y="41347"/>
                      <a:pt x="25207" y="25207"/>
                    </a:cubicBezTo>
                    <a:cubicBezTo>
                      <a:pt x="41347" y="9067"/>
                      <a:pt x="63238" y="0"/>
                      <a:pt x="86063" y="0"/>
                    </a:cubicBezTo>
                    <a:close/>
                  </a:path>
                </a:pathLst>
              </a:custGeom>
              <a:solidFill>
                <a:srgbClr val="BCB8AE"/>
              </a:solidFill>
            </p:spPr>
          </p:sp>
          <p:sp>
            <p:nvSpPr>
              <p:cNvPr name="TextBox 9" id="9"/>
              <p:cNvSpPr txBox="true"/>
              <p:nvPr/>
            </p:nvSpPr>
            <p:spPr>
              <a:xfrm>
                <a:off x="0" y="-38100"/>
                <a:ext cx="2369215" cy="531954"/>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0" y="0"/>
              <a:ext cx="11994149" cy="2500138"/>
              <a:chOff x="0" y="0"/>
              <a:chExt cx="2369215" cy="493854"/>
            </a:xfrm>
          </p:grpSpPr>
          <p:sp>
            <p:nvSpPr>
              <p:cNvPr name="Freeform 11" id="11"/>
              <p:cNvSpPr/>
              <p:nvPr/>
            </p:nvSpPr>
            <p:spPr>
              <a:xfrm flipH="false" flipV="false" rot="0">
                <a:off x="0" y="0"/>
                <a:ext cx="2369214" cy="493854"/>
              </a:xfrm>
              <a:custGeom>
                <a:avLst/>
                <a:gdLst/>
                <a:ahLst/>
                <a:cxnLst/>
                <a:rect r="r" b="b" t="t" l="l"/>
                <a:pathLst>
                  <a:path h="493854" w="2369214">
                    <a:moveTo>
                      <a:pt x="86063" y="0"/>
                    </a:moveTo>
                    <a:lnTo>
                      <a:pt x="2283151" y="0"/>
                    </a:lnTo>
                    <a:cubicBezTo>
                      <a:pt x="2305977" y="0"/>
                      <a:pt x="2327867" y="9067"/>
                      <a:pt x="2344007" y="25207"/>
                    </a:cubicBezTo>
                    <a:cubicBezTo>
                      <a:pt x="2360147" y="41347"/>
                      <a:pt x="2369214" y="63238"/>
                      <a:pt x="2369214" y="86063"/>
                    </a:cubicBezTo>
                    <a:lnTo>
                      <a:pt x="2369214" y="407791"/>
                    </a:lnTo>
                    <a:cubicBezTo>
                      <a:pt x="2369214" y="430616"/>
                      <a:pt x="2360147" y="452507"/>
                      <a:pt x="2344007" y="468647"/>
                    </a:cubicBezTo>
                    <a:cubicBezTo>
                      <a:pt x="2327867" y="484787"/>
                      <a:pt x="2305977" y="493854"/>
                      <a:pt x="2283151" y="493854"/>
                    </a:cubicBezTo>
                    <a:lnTo>
                      <a:pt x="86063" y="493854"/>
                    </a:lnTo>
                    <a:cubicBezTo>
                      <a:pt x="63238" y="493854"/>
                      <a:pt x="41347" y="484787"/>
                      <a:pt x="25207" y="468647"/>
                    </a:cubicBezTo>
                    <a:cubicBezTo>
                      <a:pt x="9067" y="452507"/>
                      <a:pt x="0" y="430616"/>
                      <a:pt x="0" y="407791"/>
                    </a:cubicBezTo>
                    <a:lnTo>
                      <a:pt x="0" y="86063"/>
                    </a:lnTo>
                    <a:cubicBezTo>
                      <a:pt x="0" y="63238"/>
                      <a:pt x="9067" y="41347"/>
                      <a:pt x="25207" y="25207"/>
                    </a:cubicBezTo>
                    <a:cubicBezTo>
                      <a:pt x="41347" y="9067"/>
                      <a:pt x="63238" y="0"/>
                      <a:pt x="86063" y="0"/>
                    </a:cubicBezTo>
                    <a:close/>
                  </a:path>
                </a:pathLst>
              </a:custGeom>
              <a:solidFill>
                <a:srgbClr val="ECE0D0"/>
              </a:solidFill>
            </p:spPr>
          </p:sp>
          <p:sp>
            <p:nvSpPr>
              <p:cNvPr name="TextBox 12" id="12"/>
              <p:cNvSpPr txBox="true"/>
              <p:nvPr/>
            </p:nvSpPr>
            <p:spPr>
              <a:xfrm>
                <a:off x="0" y="-38100"/>
                <a:ext cx="2369215" cy="531954"/>
              </a:xfrm>
              <a:prstGeom prst="rect">
                <a:avLst/>
              </a:prstGeom>
            </p:spPr>
            <p:txBody>
              <a:bodyPr anchor="ctr" rtlCol="false" tIns="50800" lIns="50800" bIns="50800" rIns="50800"/>
              <a:lstStyle/>
              <a:p>
                <a:pPr algn="ctr">
                  <a:lnSpc>
                    <a:spcPts val="2659"/>
                  </a:lnSpc>
                </a:pPr>
              </a:p>
            </p:txBody>
          </p:sp>
        </p:grpSp>
      </p:grpSp>
      <p:sp>
        <p:nvSpPr>
          <p:cNvPr name="Freeform 13" id="13"/>
          <p:cNvSpPr/>
          <p:nvPr/>
        </p:nvSpPr>
        <p:spPr>
          <a:xfrm flipH="false" flipV="false" rot="0">
            <a:off x="-6769" y="7695927"/>
            <a:ext cx="2761803" cy="2591073"/>
          </a:xfrm>
          <a:custGeom>
            <a:avLst/>
            <a:gdLst/>
            <a:ahLst/>
            <a:cxnLst/>
            <a:rect r="r" b="b" t="t" l="l"/>
            <a:pathLst>
              <a:path h="2591073" w="2761803">
                <a:moveTo>
                  <a:pt x="0" y="0"/>
                </a:moveTo>
                <a:lnTo>
                  <a:pt x="2761802" y="0"/>
                </a:lnTo>
                <a:lnTo>
                  <a:pt x="2761802" y="2591073"/>
                </a:lnTo>
                <a:lnTo>
                  <a:pt x="0" y="25910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5025624" y="-337248"/>
            <a:ext cx="4020530" cy="4020530"/>
          </a:xfrm>
          <a:custGeom>
            <a:avLst/>
            <a:gdLst/>
            <a:ahLst/>
            <a:cxnLst/>
            <a:rect r="r" b="b" t="t" l="l"/>
            <a:pathLst>
              <a:path h="4020530" w="4020530">
                <a:moveTo>
                  <a:pt x="0" y="0"/>
                </a:moveTo>
                <a:lnTo>
                  <a:pt x="4020530" y="0"/>
                </a:lnTo>
                <a:lnTo>
                  <a:pt x="4020530" y="4020530"/>
                </a:lnTo>
                <a:lnTo>
                  <a:pt x="0" y="40205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TextBox 15" id="15"/>
          <p:cNvSpPr txBox="true"/>
          <p:nvPr/>
        </p:nvSpPr>
        <p:spPr>
          <a:xfrm rot="0">
            <a:off x="2987190" y="3597557"/>
            <a:ext cx="13655326" cy="3171240"/>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Secara garis besar terdapat 4 metode penafsiran Al-Qur’an yang dipakai sejak dahulu sampai sekarang, yaitu ijmali ( secara global ), tahlili ( analistis ), muqaran ( perbandingan ) dan yang terakhir adalah maudhu’i ( tematik )</a:t>
            </a:r>
          </a:p>
        </p:txBody>
      </p:sp>
      <p:sp>
        <p:nvSpPr>
          <p:cNvPr name="TextBox 16" id="16"/>
          <p:cNvSpPr txBox="true"/>
          <p:nvPr/>
        </p:nvSpPr>
        <p:spPr>
          <a:xfrm rot="0">
            <a:off x="1267928" y="1567875"/>
            <a:ext cx="5252903" cy="1092028"/>
          </a:xfrm>
          <a:prstGeom prst="rect">
            <a:avLst/>
          </a:prstGeom>
        </p:spPr>
        <p:txBody>
          <a:bodyPr anchor="t" rtlCol="false" tIns="0" lIns="0" bIns="0" rIns="0">
            <a:spAutoFit/>
          </a:bodyPr>
          <a:lstStyle/>
          <a:p>
            <a:pPr algn="ctr" marL="0" indent="0" lvl="1">
              <a:lnSpc>
                <a:spcPts val="8118"/>
              </a:lnSpc>
              <a:spcBef>
                <a:spcPct val="0"/>
              </a:spcBef>
            </a:pPr>
            <a:r>
              <a:rPr lang="en-US" sz="8118">
                <a:solidFill>
                  <a:srgbClr val="532323"/>
                </a:solidFill>
                <a:latin typeface="Higuen Elegant Serif"/>
                <a:ea typeface="Higuen Elegant Serif"/>
                <a:cs typeface="Higuen Elegant Serif"/>
                <a:sym typeface="Higuen Elegant Serif"/>
              </a:rPr>
              <a:t>METODE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188888" y="3683282"/>
            <a:ext cx="566146" cy="56614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9AF7F"/>
            </a:solidFill>
            <a:ln cap="sq">
              <a:noFill/>
              <a:prstDash val="solid"/>
              <a:miter/>
            </a:ln>
          </p:spPr>
        </p:sp>
        <p:sp>
          <p:nvSpPr>
            <p:cNvPr name="TextBox 5" id="5"/>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2188888" y="5968696"/>
            <a:ext cx="566146" cy="56614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9AF7F"/>
            </a:solidFill>
            <a:ln cap="sq">
              <a:noFill/>
              <a:prstDash val="solid"/>
              <a:miter/>
            </a:ln>
          </p:spPr>
        </p:sp>
        <p:sp>
          <p:nvSpPr>
            <p:cNvPr name="TextBox 8" id="8"/>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2363857" y="1028700"/>
            <a:ext cx="9123916" cy="2027503"/>
            <a:chOff x="0" y="0"/>
            <a:chExt cx="12165222" cy="2703338"/>
          </a:xfrm>
        </p:grpSpPr>
        <p:grpSp>
          <p:nvGrpSpPr>
            <p:cNvPr name="Group 10" id="10"/>
            <p:cNvGrpSpPr/>
            <p:nvPr/>
          </p:nvGrpSpPr>
          <p:grpSpPr>
            <a:xfrm rot="0">
              <a:off x="171073" y="203200"/>
              <a:ext cx="11994149" cy="2500138"/>
              <a:chOff x="0" y="0"/>
              <a:chExt cx="2369215" cy="493854"/>
            </a:xfrm>
          </p:grpSpPr>
          <p:sp>
            <p:nvSpPr>
              <p:cNvPr name="Freeform 11" id="11"/>
              <p:cNvSpPr/>
              <p:nvPr/>
            </p:nvSpPr>
            <p:spPr>
              <a:xfrm flipH="false" flipV="false" rot="0">
                <a:off x="0" y="0"/>
                <a:ext cx="2369214" cy="493854"/>
              </a:xfrm>
              <a:custGeom>
                <a:avLst/>
                <a:gdLst/>
                <a:ahLst/>
                <a:cxnLst/>
                <a:rect r="r" b="b" t="t" l="l"/>
                <a:pathLst>
                  <a:path h="493854" w="2369214">
                    <a:moveTo>
                      <a:pt x="86063" y="0"/>
                    </a:moveTo>
                    <a:lnTo>
                      <a:pt x="2283151" y="0"/>
                    </a:lnTo>
                    <a:cubicBezTo>
                      <a:pt x="2305977" y="0"/>
                      <a:pt x="2327867" y="9067"/>
                      <a:pt x="2344007" y="25207"/>
                    </a:cubicBezTo>
                    <a:cubicBezTo>
                      <a:pt x="2360147" y="41347"/>
                      <a:pt x="2369214" y="63238"/>
                      <a:pt x="2369214" y="86063"/>
                    </a:cubicBezTo>
                    <a:lnTo>
                      <a:pt x="2369214" y="407791"/>
                    </a:lnTo>
                    <a:cubicBezTo>
                      <a:pt x="2369214" y="430616"/>
                      <a:pt x="2360147" y="452507"/>
                      <a:pt x="2344007" y="468647"/>
                    </a:cubicBezTo>
                    <a:cubicBezTo>
                      <a:pt x="2327867" y="484787"/>
                      <a:pt x="2305977" y="493854"/>
                      <a:pt x="2283151" y="493854"/>
                    </a:cubicBezTo>
                    <a:lnTo>
                      <a:pt x="86063" y="493854"/>
                    </a:lnTo>
                    <a:cubicBezTo>
                      <a:pt x="63238" y="493854"/>
                      <a:pt x="41347" y="484787"/>
                      <a:pt x="25207" y="468647"/>
                    </a:cubicBezTo>
                    <a:cubicBezTo>
                      <a:pt x="9067" y="452507"/>
                      <a:pt x="0" y="430616"/>
                      <a:pt x="0" y="407791"/>
                    </a:cubicBezTo>
                    <a:lnTo>
                      <a:pt x="0" y="86063"/>
                    </a:lnTo>
                    <a:cubicBezTo>
                      <a:pt x="0" y="63238"/>
                      <a:pt x="9067" y="41347"/>
                      <a:pt x="25207" y="25207"/>
                    </a:cubicBezTo>
                    <a:cubicBezTo>
                      <a:pt x="41347" y="9067"/>
                      <a:pt x="63238" y="0"/>
                      <a:pt x="86063" y="0"/>
                    </a:cubicBezTo>
                    <a:close/>
                  </a:path>
                </a:pathLst>
              </a:custGeom>
              <a:solidFill>
                <a:srgbClr val="BCB8AE"/>
              </a:solidFill>
            </p:spPr>
          </p:sp>
          <p:sp>
            <p:nvSpPr>
              <p:cNvPr name="TextBox 12" id="12"/>
              <p:cNvSpPr txBox="true"/>
              <p:nvPr/>
            </p:nvSpPr>
            <p:spPr>
              <a:xfrm>
                <a:off x="0" y="-38100"/>
                <a:ext cx="2369215" cy="531954"/>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0" y="0"/>
              <a:ext cx="11994149" cy="2500138"/>
              <a:chOff x="0" y="0"/>
              <a:chExt cx="2369215" cy="493854"/>
            </a:xfrm>
          </p:grpSpPr>
          <p:sp>
            <p:nvSpPr>
              <p:cNvPr name="Freeform 14" id="14"/>
              <p:cNvSpPr/>
              <p:nvPr/>
            </p:nvSpPr>
            <p:spPr>
              <a:xfrm flipH="false" flipV="false" rot="0">
                <a:off x="0" y="0"/>
                <a:ext cx="2369214" cy="493854"/>
              </a:xfrm>
              <a:custGeom>
                <a:avLst/>
                <a:gdLst/>
                <a:ahLst/>
                <a:cxnLst/>
                <a:rect r="r" b="b" t="t" l="l"/>
                <a:pathLst>
                  <a:path h="493854" w="2369214">
                    <a:moveTo>
                      <a:pt x="86063" y="0"/>
                    </a:moveTo>
                    <a:lnTo>
                      <a:pt x="2283151" y="0"/>
                    </a:lnTo>
                    <a:cubicBezTo>
                      <a:pt x="2305977" y="0"/>
                      <a:pt x="2327867" y="9067"/>
                      <a:pt x="2344007" y="25207"/>
                    </a:cubicBezTo>
                    <a:cubicBezTo>
                      <a:pt x="2360147" y="41347"/>
                      <a:pt x="2369214" y="63238"/>
                      <a:pt x="2369214" y="86063"/>
                    </a:cubicBezTo>
                    <a:lnTo>
                      <a:pt x="2369214" y="407791"/>
                    </a:lnTo>
                    <a:cubicBezTo>
                      <a:pt x="2369214" y="430616"/>
                      <a:pt x="2360147" y="452507"/>
                      <a:pt x="2344007" y="468647"/>
                    </a:cubicBezTo>
                    <a:cubicBezTo>
                      <a:pt x="2327867" y="484787"/>
                      <a:pt x="2305977" y="493854"/>
                      <a:pt x="2283151" y="493854"/>
                    </a:cubicBezTo>
                    <a:lnTo>
                      <a:pt x="86063" y="493854"/>
                    </a:lnTo>
                    <a:cubicBezTo>
                      <a:pt x="63238" y="493854"/>
                      <a:pt x="41347" y="484787"/>
                      <a:pt x="25207" y="468647"/>
                    </a:cubicBezTo>
                    <a:cubicBezTo>
                      <a:pt x="9067" y="452507"/>
                      <a:pt x="0" y="430616"/>
                      <a:pt x="0" y="407791"/>
                    </a:cubicBezTo>
                    <a:lnTo>
                      <a:pt x="0" y="86063"/>
                    </a:lnTo>
                    <a:cubicBezTo>
                      <a:pt x="0" y="63238"/>
                      <a:pt x="9067" y="41347"/>
                      <a:pt x="25207" y="25207"/>
                    </a:cubicBezTo>
                    <a:cubicBezTo>
                      <a:pt x="41347" y="9067"/>
                      <a:pt x="63238" y="0"/>
                      <a:pt x="86063" y="0"/>
                    </a:cubicBezTo>
                    <a:close/>
                  </a:path>
                </a:pathLst>
              </a:custGeom>
              <a:solidFill>
                <a:srgbClr val="ECE0D0"/>
              </a:solidFill>
            </p:spPr>
          </p:sp>
          <p:sp>
            <p:nvSpPr>
              <p:cNvPr name="TextBox 15" id="15"/>
              <p:cNvSpPr txBox="true"/>
              <p:nvPr/>
            </p:nvSpPr>
            <p:spPr>
              <a:xfrm>
                <a:off x="0" y="-38100"/>
                <a:ext cx="2369215" cy="531954"/>
              </a:xfrm>
              <a:prstGeom prst="rect">
                <a:avLst/>
              </a:prstGeom>
            </p:spPr>
            <p:txBody>
              <a:bodyPr anchor="ctr" rtlCol="false" tIns="50800" lIns="50800" bIns="50800" rIns="50800"/>
              <a:lstStyle/>
              <a:p>
                <a:pPr algn="ctr">
                  <a:lnSpc>
                    <a:spcPts val="2659"/>
                  </a:lnSpc>
                </a:pPr>
              </a:p>
            </p:txBody>
          </p:sp>
        </p:grpSp>
      </p:grpSp>
      <p:sp>
        <p:nvSpPr>
          <p:cNvPr name="Freeform 16" id="16"/>
          <p:cNvSpPr/>
          <p:nvPr/>
        </p:nvSpPr>
        <p:spPr>
          <a:xfrm flipH="false" flipV="false" rot="0">
            <a:off x="-6769" y="7695927"/>
            <a:ext cx="2761803" cy="2591073"/>
          </a:xfrm>
          <a:custGeom>
            <a:avLst/>
            <a:gdLst/>
            <a:ahLst/>
            <a:cxnLst/>
            <a:rect r="r" b="b" t="t" l="l"/>
            <a:pathLst>
              <a:path h="2591073" w="2761803">
                <a:moveTo>
                  <a:pt x="0" y="0"/>
                </a:moveTo>
                <a:lnTo>
                  <a:pt x="2761802" y="0"/>
                </a:lnTo>
                <a:lnTo>
                  <a:pt x="2761802" y="2591073"/>
                </a:lnTo>
                <a:lnTo>
                  <a:pt x="0" y="25910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15025624" y="-337248"/>
            <a:ext cx="4020530" cy="4020530"/>
          </a:xfrm>
          <a:custGeom>
            <a:avLst/>
            <a:gdLst/>
            <a:ahLst/>
            <a:cxnLst/>
            <a:rect r="r" b="b" t="t" l="l"/>
            <a:pathLst>
              <a:path h="4020530" w="4020530">
                <a:moveTo>
                  <a:pt x="0" y="0"/>
                </a:moveTo>
                <a:lnTo>
                  <a:pt x="4020530" y="0"/>
                </a:lnTo>
                <a:lnTo>
                  <a:pt x="4020530" y="4020530"/>
                </a:lnTo>
                <a:lnTo>
                  <a:pt x="0" y="40205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TextBox 18" id="18"/>
          <p:cNvSpPr txBox="true"/>
          <p:nvPr/>
        </p:nvSpPr>
        <p:spPr>
          <a:xfrm rot="0">
            <a:off x="2987190" y="3597557"/>
            <a:ext cx="13655326" cy="2371140"/>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Ijmali adalah metode penafsiran yang memberikan penjelasan singkat dan global tentang makna tiap kalimat agar mudah dipahami. </a:t>
            </a:r>
          </a:p>
        </p:txBody>
      </p:sp>
      <p:sp>
        <p:nvSpPr>
          <p:cNvPr name="TextBox 19" id="19"/>
          <p:cNvSpPr txBox="true"/>
          <p:nvPr/>
        </p:nvSpPr>
        <p:spPr>
          <a:xfrm rot="0">
            <a:off x="2987190" y="5882971"/>
            <a:ext cx="13655326" cy="3971340"/>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Metode ini memiliki ciri-ciri penjelasan yang singkat, padat, dan ringkas tentang makna ayat-ayat dalam Al-Qur'an, disini mufasir langsung menafsirkan Al-Qur’an dari awal sampai akhir tanpa perbandingan dan penetapan judul serta cenderung berisi pendapat mereka</a:t>
            </a:r>
          </a:p>
        </p:txBody>
      </p:sp>
      <p:sp>
        <p:nvSpPr>
          <p:cNvPr name="TextBox 20" id="20"/>
          <p:cNvSpPr txBox="true"/>
          <p:nvPr/>
        </p:nvSpPr>
        <p:spPr>
          <a:xfrm rot="0">
            <a:off x="1267928" y="1567875"/>
            <a:ext cx="5252903" cy="1092028"/>
          </a:xfrm>
          <a:prstGeom prst="rect">
            <a:avLst/>
          </a:prstGeom>
        </p:spPr>
        <p:txBody>
          <a:bodyPr anchor="t" rtlCol="false" tIns="0" lIns="0" bIns="0" rIns="0">
            <a:spAutoFit/>
          </a:bodyPr>
          <a:lstStyle/>
          <a:p>
            <a:pPr algn="ctr" marL="0" indent="0" lvl="1">
              <a:lnSpc>
                <a:spcPts val="8118"/>
              </a:lnSpc>
              <a:spcBef>
                <a:spcPct val="0"/>
              </a:spcBef>
            </a:pPr>
            <a:r>
              <a:rPr lang="en-US" sz="8118">
                <a:solidFill>
                  <a:srgbClr val="532323"/>
                </a:solidFill>
                <a:latin typeface="Higuen Elegant Serif"/>
                <a:ea typeface="Higuen Elegant Serif"/>
                <a:cs typeface="Higuen Elegant Serif"/>
                <a:sym typeface="Higuen Elegant Serif"/>
              </a:rPr>
              <a:t>IJMALI</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188888" y="3683282"/>
            <a:ext cx="566146" cy="56614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9AF7F"/>
            </a:solidFill>
            <a:ln cap="sq">
              <a:noFill/>
              <a:prstDash val="solid"/>
              <a:miter/>
            </a:ln>
          </p:spPr>
        </p:sp>
        <p:sp>
          <p:nvSpPr>
            <p:cNvPr name="TextBox 5" id="5"/>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2188888" y="5168596"/>
            <a:ext cx="566146" cy="56614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9AF7F"/>
            </a:solidFill>
            <a:ln cap="sq">
              <a:noFill/>
              <a:prstDash val="solid"/>
              <a:miter/>
            </a:ln>
          </p:spPr>
        </p:sp>
        <p:sp>
          <p:nvSpPr>
            <p:cNvPr name="TextBox 8" id="8"/>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2363857" y="1028700"/>
            <a:ext cx="9123916" cy="2027503"/>
            <a:chOff x="0" y="0"/>
            <a:chExt cx="12165222" cy="2703338"/>
          </a:xfrm>
        </p:grpSpPr>
        <p:grpSp>
          <p:nvGrpSpPr>
            <p:cNvPr name="Group 10" id="10"/>
            <p:cNvGrpSpPr/>
            <p:nvPr/>
          </p:nvGrpSpPr>
          <p:grpSpPr>
            <a:xfrm rot="0">
              <a:off x="171073" y="203200"/>
              <a:ext cx="11994149" cy="2500138"/>
              <a:chOff x="0" y="0"/>
              <a:chExt cx="2369215" cy="493854"/>
            </a:xfrm>
          </p:grpSpPr>
          <p:sp>
            <p:nvSpPr>
              <p:cNvPr name="Freeform 11" id="11"/>
              <p:cNvSpPr/>
              <p:nvPr/>
            </p:nvSpPr>
            <p:spPr>
              <a:xfrm flipH="false" flipV="false" rot="0">
                <a:off x="0" y="0"/>
                <a:ext cx="2369214" cy="493854"/>
              </a:xfrm>
              <a:custGeom>
                <a:avLst/>
                <a:gdLst/>
                <a:ahLst/>
                <a:cxnLst/>
                <a:rect r="r" b="b" t="t" l="l"/>
                <a:pathLst>
                  <a:path h="493854" w="2369214">
                    <a:moveTo>
                      <a:pt x="86063" y="0"/>
                    </a:moveTo>
                    <a:lnTo>
                      <a:pt x="2283151" y="0"/>
                    </a:lnTo>
                    <a:cubicBezTo>
                      <a:pt x="2305977" y="0"/>
                      <a:pt x="2327867" y="9067"/>
                      <a:pt x="2344007" y="25207"/>
                    </a:cubicBezTo>
                    <a:cubicBezTo>
                      <a:pt x="2360147" y="41347"/>
                      <a:pt x="2369214" y="63238"/>
                      <a:pt x="2369214" y="86063"/>
                    </a:cubicBezTo>
                    <a:lnTo>
                      <a:pt x="2369214" y="407791"/>
                    </a:lnTo>
                    <a:cubicBezTo>
                      <a:pt x="2369214" y="430616"/>
                      <a:pt x="2360147" y="452507"/>
                      <a:pt x="2344007" y="468647"/>
                    </a:cubicBezTo>
                    <a:cubicBezTo>
                      <a:pt x="2327867" y="484787"/>
                      <a:pt x="2305977" y="493854"/>
                      <a:pt x="2283151" y="493854"/>
                    </a:cubicBezTo>
                    <a:lnTo>
                      <a:pt x="86063" y="493854"/>
                    </a:lnTo>
                    <a:cubicBezTo>
                      <a:pt x="63238" y="493854"/>
                      <a:pt x="41347" y="484787"/>
                      <a:pt x="25207" y="468647"/>
                    </a:cubicBezTo>
                    <a:cubicBezTo>
                      <a:pt x="9067" y="452507"/>
                      <a:pt x="0" y="430616"/>
                      <a:pt x="0" y="407791"/>
                    </a:cubicBezTo>
                    <a:lnTo>
                      <a:pt x="0" y="86063"/>
                    </a:lnTo>
                    <a:cubicBezTo>
                      <a:pt x="0" y="63238"/>
                      <a:pt x="9067" y="41347"/>
                      <a:pt x="25207" y="25207"/>
                    </a:cubicBezTo>
                    <a:cubicBezTo>
                      <a:pt x="41347" y="9067"/>
                      <a:pt x="63238" y="0"/>
                      <a:pt x="86063" y="0"/>
                    </a:cubicBezTo>
                    <a:close/>
                  </a:path>
                </a:pathLst>
              </a:custGeom>
              <a:solidFill>
                <a:srgbClr val="BCB8AE"/>
              </a:solidFill>
            </p:spPr>
          </p:sp>
          <p:sp>
            <p:nvSpPr>
              <p:cNvPr name="TextBox 12" id="12"/>
              <p:cNvSpPr txBox="true"/>
              <p:nvPr/>
            </p:nvSpPr>
            <p:spPr>
              <a:xfrm>
                <a:off x="0" y="-38100"/>
                <a:ext cx="2369215" cy="531954"/>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0" y="0"/>
              <a:ext cx="11994149" cy="2500138"/>
              <a:chOff x="0" y="0"/>
              <a:chExt cx="2369215" cy="493854"/>
            </a:xfrm>
          </p:grpSpPr>
          <p:sp>
            <p:nvSpPr>
              <p:cNvPr name="Freeform 14" id="14"/>
              <p:cNvSpPr/>
              <p:nvPr/>
            </p:nvSpPr>
            <p:spPr>
              <a:xfrm flipH="false" flipV="false" rot="0">
                <a:off x="0" y="0"/>
                <a:ext cx="2369214" cy="493854"/>
              </a:xfrm>
              <a:custGeom>
                <a:avLst/>
                <a:gdLst/>
                <a:ahLst/>
                <a:cxnLst/>
                <a:rect r="r" b="b" t="t" l="l"/>
                <a:pathLst>
                  <a:path h="493854" w="2369214">
                    <a:moveTo>
                      <a:pt x="86063" y="0"/>
                    </a:moveTo>
                    <a:lnTo>
                      <a:pt x="2283151" y="0"/>
                    </a:lnTo>
                    <a:cubicBezTo>
                      <a:pt x="2305977" y="0"/>
                      <a:pt x="2327867" y="9067"/>
                      <a:pt x="2344007" y="25207"/>
                    </a:cubicBezTo>
                    <a:cubicBezTo>
                      <a:pt x="2360147" y="41347"/>
                      <a:pt x="2369214" y="63238"/>
                      <a:pt x="2369214" y="86063"/>
                    </a:cubicBezTo>
                    <a:lnTo>
                      <a:pt x="2369214" y="407791"/>
                    </a:lnTo>
                    <a:cubicBezTo>
                      <a:pt x="2369214" y="430616"/>
                      <a:pt x="2360147" y="452507"/>
                      <a:pt x="2344007" y="468647"/>
                    </a:cubicBezTo>
                    <a:cubicBezTo>
                      <a:pt x="2327867" y="484787"/>
                      <a:pt x="2305977" y="493854"/>
                      <a:pt x="2283151" y="493854"/>
                    </a:cubicBezTo>
                    <a:lnTo>
                      <a:pt x="86063" y="493854"/>
                    </a:lnTo>
                    <a:cubicBezTo>
                      <a:pt x="63238" y="493854"/>
                      <a:pt x="41347" y="484787"/>
                      <a:pt x="25207" y="468647"/>
                    </a:cubicBezTo>
                    <a:cubicBezTo>
                      <a:pt x="9067" y="452507"/>
                      <a:pt x="0" y="430616"/>
                      <a:pt x="0" y="407791"/>
                    </a:cubicBezTo>
                    <a:lnTo>
                      <a:pt x="0" y="86063"/>
                    </a:lnTo>
                    <a:cubicBezTo>
                      <a:pt x="0" y="63238"/>
                      <a:pt x="9067" y="41347"/>
                      <a:pt x="25207" y="25207"/>
                    </a:cubicBezTo>
                    <a:cubicBezTo>
                      <a:pt x="41347" y="9067"/>
                      <a:pt x="63238" y="0"/>
                      <a:pt x="86063" y="0"/>
                    </a:cubicBezTo>
                    <a:close/>
                  </a:path>
                </a:pathLst>
              </a:custGeom>
              <a:solidFill>
                <a:srgbClr val="ECE0D0"/>
              </a:solidFill>
            </p:spPr>
          </p:sp>
          <p:sp>
            <p:nvSpPr>
              <p:cNvPr name="TextBox 15" id="15"/>
              <p:cNvSpPr txBox="true"/>
              <p:nvPr/>
            </p:nvSpPr>
            <p:spPr>
              <a:xfrm>
                <a:off x="0" y="-38100"/>
                <a:ext cx="2369215" cy="531954"/>
              </a:xfrm>
              <a:prstGeom prst="rect">
                <a:avLst/>
              </a:prstGeom>
            </p:spPr>
            <p:txBody>
              <a:bodyPr anchor="ctr" rtlCol="false" tIns="50800" lIns="50800" bIns="50800" rIns="50800"/>
              <a:lstStyle/>
              <a:p>
                <a:pPr algn="ctr">
                  <a:lnSpc>
                    <a:spcPts val="2659"/>
                  </a:lnSpc>
                </a:pPr>
              </a:p>
            </p:txBody>
          </p:sp>
        </p:grpSp>
      </p:grpSp>
      <p:sp>
        <p:nvSpPr>
          <p:cNvPr name="Freeform 16" id="16"/>
          <p:cNvSpPr/>
          <p:nvPr/>
        </p:nvSpPr>
        <p:spPr>
          <a:xfrm flipH="false" flipV="false" rot="0">
            <a:off x="-6769" y="7695927"/>
            <a:ext cx="2761803" cy="2591073"/>
          </a:xfrm>
          <a:custGeom>
            <a:avLst/>
            <a:gdLst/>
            <a:ahLst/>
            <a:cxnLst/>
            <a:rect r="r" b="b" t="t" l="l"/>
            <a:pathLst>
              <a:path h="2591073" w="2761803">
                <a:moveTo>
                  <a:pt x="0" y="0"/>
                </a:moveTo>
                <a:lnTo>
                  <a:pt x="2761802" y="0"/>
                </a:lnTo>
                <a:lnTo>
                  <a:pt x="2761802" y="2591073"/>
                </a:lnTo>
                <a:lnTo>
                  <a:pt x="0" y="25910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15025624" y="-337248"/>
            <a:ext cx="4020530" cy="4020530"/>
          </a:xfrm>
          <a:custGeom>
            <a:avLst/>
            <a:gdLst/>
            <a:ahLst/>
            <a:cxnLst/>
            <a:rect r="r" b="b" t="t" l="l"/>
            <a:pathLst>
              <a:path h="4020530" w="4020530">
                <a:moveTo>
                  <a:pt x="0" y="0"/>
                </a:moveTo>
                <a:lnTo>
                  <a:pt x="4020530" y="0"/>
                </a:lnTo>
                <a:lnTo>
                  <a:pt x="4020530" y="4020530"/>
                </a:lnTo>
                <a:lnTo>
                  <a:pt x="0" y="40205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TextBox 18" id="18"/>
          <p:cNvSpPr txBox="true"/>
          <p:nvPr/>
        </p:nvSpPr>
        <p:spPr>
          <a:xfrm rot="0">
            <a:off x="2987190" y="3597557"/>
            <a:ext cx="13655326" cy="1571040"/>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Tahlili adalah metode yang menafsirkan Al-Qur'an secara detail, ayat demi ayat, dan surat demi surat sesuai urutannya.</a:t>
            </a:r>
          </a:p>
        </p:txBody>
      </p:sp>
      <p:sp>
        <p:nvSpPr>
          <p:cNvPr name="TextBox 19" id="19"/>
          <p:cNvSpPr txBox="true"/>
          <p:nvPr/>
        </p:nvSpPr>
        <p:spPr>
          <a:xfrm rot="0">
            <a:off x="2987190" y="5082871"/>
            <a:ext cx="13655326" cy="3971340"/>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Metode ini memiliki ciri-ciri penjelasan yang mendalam dan komprehensif, mengupas makna kata, asbabun nuzul (sebab turunnya ayat), dan hubungan antar ayat. Dalam metode ini musafir  menafsirkan ayat-ayat Al-Qur'an secara berurutan, mulai dari ayat pertama hingga akhir, mengikuti susunan mushaf. </a:t>
            </a:r>
          </a:p>
        </p:txBody>
      </p:sp>
      <p:sp>
        <p:nvSpPr>
          <p:cNvPr name="TextBox 20" id="20"/>
          <p:cNvSpPr txBox="true"/>
          <p:nvPr/>
        </p:nvSpPr>
        <p:spPr>
          <a:xfrm rot="0">
            <a:off x="1267928" y="1567875"/>
            <a:ext cx="5252903" cy="1092028"/>
          </a:xfrm>
          <a:prstGeom prst="rect">
            <a:avLst/>
          </a:prstGeom>
        </p:spPr>
        <p:txBody>
          <a:bodyPr anchor="t" rtlCol="false" tIns="0" lIns="0" bIns="0" rIns="0">
            <a:spAutoFit/>
          </a:bodyPr>
          <a:lstStyle/>
          <a:p>
            <a:pPr algn="ctr" marL="0" indent="0" lvl="1">
              <a:lnSpc>
                <a:spcPts val="8118"/>
              </a:lnSpc>
              <a:spcBef>
                <a:spcPct val="0"/>
              </a:spcBef>
            </a:pPr>
            <a:r>
              <a:rPr lang="en-US" sz="8118">
                <a:solidFill>
                  <a:srgbClr val="532323"/>
                </a:solidFill>
                <a:latin typeface="Higuen Elegant Serif"/>
                <a:ea typeface="Higuen Elegant Serif"/>
                <a:cs typeface="Higuen Elegant Serif"/>
                <a:sym typeface="Higuen Elegant Serif"/>
              </a:rPr>
              <a:t>TAHLILI</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188888" y="3683282"/>
            <a:ext cx="566146" cy="56614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9AF7F"/>
            </a:solidFill>
            <a:ln cap="sq">
              <a:noFill/>
              <a:prstDash val="solid"/>
              <a:miter/>
            </a:ln>
          </p:spPr>
        </p:sp>
        <p:sp>
          <p:nvSpPr>
            <p:cNvPr name="TextBox 5" id="5"/>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2188888" y="5168596"/>
            <a:ext cx="566146" cy="56614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9AF7F"/>
            </a:solidFill>
            <a:ln cap="sq">
              <a:noFill/>
              <a:prstDash val="solid"/>
              <a:miter/>
            </a:ln>
          </p:spPr>
        </p:sp>
        <p:sp>
          <p:nvSpPr>
            <p:cNvPr name="TextBox 8" id="8"/>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2363857" y="1028700"/>
            <a:ext cx="9123916" cy="2027503"/>
            <a:chOff x="0" y="0"/>
            <a:chExt cx="12165222" cy="2703338"/>
          </a:xfrm>
        </p:grpSpPr>
        <p:grpSp>
          <p:nvGrpSpPr>
            <p:cNvPr name="Group 10" id="10"/>
            <p:cNvGrpSpPr/>
            <p:nvPr/>
          </p:nvGrpSpPr>
          <p:grpSpPr>
            <a:xfrm rot="0">
              <a:off x="171073" y="203200"/>
              <a:ext cx="11994149" cy="2500138"/>
              <a:chOff x="0" y="0"/>
              <a:chExt cx="2369215" cy="493854"/>
            </a:xfrm>
          </p:grpSpPr>
          <p:sp>
            <p:nvSpPr>
              <p:cNvPr name="Freeform 11" id="11"/>
              <p:cNvSpPr/>
              <p:nvPr/>
            </p:nvSpPr>
            <p:spPr>
              <a:xfrm flipH="false" flipV="false" rot="0">
                <a:off x="0" y="0"/>
                <a:ext cx="2369214" cy="493854"/>
              </a:xfrm>
              <a:custGeom>
                <a:avLst/>
                <a:gdLst/>
                <a:ahLst/>
                <a:cxnLst/>
                <a:rect r="r" b="b" t="t" l="l"/>
                <a:pathLst>
                  <a:path h="493854" w="2369214">
                    <a:moveTo>
                      <a:pt x="86063" y="0"/>
                    </a:moveTo>
                    <a:lnTo>
                      <a:pt x="2283151" y="0"/>
                    </a:lnTo>
                    <a:cubicBezTo>
                      <a:pt x="2305977" y="0"/>
                      <a:pt x="2327867" y="9067"/>
                      <a:pt x="2344007" y="25207"/>
                    </a:cubicBezTo>
                    <a:cubicBezTo>
                      <a:pt x="2360147" y="41347"/>
                      <a:pt x="2369214" y="63238"/>
                      <a:pt x="2369214" y="86063"/>
                    </a:cubicBezTo>
                    <a:lnTo>
                      <a:pt x="2369214" y="407791"/>
                    </a:lnTo>
                    <a:cubicBezTo>
                      <a:pt x="2369214" y="430616"/>
                      <a:pt x="2360147" y="452507"/>
                      <a:pt x="2344007" y="468647"/>
                    </a:cubicBezTo>
                    <a:cubicBezTo>
                      <a:pt x="2327867" y="484787"/>
                      <a:pt x="2305977" y="493854"/>
                      <a:pt x="2283151" y="493854"/>
                    </a:cubicBezTo>
                    <a:lnTo>
                      <a:pt x="86063" y="493854"/>
                    </a:lnTo>
                    <a:cubicBezTo>
                      <a:pt x="63238" y="493854"/>
                      <a:pt x="41347" y="484787"/>
                      <a:pt x="25207" y="468647"/>
                    </a:cubicBezTo>
                    <a:cubicBezTo>
                      <a:pt x="9067" y="452507"/>
                      <a:pt x="0" y="430616"/>
                      <a:pt x="0" y="407791"/>
                    </a:cubicBezTo>
                    <a:lnTo>
                      <a:pt x="0" y="86063"/>
                    </a:lnTo>
                    <a:cubicBezTo>
                      <a:pt x="0" y="63238"/>
                      <a:pt x="9067" y="41347"/>
                      <a:pt x="25207" y="25207"/>
                    </a:cubicBezTo>
                    <a:cubicBezTo>
                      <a:pt x="41347" y="9067"/>
                      <a:pt x="63238" y="0"/>
                      <a:pt x="86063" y="0"/>
                    </a:cubicBezTo>
                    <a:close/>
                  </a:path>
                </a:pathLst>
              </a:custGeom>
              <a:solidFill>
                <a:srgbClr val="BCB8AE"/>
              </a:solidFill>
            </p:spPr>
          </p:sp>
          <p:sp>
            <p:nvSpPr>
              <p:cNvPr name="TextBox 12" id="12"/>
              <p:cNvSpPr txBox="true"/>
              <p:nvPr/>
            </p:nvSpPr>
            <p:spPr>
              <a:xfrm>
                <a:off x="0" y="-38100"/>
                <a:ext cx="2369215" cy="531954"/>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0" y="0"/>
              <a:ext cx="11994149" cy="2500138"/>
              <a:chOff x="0" y="0"/>
              <a:chExt cx="2369215" cy="493854"/>
            </a:xfrm>
          </p:grpSpPr>
          <p:sp>
            <p:nvSpPr>
              <p:cNvPr name="Freeform 14" id="14"/>
              <p:cNvSpPr/>
              <p:nvPr/>
            </p:nvSpPr>
            <p:spPr>
              <a:xfrm flipH="false" flipV="false" rot="0">
                <a:off x="0" y="0"/>
                <a:ext cx="2369214" cy="493854"/>
              </a:xfrm>
              <a:custGeom>
                <a:avLst/>
                <a:gdLst/>
                <a:ahLst/>
                <a:cxnLst/>
                <a:rect r="r" b="b" t="t" l="l"/>
                <a:pathLst>
                  <a:path h="493854" w="2369214">
                    <a:moveTo>
                      <a:pt x="86063" y="0"/>
                    </a:moveTo>
                    <a:lnTo>
                      <a:pt x="2283151" y="0"/>
                    </a:lnTo>
                    <a:cubicBezTo>
                      <a:pt x="2305977" y="0"/>
                      <a:pt x="2327867" y="9067"/>
                      <a:pt x="2344007" y="25207"/>
                    </a:cubicBezTo>
                    <a:cubicBezTo>
                      <a:pt x="2360147" y="41347"/>
                      <a:pt x="2369214" y="63238"/>
                      <a:pt x="2369214" y="86063"/>
                    </a:cubicBezTo>
                    <a:lnTo>
                      <a:pt x="2369214" y="407791"/>
                    </a:lnTo>
                    <a:cubicBezTo>
                      <a:pt x="2369214" y="430616"/>
                      <a:pt x="2360147" y="452507"/>
                      <a:pt x="2344007" y="468647"/>
                    </a:cubicBezTo>
                    <a:cubicBezTo>
                      <a:pt x="2327867" y="484787"/>
                      <a:pt x="2305977" y="493854"/>
                      <a:pt x="2283151" y="493854"/>
                    </a:cubicBezTo>
                    <a:lnTo>
                      <a:pt x="86063" y="493854"/>
                    </a:lnTo>
                    <a:cubicBezTo>
                      <a:pt x="63238" y="493854"/>
                      <a:pt x="41347" y="484787"/>
                      <a:pt x="25207" y="468647"/>
                    </a:cubicBezTo>
                    <a:cubicBezTo>
                      <a:pt x="9067" y="452507"/>
                      <a:pt x="0" y="430616"/>
                      <a:pt x="0" y="407791"/>
                    </a:cubicBezTo>
                    <a:lnTo>
                      <a:pt x="0" y="86063"/>
                    </a:lnTo>
                    <a:cubicBezTo>
                      <a:pt x="0" y="63238"/>
                      <a:pt x="9067" y="41347"/>
                      <a:pt x="25207" y="25207"/>
                    </a:cubicBezTo>
                    <a:cubicBezTo>
                      <a:pt x="41347" y="9067"/>
                      <a:pt x="63238" y="0"/>
                      <a:pt x="86063" y="0"/>
                    </a:cubicBezTo>
                    <a:close/>
                  </a:path>
                </a:pathLst>
              </a:custGeom>
              <a:solidFill>
                <a:srgbClr val="ECE0D0"/>
              </a:solidFill>
            </p:spPr>
          </p:sp>
          <p:sp>
            <p:nvSpPr>
              <p:cNvPr name="TextBox 15" id="15"/>
              <p:cNvSpPr txBox="true"/>
              <p:nvPr/>
            </p:nvSpPr>
            <p:spPr>
              <a:xfrm>
                <a:off x="0" y="-38100"/>
                <a:ext cx="2369215" cy="531954"/>
              </a:xfrm>
              <a:prstGeom prst="rect">
                <a:avLst/>
              </a:prstGeom>
            </p:spPr>
            <p:txBody>
              <a:bodyPr anchor="ctr" rtlCol="false" tIns="50800" lIns="50800" bIns="50800" rIns="50800"/>
              <a:lstStyle/>
              <a:p>
                <a:pPr algn="ctr">
                  <a:lnSpc>
                    <a:spcPts val="2659"/>
                  </a:lnSpc>
                </a:pPr>
              </a:p>
            </p:txBody>
          </p:sp>
        </p:grpSp>
      </p:grpSp>
      <p:sp>
        <p:nvSpPr>
          <p:cNvPr name="Freeform 16" id="16"/>
          <p:cNvSpPr/>
          <p:nvPr/>
        </p:nvSpPr>
        <p:spPr>
          <a:xfrm flipH="false" flipV="false" rot="0">
            <a:off x="-6769" y="7695927"/>
            <a:ext cx="2761803" cy="2591073"/>
          </a:xfrm>
          <a:custGeom>
            <a:avLst/>
            <a:gdLst/>
            <a:ahLst/>
            <a:cxnLst/>
            <a:rect r="r" b="b" t="t" l="l"/>
            <a:pathLst>
              <a:path h="2591073" w="2761803">
                <a:moveTo>
                  <a:pt x="0" y="0"/>
                </a:moveTo>
                <a:lnTo>
                  <a:pt x="2761802" y="0"/>
                </a:lnTo>
                <a:lnTo>
                  <a:pt x="2761802" y="2591073"/>
                </a:lnTo>
                <a:lnTo>
                  <a:pt x="0" y="25910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15025624" y="-337248"/>
            <a:ext cx="4020530" cy="4020530"/>
          </a:xfrm>
          <a:custGeom>
            <a:avLst/>
            <a:gdLst/>
            <a:ahLst/>
            <a:cxnLst/>
            <a:rect r="r" b="b" t="t" l="l"/>
            <a:pathLst>
              <a:path h="4020530" w="4020530">
                <a:moveTo>
                  <a:pt x="0" y="0"/>
                </a:moveTo>
                <a:lnTo>
                  <a:pt x="4020530" y="0"/>
                </a:lnTo>
                <a:lnTo>
                  <a:pt x="4020530" y="4020530"/>
                </a:lnTo>
                <a:lnTo>
                  <a:pt x="0" y="40205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TextBox 18" id="18"/>
          <p:cNvSpPr txBox="true"/>
          <p:nvPr/>
        </p:nvSpPr>
        <p:spPr>
          <a:xfrm rot="0">
            <a:off x="2987190" y="3597557"/>
            <a:ext cx="13655326" cy="1571040"/>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Metode muqaran adalah metode yang membandingkan berbagai ayat, hadis, atau pendapat ulama untuk menonjolkan perbedaan.</a:t>
            </a:r>
          </a:p>
        </p:txBody>
      </p:sp>
      <p:sp>
        <p:nvSpPr>
          <p:cNvPr name="TextBox 19" id="19"/>
          <p:cNvSpPr txBox="true"/>
          <p:nvPr/>
        </p:nvSpPr>
        <p:spPr>
          <a:xfrm rot="0">
            <a:off x="2987190" y="5057775"/>
            <a:ext cx="13655326" cy="3171240"/>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Metode ini memiliki ciri-ciri menekankan pada perbandingan antara objek yang satu dengan yang lain. Di metode ini para musafir membandingkan ayat dengan ayat, ayat dengan hadis, atau pendapat ulama untuk menonjolkan perbedaan dan persamaan. </a:t>
            </a:r>
          </a:p>
        </p:txBody>
      </p:sp>
      <p:sp>
        <p:nvSpPr>
          <p:cNvPr name="TextBox 20" id="20"/>
          <p:cNvSpPr txBox="true"/>
          <p:nvPr/>
        </p:nvSpPr>
        <p:spPr>
          <a:xfrm rot="0">
            <a:off x="1267928" y="1567875"/>
            <a:ext cx="5252903" cy="1092028"/>
          </a:xfrm>
          <a:prstGeom prst="rect">
            <a:avLst/>
          </a:prstGeom>
        </p:spPr>
        <p:txBody>
          <a:bodyPr anchor="t" rtlCol="false" tIns="0" lIns="0" bIns="0" rIns="0">
            <a:spAutoFit/>
          </a:bodyPr>
          <a:lstStyle/>
          <a:p>
            <a:pPr algn="ctr" marL="0" indent="0" lvl="1">
              <a:lnSpc>
                <a:spcPts val="8118"/>
              </a:lnSpc>
              <a:spcBef>
                <a:spcPct val="0"/>
              </a:spcBef>
            </a:pPr>
            <a:r>
              <a:rPr lang="en-US" sz="8118">
                <a:solidFill>
                  <a:srgbClr val="532323"/>
                </a:solidFill>
                <a:latin typeface="Higuen Elegant Serif"/>
                <a:ea typeface="Higuen Elegant Serif"/>
                <a:cs typeface="Higuen Elegant Serif"/>
                <a:sym typeface="Higuen Elegant Serif"/>
              </a:rPr>
              <a:t>MUQARAN</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188888" y="3683282"/>
            <a:ext cx="566146" cy="56614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9AF7F"/>
            </a:solidFill>
            <a:ln cap="sq">
              <a:noFill/>
              <a:prstDash val="solid"/>
              <a:miter/>
            </a:ln>
          </p:spPr>
        </p:sp>
        <p:sp>
          <p:nvSpPr>
            <p:cNvPr name="TextBox 5" id="5"/>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6" id="6"/>
          <p:cNvGrpSpPr/>
          <p:nvPr/>
        </p:nvGrpSpPr>
        <p:grpSpPr>
          <a:xfrm rot="0">
            <a:off x="2188888" y="5993793"/>
            <a:ext cx="566146" cy="56614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C9AF7F"/>
            </a:solidFill>
            <a:ln cap="sq">
              <a:noFill/>
              <a:prstDash val="solid"/>
              <a:miter/>
            </a:ln>
          </p:spPr>
        </p:sp>
        <p:sp>
          <p:nvSpPr>
            <p:cNvPr name="TextBox 8" id="8"/>
            <p:cNvSpPr txBox="true"/>
            <p:nvPr/>
          </p:nvSpPr>
          <p:spPr>
            <a:xfrm>
              <a:off x="190500" y="152400"/>
              <a:ext cx="431800" cy="469900"/>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2363857" y="1028700"/>
            <a:ext cx="9123916" cy="2027503"/>
            <a:chOff x="0" y="0"/>
            <a:chExt cx="12165222" cy="2703338"/>
          </a:xfrm>
        </p:grpSpPr>
        <p:grpSp>
          <p:nvGrpSpPr>
            <p:cNvPr name="Group 10" id="10"/>
            <p:cNvGrpSpPr/>
            <p:nvPr/>
          </p:nvGrpSpPr>
          <p:grpSpPr>
            <a:xfrm rot="0">
              <a:off x="171073" y="203200"/>
              <a:ext cx="11994149" cy="2500138"/>
              <a:chOff x="0" y="0"/>
              <a:chExt cx="2369215" cy="493854"/>
            </a:xfrm>
          </p:grpSpPr>
          <p:sp>
            <p:nvSpPr>
              <p:cNvPr name="Freeform 11" id="11"/>
              <p:cNvSpPr/>
              <p:nvPr/>
            </p:nvSpPr>
            <p:spPr>
              <a:xfrm flipH="false" flipV="false" rot="0">
                <a:off x="0" y="0"/>
                <a:ext cx="2369214" cy="493854"/>
              </a:xfrm>
              <a:custGeom>
                <a:avLst/>
                <a:gdLst/>
                <a:ahLst/>
                <a:cxnLst/>
                <a:rect r="r" b="b" t="t" l="l"/>
                <a:pathLst>
                  <a:path h="493854" w="2369214">
                    <a:moveTo>
                      <a:pt x="86063" y="0"/>
                    </a:moveTo>
                    <a:lnTo>
                      <a:pt x="2283151" y="0"/>
                    </a:lnTo>
                    <a:cubicBezTo>
                      <a:pt x="2305977" y="0"/>
                      <a:pt x="2327867" y="9067"/>
                      <a:pt x="2344007" y="25207"/>
                    </a:cubicBezTo>
                    <a:cubicBezTo>
                      <a:pt x="2360147" y="41347"/>
                      <a:pt x="2369214" y="63238"/>
                      <a:pt x="2369214" y="86063"/>
                    </a:cubicBezTo>
                    <a:lnTo>
                      <a:pt x="2369214" y="407791"/>
                    </a:lnTo>
                    <a:cubicBezTo>
                      <a:pt x="2369214" y="430616"/>
                      <a:pt x="2360147" y="452507"/>
                      <a:pt x="2344007" y="468647"/>
                    </a:cubicBezTo>
                    <a:cubicBezTo>
                      <a:pt x="2327867" y="484787"/>
                      <a:pt x="2305977" y="493854"/>
                      <a:pt x="2283151" y="493854"/>
                    </a:cubicBezTo>
                    <a:lnTo>
                      <a:pt x="86063" y="493854"/>
                    </a:lnTo>
                    <a:cubicBezTo>
                      <a:pt x="63238" y="493854"/>
                      <a:pt x="41347" y="484787"/>
                      <a:pt x="25207" y="468647"/>
                    </a:cubicBezTo>
                    <a:cubicBezTo>
                      <a:pt x="9067" y="452507"/>
                      <a:pt x="0" y="430616"/>
                      <a:pt x="0" y="407791"/>
                    </a:cubicBezTo>
                    <a:lnTo>
                      <a:pt x="0" y="86063"/>
                    </a:lnTo>
                    <a:cubicBezTo>
                      <a:pt x="0" y="63238"/>
                      <a:pt x="9067" y="41347"/>
                      <a:pt x="25207" y="25207"/>
                    </a:cubicBezTo>
                    <a:cubicBezTo>
                      <a:pt x="41347" y="9067"/>
                      <a:pt x="63238" y="0"/>
                      <a:pt x="86063" y="0"/>
                    </a:cubicBezTo>
                    <a:close/>
                  </a:path>
                </a:pathLst>
              </a:custGeom>
              <a:solidFill>
                <a:srgbClr val="BCB8AE"/>
              </a:solidFill>
            </p:spPr>
          </p:sp>
          <p:sp>
            <p:nvSpPr>
              <p:cNvPr name="TextBox 12" id="12"/>
              <p:cNvSpPr txBox="true"/>
              <p:nvPr/>
            </p:nvSpPr>
            <p:spPr>
              <a:xfrm>
                <a:off x="0" y="-38100"/>
                <a:ext cx="2369215" cy="531954"/>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0" y="0"/>
              <a:ext cx="11994149" cy="2500138"/>
              <a:chOff x="0" y="0"/>
              <a:chExt cx="2369215" cy="493854"/>
            </a:xfrm>
          </p:grpSpPr>
          <p:sp>
            <p:nvSpPr>
              <p:cNvPr name="Freeform 14" id="14"/>
              <p:cNvSpPr/>
              <p:nvPr/>
            </p:nvSpPr>
            <p:spPr>
              <a:xfrm flipH="false" flipV="false" rot="0">
                <a:off x="0" y="0"/>
                <a:ext cx="2369214" cy="493854"/>
              </a:xfrm>
              <a:custGeom>
                <a:avLst/>
                <a:gdLst/>
                <a:ahLst/>
                <a:cxnLst/>
                <a:rect r="r" b="b" t="t" l="l"/>
                <a:pathLst>
                  <a:path h="493854" w="2369214">
                    <a:moveTo>
                      <a:pt x="86063" y="0"/>
                    </a:moveTo>
                    <a:lnTo>
                      <a:pt x="2283151" y="0"/>
                    </a:lnTo>
                    <a:cubicBezTo>
                      <a:pt x="2305977" y="0"/>
                      <a:pt x="2327867" y="9067"/>
                      <a:pt x="2344007" y="25207"/>
                    </a:cubicBezTo>
                    <a:cubicBezTo>
                      <a:pt x="2360147" y="41347"/>
                      <a:pt x="2369214" y="63238"/>
                      <a:pt x="2369214" y="86063"/>
                    </a:cubicBezTo>
                    <a:lnTo>
                      <a:pt x="2369214" y="407791"/>
                    </a:lnTo>
                    <a:cubicBezTo>
                      <a:pt x="2369214" y="430616"/>
                      <a:pt x="2360147" y="452507"/>
                      <a:pt x="2344007" y="468647"/>
                    </a:cubicBezTo>
                    <a:cubicBezTo>
                      <a:pt x="2327867" y="484787"/>
                      <a:pt x="2305977" y="493854"/>
                      <a:pt x="2283151" y="493854"/>
                    </a:cubicBezTo>
                    <a:lnTo>
                      <a:pt x="86063" y="493854"/>
                    </a:lnTo>
                    <a:cubicBezTo>
                      <a:pt x="63238" y="493854"/>
                      <a:pt x="41347" y="484787"/>
                      <a:pt x="25207" y="468647"/>
                    </a:cubicBezTo>
                    <a:cubicBezTo>
                      <a:pt x="9067" y="452507"/>
                      <a:pt x="0" y="430616"/>
                      <a:pt x="0" y="407791"/>
                    </a:cubicBezTo>
                    <a:lnTo>
                      <a:pt x="0" y="86063"/>
                    </a:lnTo>
                    <a:cubicBezTo>
                      <a:pt x="0" y="63238"/>
                      <a:pt x="9067" y="41347"/>
                      <a:pt x="25207" y="25207"/>
                    </a:cubicBezTo>
                    <a:cubicBezTo>
                      <a:pt x="41347" y="9067"/>
                      <a:pt x="63238" y="0"/>
                      <a:pt x="86063" y="0"/>
                    </a:cubicBezTo>
                    <a:close/>
                  </a:path>
                </a:pathLst>
              </a:custGeom>
              <a:solidFill>
                <a:srgbClr val="ECE0D0"/>
              </a:solidFill>
            </p:spPr>
          </p:sp>
          <p:sp>
            <p:nvSpPr>
              <p:cNvPr name="TextBox 15" id="15"/>
              <p:cNvSpPr txBox="true"/>
              <p:nvPr/>
            </p:nvSpPr>
            <p:spPr>
              <a:xfrm>
                <a:off x="0" y="-38100"/>
                <a:ext cx="2369215" cy="531954"/>
              </a:xfrm>
              <a:prstGeom prst="rect">
                <a:avLst/>
              </a:prstGeom>
            </p:spPr>
            <p:txBody>
              <a:bodyPr anchor="ctr" rtlCol="false" tIns="50800" lIns="50800" bIns="50800" rIns="50800"/>
              <a:lstStyle/>
              <a:p>
                <a:pPr algn="ctr">
                  <a:lnSpc>
                    <a:spcPts val="2659"/>
                  </a:lnSpc>
                </a:pPr>
              </a:p>
            </p:txBody>
          </p:sp>
        </p:grpSp>
      </p:grpSp>
      <p:sp>
        <p:nvSpPr>
          <p:cNvPr name="Freeform 16" id="16"/>
          <p:cNvSpPr/>
          <p:nvPr/>
        </p:nvSpPr>
        <p:spPr>
          <a:xfrm flipH="false" flipV="false" rot="0">
            <a:off x="-6769" y="7695927"/>
            <a:ext cx="2761803" cy="2591073"/>
          </a:xfrm>
          <a:custGeom>
            <a:avLst/>
            <a:gdLst/>
            <a:ahLst/>
            <a:cxnLst/>
            <a:rect r="r" b="b" t="t" l="l"/>
            <a:pathLst>
              <a:path h="2591073" w="2761803">
                <a:moveTo>
                  <a:pt x="0" y="0"/>
                </a:moveTo>
                <a:lnTo>
                  <a:pt x="2761802" y="0"/>
                </a:lnTo>
                <a:lnTo>
                  <a:pt x="2761802" y="2591073"/>
                </a:lnTo>
                <a:lnTo>
                  <a:pt x="0" y="25910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15025624" y="-337248"/>
            <a:ext cx="4020530" cy="4020530"/>
          </a:xfrm>
          <a:custGeom>
            <a:avLst/>
            <a:gdLst/>
            <a:ahLst/>
            <a:cxnLst/>
            <a:rect r="r" b="b" t="t" l="l"/>
            <a:pathLst>
              <a:path h="4020530" w="4020530">
                <a:moveTo>
                  <a:pt x="0" y="0"/>
                </a:moveTo>
                <a:lnTo>
                  <a:pt x="4020530" y="0"/>
                </a:lnTo>
                <a:lnTo>
                  <a:pt x="4020530" y="4020530"/>
                </a:lnTo>
                <a:lnTo>
                  <a:pt x="0" y="40205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TextBox 18" id="18"/>
          <p:cNvSpPr txBox="true"/>
          <p:nvPr/>
        </p:nvSpPr>
        <p:spPr>
          <a:xfrm rot="0">
            <a:off x="2987190" y="3597557"/>
            <a:ext cx="13655326" cy="2371140"/>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Metode maudhu’i adalah metode yang berfokus pada satu tema atau topik tertentu dan mengumpulkan semua ayat yang berkaitan untuk dibahas secara mendalam. </a:t>
            </a:r>
          </a:p>
        </p:txBody>
      </p:sp>
      <p:sp>
        <p:nvSpPr>
          <p:cNvPr name="TextBox 19" id="19"/>
          <p:cNvSpPr txBox="true"/>
          <p:nvPr/>
        </p:nvSpPr>
        <p:spPr>
          <a:xfrm rot="0">
            <a:off x="2987190" y="5882971"/>
            <a:ext cx="13655326" cy="3971340"/>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Metode ini memiliki ciri-ciri berfokus pada satu tema atau topik tertentu. Di metode ini para musafir mengumpulkan seluruh ayat Al-Qur'an yang membahas satu tema spesifik, lalu menafsirkannya secara mendalam dan rinci dari berbagai aspek untuk menjawab permasalahan umat atau masyarakat. </a:t>
            </a:r>
          </a:p>
        </p:txBody>
      </p:sp>
      <p:sp>
        <p:nvSpPr>
          <p:cNvPr name="TextBox 20" id="20"/>
          <p:cNvSpPr txBox="true"/>
          <p:nvPr/>
        </p:nvSpPr>
        <p:spPr>
          <a:xfrm rot="0">
            <a:off x="1267928" y="1567875"/>
            <a:ext cx="5252903" cy="1092028"/>
          </a:xfrm>
          <a:prstGeom prst="rect">
            <a:avLst/>
          </a:prstGeom>
        </p:spPr>
        <p:txBody>
          <a:bodyPr anchor="t" rtlCol="false" tIns="0" lIns="0" bIns="0" rIns="0">
            <a:spAutoFit/>
          </a:bodyPr>
          <a:lstStyle/>
          <a:p>
            <a:pPr algn="ctr" marL="0" indent="0" lvl="1">
              <a:lnSpc>
                <a:spcPts val="8118"/>
              </a:lnSpc>
              <a:spcBef>
                <a:spcPct val="0"/>
              </a:spcBef>
            </a:pPr>
            <a:r>
              <a:rPr lang="en-US" sz="8118">
                <a:solidFill>
                  <a:srgbClr val="532323"/>
                </a:solidFill>
                <a:latin typeface="Higuen Elegant Serif"/>
                <a:ea typeface="Higuen Elegant Serif"/>
                <a:cs typeface="Higuen Elegant Serif"/>
                <a:sym typeface="Higuen Elegant Serif"/>
              </a:rPr>
              <a:t>MAUDHU’I</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363857" y="1028700"/>
            <a:ext cx="12429703" cy="2027503"/>
            <a:chOff x="0" y="0"/>
            <a:chExt cx="16572938" cy="2703338"/>
          </a:xfrm>
        </p:grpSpPr>
        <p:grpSp>
          <p:nvGrpSpPr>
            <p:cNvPr name="Group 4" id="4"/>
            <p:cNvGrpSpPr/>
            <p:nvPr/>
          </p:nvGrpSpPr>
          <p:grpSpPr>
            <a:xfrm rot="0">
              <a:off x="233056" y="203200"/>
              <a:ext cx="16339882" cy="2500138"/>
              <a:chOff x="0" y="0"/>
              <a:chExt cx="3227631" cy="493854"/>
            </a:xfrm>
          </p:grpSpPr>
          <p:sp>
            <p:nvSpPr>
              <p:cNvPr name="Freeform 5" id="5"/>
              <p:cNvSpPr/>
              <p:nvPr/>
            </p:nvSpPr>
            <p:spPr>
              <a:xfrm flipH="false" flipV="false" rot="0">
                <a:off x="0" y="0"/>
                <a:ext cx="3227631" cy="493854"/>
              </a:xfrm>
              <a:custGeom>
                <a:avLst/>
                <a:gdLst/>
                <a:ahLst/>
                <a:cxnLst/>
                <a:rect r="r" b="b" t="t" l="l"/>
                <a:pathLst>
                  <a:path h="493854" w="3227631">
                    <a:moveTo>
                      <a:pt x="63174" y="0"/>
                    </a:moveTo>
                    <a:lnTo>
                      <a:pt x="3164457" y="0"/>
                    </a:lnTo>
                    <a:cubicBezTo>
                      <a:pt x="3199347" y="0"/>
                      <a:pt x="3227631" y="28284"/>
                      <a:pt x="3227631" y="63174"/>
                    </a:cubicBezTo>
                    <a:lnTo>
                      <a:pt x="3227631" y="430680"/>
                    </a:lnTo>
                    <a:cubicBezTo>
                      <a:pt x="3227631" y="465570"/>
                      <a:pt x="3199347" y="493854"/>
                      <a:pt x="3164457" y="493854"/>
                    </a:cubicBezTo>
                    <a:lnTo>
                      <a:pt x="63174" y="493854"/>
                    </a:lnTo>
                    <a:cubicBezTo>
                      <a:pt x="28284" y="493854"/>
                      <a:pt x="0" y="465570"/>
                      <a:pt x="0" y="430680"/>
                    </a:cubicBezTo>
                    <a:lnTo>
                      <a:pt x="0" y="63174"/>
                    </a:lnTo>
                    <a:cubicBezTo>
                      <a:pt x="0" y="28284"/>
                      <a:pt x="28284" y="0"/>
                      <a:pt x="63174" y="0"/>
                    </a:cubicBezTo>
                    <a:close/>
                  </a:path>
                </a:pathLst>
              </a:custGeom>
              <a:solidFill>
                <a:srgbClr val="BCB8AE"/>
              </a:solidFill>
            </p:spPr>
          </p:sp>
          <p:sp>
            <p:nvSpPr>
              <p:cNvPr name="TextBox 6" id="6"/>
              <p:cNvSpPr txBox="true"/>
              <p:nvPr/>
            </p:nvSpPr>
            <p:spPr>
              <a:xfrm>
                <a:off x="0" y="-38100"/>
                <a:ext cx="3227631" cy="531954"/>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0" y="0"/>
              <a:ext cx="16339882" cy="2500138"/>
              <a:chOff x="0" y="0"/>
              <a:chExt cx="3227631" cy="493854"/>
            </a:xfrm>
          </p:grpSpPr>
          <p:sp>
            <p:nvSpPr>
              <p:cNvPr name="Freeform 8" id="8"/>
              <p:cNvSpPr/>
              <p:nvPr/>
            </p:nvSpPr>
            <p:spPr>
              <a:xfrm flipH="false" flipV="false" rot="0">
                <a:off x="0" y="0"/>
                <a:ext cx="3227631" cy="493854"/>
              </a:xfrm>
              <a:custGeom>
                <a:avLst/>
                <a:gdLst/>
                <a:ahLst/>
                <a:cxnLst/>
                <a:rect r="r" b="b" t="t" l="l"/>
                <a:pathLst>
                  <a:path h="493854" w="3227631">
                    <a:moveTo>
                      <a:pt x="63174" y="0"/>
                    </a:moveTo>
                    <a:lnTo>
                      <a:pt x="3164457" y="0"/>
                    </a:lnTo>
                    <a:cubicBezTo>
                      <a:pt x="3199347" y="0"/>
                      <a:pt x="3227631" y="28284"/>
                      <a:pt x="3227631" y="63174"/>
                    </a:cubicBezTo>
                    <a:lnTo>
                      <a:pt x="3227631" y="430680"/>
                    </a:lnTo>
                    <a:cubicBezTo>
                      <a:pt x="3227631" y="465570"/>
                      <a:pt x="3199347" y="493854"/>
                      <a:pt x="3164457" y="493854"/>
                    </a:cubicBezTo>
                    <a:lnTo>
                      <a:pt x="63174" y="493854"/>
                    </a:lnTo>
                    <a:cubicBezTo>
                      <a:pt x="28284" y="493854"/>
                      <a:pt x="0" y="465570"/>
                      <a:pt x="0" y="430680"/>
                    </a:cubicBezTo>
                    <a:lnTo>
                      <a:pt x="0" y="63174"/>
                    </a:lnTo>
                    <a:cubicBezTo>
                      <a:pt x="0" y="28284"/>
                      <a:pt x="28284" y="0"/>
                      <a:pt x="63174" y="0"/>
                    </a:cubicBezTo>
                    <a:close/>
                  </a:path>
                </a:pathLst>
              </a:custGeom>
              <a:solidFill>
                <a:srgbClr val="ECE0D0"/>
              </a:solidFill>
            </p:spPr>
          </p:sp>
          <p:sp>
            <p:nvSpPr>
              <p:cNvPr name="TextBox 9" id="9"/>
              <p:cNvSpPr txBox="true"/>
              <p:nvPr/>
            </p:nvSpPr>
            <p:spPr>
              <a:xfrm>
                <a:off x="0" y="-38100"/>
                <a:ext cx="3227631" cy="531954"/>
              </a:xfrm>
              <a:prstGeom prst="rect">
                <a:avLst/>
              </a:prstGeom>
            </p:spPr>
            <p:txBody>
              <a:bodyPr anchor="ctr" rtlCol="false" tIns="50800" lIns="50800" bIns="50800" rIns="50800"/>
              <a:lstStyle/>
              <a:p>
                <a:pPr algn="ctr">
                  <a:lnSpc>
                    <a:spcPts val="2659"/>
                  </a:lnSpc>
                </a:pPr>
              </a:p>
            </p:txBody>
          </p:sp>
        </p:grpSp>
      </p:grpSp>
      <p:sp>
        <p:nvSpPr>
          <p:cNvPr name="Freeform 10" id="10"/>
          <p:cNvSpPr/>
          <p:nvPr/>
        </p:nvSpPr>
        <p:spPr>
          <a:xfrm flipH="false" flipV="false" rot="0">
            <a:off x="13119971" y="1760667"/>
            <a:ext cx="2761803" cy="2591073"/>
          </a:xfrm>
          <a:custGeom>
            <a:avLst/>
            <a:gdLst/>
            <a:ahLst/>
            <a:cxnLst/>
            <a:rect r="r" b="b" t="t" l="l"/>
            <a:pathLst>
              <a:path h="2591073" w="2761803">
                <a:moveTo>
                  <a:pt x="0" y="0"/>
                </a:moveTo>
                <a:lnTo>
                  <a:pt x="2761802" y="0"/>
                </a:lnTo>
                <a:lnTo>
                  <a:pt x="2761802" y="2591073"/>
                </a:lnTo>
                <a:lnTo>
                  <a:pt x="0" y="25910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1" id="11"/>
          <p:cNvSpPr/>
          <p:nvPr/>
        </p:nvSpPr>
        <p:spPr>
          <a:xfrm flipH="false" flipV="false" rot="0">
            <a:off x="-1111488" y="7056145"/>
            <a:ext cx="4404310" cy="4404310"/>
          </a:xfrm>
          <a:custGeom>
            <a:avLst/>
            <a:gdLst/>
            <a:ahLst/>
            <a:cxnLst/>
            <a:rect r="r" b="b" t="t" l="l"/>
            <a:pathLst>
              <a:path h="4404310" w="4404310">
                <a:moveTo>
                  <a:pt x="0" y="0"/>
                </a:moveTo>
                <a:lnTo>
                  <a:pt x="4404309" y="0"/>
                </a:lnTo>
                <a:lnTo>
                  <a:pt x="4404309" y="4404310"/>
                </a:lnTo>
                <a:lnTo>
                  <a:pt x="0" y="44043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TextBox 12" id="12"/>
          <p:cNvSpPr txBox="true"/>
          <p:nvPr/>
        </p:nvSpPr>
        <p:spPr>
          <a:xfrm rot="0">
            <a:off x="718677" y="1567875"/>
            <a:ext cx="9347170" cy="1092028"/>
          </a:xfrm>
          <a:prstGeom prst="rect">
            <a:avLst/>
          </a:prstGeom>
        </p:spPr>
        <p:txBody>
          <a:bodyPr anchor="t" rtlCol="false" tIns="0" lIns="0" bIns="0" rIns="0">
            <a:spAutoFit/>
          </a:bodyPr>
          <a:lstStyle/>
          <a:p>
            <a:pPr algn="ctr" marL="0" indent="0" lvl="1">
              <a:lnSpc>
                <a:spcPts val="8118"/>
              </a:lnSpc>
              <a:spcBef>
                <a:spcPct val="0"/>
              </a:spcBef>
            </a:pPr>
            <a:r>
              <a:rPr lang="en-US" sz="8118">
                <a:solidFill>
                  <a:srgbClr val="532323"/>
                </a:solidFill>
                <a:latin typeface="Higuen Elegant Serif"/>
                <a:ea typeface="Higuen Elegant Serif"/>
                <a:cs typeface="Higuen Elegant Serif"/>
                <a:sym typeface="Higuen Elegant Serif"/>
              </a:rPr>
              <a:t>KESIMPULAN</a:t>
            </a:r>
          </a:p>
        </p:txBody>
      </p:sp>
      <p:sp>
        <p:nvSpPr>
          <p:cNvPr name="TextBox 13" id="13"/>
          <p:cNvSpPr txBox="true"/>
          <p:nvPr/>
        </p:nvSpPr>
        <p:spPr>
          <a:xfrm rot="0">
            <a:off x="1587458" y="3640153"/>
            <a:ext cx="15113085" cy="4771440"/>
          </a:xfrm>
          <a:prstGeom prst="rect">
            <a:avLst/>
          </a:prstGeom>
        </p:spPr>
        <p:txBody>
          <a:bodyPr anchor="t" rtlCol="false" tIns="0" lIns="0" bIns="0" rIns="0">
            <a:spAutoFit/>
          </a:bodyPr>
          <a:lstStyle/>
          <a:p>
            <a:pPr algn="just" marL="0" indent="0" lvl="0">
              <a:lnSpc>
                <a:spcPts val="6332"/>
              </a:lnSpc>
              <a:spcBef>
                <a:spcPct val="0"/>
              </a:spcBef>
            </a:pPr>
            <a:r>
              <a:rPr lang="en-US" sz="4523">
                <a:solidFill>
                  <a:srgbClr val="000000"/>
                </a:solidFill>
                <a:latin typeface="Harmattan"/>
                <a:ea typeface="Harmattan"/>
                <a:cs typeface="Harmattan"/>
                <a:sym typeface="Harmattan"/>
              </a:rPr>
              <a:t>Metodol</a:t>
            </a:r>
            <a:r>
              <a:rPr lang="en-US" sz="4523" strike="noStrike" u="none">
                <a:solidFill>
                  <a:srgbClr val="000000"/>
                </a:solidFill>
                <a:latin typeface="Harmattan"/>
                <a:ea typeface="Harmattan"/>
                <a:cs typeface="Harmattan"/>
                <a:sym typeface="Harmattan"/>
              </a:rPr>
              <a:t>ogi tafsir dalam studi Islam adalah panduan ilmiah untuk memahami Al-Qur’an secara benar. Penafsiran dilakukan dengan merujuk pada Al-Qur’an, hadis, dan pendapat ulama terdahulu, serta menggunakan akal secara bertanggung jawab. Kaidah-kaidah seperti pemahaman bahasa Arab, konteks sejarah, dan integrasi ilmu modern menjadi landasan agar tafsir tidak hanya sahih secara teologis, tetapi juga relevan secara sosial.</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769336" y="3832583"/>
            <a:ext cx="14749328" cy="4021036"/>
          </a:xfrm>
          <a:prstGeom prst="rect">
            <a:avLst/>
          </a:prstGeom>
        </p:spPr>
        <p:txBody>
          <a:bodyPr anchor="t" rtlCol="false" tIns="0" lIns="0" bIns="0" rIns="0">
            <a:spAutoFit/>
          </a:bodyPr>
          <a:lstStyle/>
          <a:p>
            <a:pPr algn="ctr" marL="0" indent="0" lvl="1">
              <a:lnSpc>
                <a:spcPts val="15433"/>
              </a:lnSpc>
              <a:spcBef>
                <a:spcPct val="0"/>
              </a:spcBef>
            </a:pPr>
            <a:r>
              <a:rPr lang="en-US" sz="15433" strike="noStrike" u="none">
                <a:solidFill>
                  <a:srgbClr val="532323"/>
                </a:solidFill>
                <a:latin typeface="Higuen Elegant Serif"/>
                <a:ea typeface="Higuen Elegant Serif"/>
                <a:cs typeface="Higuen Elegant Serif"/>
                <a:sym typeface="Higuen Elegant Serif"/>
              </a:rPr>
              <a:t>ADA PERTANYAAN?</a:t>
            </a:r>
          </a:p>
        </p:txBody>
      </p:sp>
      <p:sp>
        <p:nvSpPr>
          <p:cNvPr name="Freeform 4" id="4"/>
          <p:cNvSpPr/>
          <p:nvPr/>
        </p:nvSpPr>
        <p:spPr>
          <a:xfrm flipH="false" flipV="false" rot="0">
            <a:off x="13119971" y="1972567"/>
            <a:ext cx="2761803" cy="2591073"/>
          </a:xfrm>
          <a:custGeom>
            <a:avLst/>
            <a:gdLst/>
            <a:ahLst/>
            <a:cxnLst/>
            <a:rect r="r" b="b" t="t" l="l"/>
            <a:pathLst>
              <a:path h="2591073" w="2761803">
                <a:moveTo>
                  <a:pt x="0" y="0"/>
                </a:moveTo>
                <a:lnTo>
                  <a:pt x="2761802" y="0"/>
                </a:lnTo>
                <a:lnTo>
                  <a:pt x="2761802" y="2591073"/>
                </a:lnTo>
                <a:lnTo>
                  <a:pt x="0" y="259107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2188358" y="870203"/>
            <a:ext cx="3693437" cy="3693437"/>
          </a:xfrm>
          <a:custGeom>
            <a:avLst/>
            <a:gdLst/>
            <a:ahLst/>
            <a:cxnLst/>
            <a:rect r="r" b="b" t="t" l="l"/>
            <a:pathLst>
              <a:path h="3693437" w="3693437">
                <a:moveTo>
                  <a:pt x="0" y="0"/>
                </a:moveTo>
                <a:lnTo>
                  <a:pt x="3693437" y="0"/>
                </a:lnTo>
                <a:lnTo>
                  <a:pt x="3693437" y="3693437"/>
                </a:lnTo>
                <a:lnTo>
                  <a:pt x="0" y="36934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546169" y="4977858"/>
            <a:ext cx="9936251" cy="4018297"/>
          </a:xfrm>
          <a:prstGeom prst="rect">
            <a:avLst/>
          </a:prstGeom>
        </p:spPr>
        <p:txBody>
          <a:bodyPr anchor="t" rtlCol="false" tIns="0" lIns="0" bIns="0" rIns="0">
            <a:spAutoFit/>
          </a:bodyPr>
          <a:lstStyle/>
          <a:p>
            <a:pPr algn="l" marL="0" indent="0" lvl="1">
              <a:lnSpc>
                <a:spcPts val="15433"/>
              </a:lnSpc>
              <a:spcBef>
                <a:spcPct val="0"/>
              </a:spcBef>
            </a:pPr>
            <a:r>
              <a:rPr lang="en-US" sz="15433" strike="noStrike" u="none">
                <a:solidFill>
                  <a:srgbClr val="532323"/>
                </a:solidFill>
                <a:latin typeface="Higuen Elegant Serif"/>
                <a:ea typeface="Higuen Elegant Serif"/>
                <a:cs typeface="Higuen Elegant Serif"/>
                <a:sym typeface="Higuen Elegant Serif"/>
              </a:rPr>
              <a:t>TERIMA</a:t>
            </a:r>
          </a:p>
          <a:p>
            <a:pPr algn="l" marL="0" indent="0" lvl="1">
              <a:lnSpc>
                <a:spcPts val="15433"/>
              </a:lnSpc>
              <a:spcBef>
                <a:spcPct val="0"/>
              </a:spcBef>
            </a:pPr>
            <a:r>
              <a:rPr lang="en-US" sz="15433" strike="noStrike" u="none">
                <a:solidFill>
                  <a:srgbClr val="532323"/>
                </a:solidFill>
                <a:latin typeface="Higuen Elegant Serif"/>
                <a:ea typeface="Higuen Elegant Serif"/>
                <a:cs typeface="Higuen Elegant Serif"/>
                <a:sym typeface="Higuen Elegant Serif"/>
              </a:rPr>
              <a:t>KASIH </a:t>
            </a:r>
          </a:p>
        </p:txBody>
      </p:sp>
      <p:sp>
        <p:nvSpPr>
          <p:cNvPr name="Freeform 4" id="4"/>
          <p:cNvSpPr/>
          <p:nvPr/>
        </p:nvSpPr>
        <p:spPr>
          <a:xfrm flipH="false" flipV="false" rot="0">
            <a:off x="9770494" y="1461316"/>
            <a:ext cx="7004924" cy="7004924"/>
          </a:xfrm>
          <a:custGeom>
            <a:avLst/>
            <a:gdLst/>
            <a:ahLst/>
            <a:cxnLst/>
            <a:rect r="r" b="b" t="t" l="l"/>
            <a:pathLst>
              <a:path h="7004924" w="7004924">
                <a:moveTo>
                  <a:pt x="0" y="0"/>
                </a:moveTo>
                <a:lnTo>
                  <a:pt x="7004925" y="0"/>
                </a:lnTo>
                <a:lnTo>
                  <a:pt x="7004925" y="7004924"/>
                </a:lnTo>
                <a:lnTo>
                  <a:pt x="0" y="70049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04638" y="1777785"/>
            <a:ext cx="2761803" cy="2591073"/>
          </a:xfrm>
          <a:custGeom>
            <a:avLst/>
            <a:gdLst/>
            <a:ahLst/>
            <a:cxnLst/>
            <a:rect r="r" b="b" t="t" l="l"/>
            <a:pathLst>
              <a:path h="2591073" w="2761803">
                <a:moveTo>
                  <a:pt x="0" y="0"/>
                </a:moveTo>
                <a:lnTo>
                  <a:pt x="2761803" y="0"/>
                </a:lnTo>
                <a:lnTo>
                  <a:pt x="2761803" y="2591073"/>
                </a:lnTo>
                <a:lnTo>
                  <a:pt x="0" y="259107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DAGyuKwBI_8</dc:identifier>
  <dcterms:modified xsi:type="dcterms:W3CDTF">2011-08-01T06:04:30Z</dcterms:modified>
  <cp:revision>1</cp:revision>
  <dc:title>Krem Cokelat Minimalis Elegan Tugas Kelompok Presentasi</dc:title>
</cp:coreProperties>
</file>